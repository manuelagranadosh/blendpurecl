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charts/chart2.xml" ContentType="application/vnd.openxmlformats-officedocument.drawingml.chart+xml"/>
  <Override PartName="/ppt/slideMasters/slideMaster22.xml" ContentType="application/vnd.openxmlformats-officedocument.presentationml.slideMaster+xml"/>
  <Override PartName="/ppt/slides/slide22.xml" ContentType="application/vnd.openxmlformats-officedocument.presentationml.slide+xml"/>
  <Override PartName="/ppt/charts/chart3.xml" ContentType="application/vnd.openxmlformats-officedocument.drawingml.chart+xml"/>
  <Override PartName="/ppt/charts/chart4.xml" ContentType="application/vnd.openxmlformats-officedocument.drawingml.chart+xml"/>
  <Override PartName="/ppt/slideMasters/slideMaster23.xml" ContentType="application/vnd.openxmlformats-officedocument.presentationml.slideMaster+xml"/>
  <Override PartName="/ppt/slides/slide23.xml" ContentType="application/vnd.openxmlformats-officedocument.presentationml.slide+xml"/>
  <Override PartName="/ppt/charts/chart5.xml" ContentType="application/vnd.openxmlformats-officedocument.drawingml.chart+xml"/>
  <Override PartName="/ppt/slideMasters/slideMaster24.xml" ContentType="application/vnd.openxmlformats-officedocument.presentationml.slideMaster+xml"/>
  <Override PartName="/ppt/slides/slide24.xml" ContentType="application/vnd.openxmlformats-officedocument.presentationml.slide+xml"/>
  <Override PartName="/ppt/charts/chart6.xml" ContentType="application/vnd.openxmlformats-officedocument.drawingml.chart+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COP</c:v>
                </c:pt>
              </c:strCache>
            </c:strRef>
          </c:tx>
          <c:spPr>
            <a:solidFill>
              <a:srgbClr val="A87C45"/>
            </a:solidFill>
            <a:effectLst/>
          </c:spPr>
          <c:invertIfNegative val="0"/>
          <c:dLbls>
            <c:numFmt formatCode="&quot;$&quot;#,##0" sourceLinked="0"/>
            <c:txPr>
              <a:bodyPr/>
              <a:lstStyle/>
              <a:p>
                <a:pPr>
                  <a:defRPr b="1" i="0" strike="noStrike" sz="1200" u="none">
                    <a:solidFill>
                      <a:srgbClr val="2B2420"/>
                    </a:solidFill>
                    <a:latin typeface="DM Sans"/>
                  </a:defRPr>
                </a:pPr>
              </a:p>
            </c:txPr>
            <c:showLegendKey val="0"/>
            <c:showVal val="1"/>
            <c:showCatName val="0"/>
            <c:showSerName val="0"/>
            <c:showPercent val="0"/>
            <c:showBubbleSize val="0"/>
            <c:showLeaderLines val="0"/>
          </c:dLbls>
          <c:dPt>
            <c:idx val="0"/>
            <c:invertIfNegative val="0"/>
            <c:bubble3D val="0"/>
            <c:spPr>
              <a:solidFill>
                <a:srgbClr val="A87C45"/>
              </a:solidFill>
              <a:effectLst/>
            </c:spPr>
          </c:dPt>
          <c:dPt>
            <c:idx val="1"/>
            <c:invertIfNegative val="0"/>
            <c:bubble3D val="0"/>
            <c:spPr>
              <a:solidFill>
                <a:srgbClr val="A87C45"/>
              </a:solidFill>
              <a:effectLst/>
            </c:spPr>
          </c:dPt>
          <c:dPt>
            <c:idx val="2"/>
            <c:invertIfNegative val="0"/>
            <c:bubble3D val="0"/>
            <c:spPr>
              <a:solidFill>
                <a:srgbClr val="D98C86"/>
              </a:solidFill>
              <a:effectLst/>
            </c:spPr>
          </c:dPt>
          <c:cat>
            <c:multiLvlStrRef>
              <c:f>Sheet1!$A$2:$A$4</c:f>
              <c:multiLvlStrCache>
                <c:ptCount val="3"/>
                <c:lvl>
                  <c:pt idx="0">
                    <c:v>Esponja estándar (15.000-45.000)</c:v>
                  </c:pt>
                  <c:pt idx="1">
                    <c:v>Esponja premium (60.000-110.000)</c:v>
                  </c:pt>
                  <c:pt idx="2">
                    <c:v>BlendPure, rango objetivo (250.000-450.000)</c:v>
                  </c:pt>
                </c:lvl>
              </c:multiLvlStrCache>
            </c:multiLvlStrRef>
          </c:cat>
          <c:val>
            <c:numRef>
              <c:f>Sheet1!$B$2:$B$4</c:f>
              <c:numCache>
                <c:formatCode>General</c:formatCode>
                <c:ptCount val="3"/>
                <c:pt idx="0">
                  <c:v>30000</c:v>
                </c:pt>
                <c:pt idx="1">
                  <c:v>85000</c:v>
                </c:pt>
                <c:pt idx="2">
                  <c:v>350000</c:v>
                </c:pt>
              </c:numCache>
            </c:numRef>
          </c:val>
        </c:ser>
        <c:dLbls>
          <c:numFmt formatCode="&quot;$&quot;#,##0" sourceLinked="0"/>
          <c:txPr>
            <a:bodyPr/>
            <a:lstStyle/>
            <a:p>
              <a:pPr>
                <a:defRPr b="1" i="0" strike="noStrike" sz="1200" u="none">
                  <a:solidFill>
                    <a:srgbClr val="2B2420"/>
                  </a:solidFill>
                  <a:latin typeface="DM Sans"/>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50" b="0" i="0" u="none" strike="noStrike">
                <a:solidFill>
                  <a:srgbClr val="4A4039"/>
                </a:solidFill>
                <a:latin typeface="DM Sans"/>
              </a:defRPr>
            </a:pPr>
            <a:endParaRPr lang="en-US"/>
          </a:p>
        </c:txPr>
        <c:crossAx val="2094734552"/>
        <c:crosses val="autoZero"/>
        <c:auto val="1"/>
        <c:lblAlgn val="ctr"/>
        <c:noMultiLvlLbl val="1"/>
      </c:catAx>
      <c:valAx>
        <c:axId val="2094734552"/>
        <c:scaling>
          <c:orientation val="minMax"/>
          <c:max val="45000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 de encuestadas</c:v>
                </c:pt>
              </c:strCache>
            </c:strRef>
          </c:tx>
          <c:spPr>
            <a:solidFill>
              <a:srgbClr val="D98C86"/>
            </a:solidFill>
            <a:effectLst/>
          </c:spPr>
          <c:invertIfNegative val="0"/>
          <c:dLbls>
            <c:numFmt formatCode="0.0&quot;%&quot;" sourceLinked="0"/>
            <c:txPr>
              <a:bodyPr/>
              <a:lstStyle/>
              <a:p>
                <a:pPr>
                  <a:defRPr b="1" i="0" strike="noStrike" sz="1200" u="none">
                    <a:solidFill>
                      <a:srgbClr val="2B2420"/>
                    </a:solidFill>
                    <a:latin typeface="DM Sans"/>
                  </a:defRPr>
                </a:pPr>
              </a:p>
            </c:txPr>
            <c:showLegendKey val="0"/>
            <c:showVal val="1"/>
            <c:showCatName val="0"/>
            <c:showSerName val="0"/>
            <c:showPercent val="0"/>
            <c:showBubbleSize val="0"/>
            <c:showLeaderLines val="0"/>
          </c:dLbls>
          <c:dPt>
            <c:idx val="0"/>
            <c:invertIfNegative val="0"/>
            <c:bubble3D val="0"/>
            <c:spPr>
              <a:solidFill>
                <a:srgbClr val="D98C86"/>
              </a:solidFill>
              <a:effectLst/>
            </c:spPr>
          </c:dPt>
          <c:dPt>
            <c:idx val="1"/>
            <c:invertIfNegative val="0"/>
            <c:bubble3D val="0"/>
            <c:spPr>
              <a:solidFill>
                <a:srgbClr val="A87C45"/>
              </a:solidFill>
              <a:effectLst/>
            </c:spPr>
          </c:dPt>
          <c:dPt>
            <c:idx val="2"/>
            <c:invertIfNegative val="0"/>
            <c:bubble3D val="0"/>
            <c:spPr>
              <a:solidFill>
                <a:srgbClr val="8A5A52"/>
              </a:solidFill>
              <a:effectLst/>
            </c:spPr>
          </c:dPt>
          <c:dPt>
            <c:idx val="3"/>
            <c:invertIfNegative val="0"/>
            <c:bubble3D val="0"/>
            <c:spPr>
              <a:solidFill>
                <a:srgbClr val="C9B8B2"/>
              </a:solidFill>
              <a:effectLst/>
            </c:spPr>
          </c:dPt>
          <c:cat>
            <c:multiLvlStrRef>
              <c:f>Sheet1!$A$2:$A$5</c:f>
              <c:multiLvlStrCache>
                <c:ptCount val="4"/>
                <c:lvl>
                  <c:pt idx="0">
                    <c:v>Después de cada uso (est.)</c:v>
                  </c:pt>
                  <c:pt idx="1">
                    <c:v>1-2 veces por semana</c:v>
                  </c:pt>
                  <c:pt idx="2">
                    <c:v>Una vez al mes</c:v>
                  </c:pt>
                  <c:pt idx="3">
                    <c:v>Nunca</c:v>
                  </c:pt>
                </c:lvl>
              </c:multiLvlStrCache>
            </c:multiLvlStrRef>
          </c:cat>
          <c:val>
            <c:numRef>
              <c:f>Sheet1!$B$2:$B$5</c:f>
              <c:numCache>
                <c:formatCode>General</c:formatCode>
                <c:ptCount val="4"/>
                <c:pt idx="0">
                  <c:v>6.1</c:v>
                </c:pt>
                <c:pt idx="1">
                  <c:v>25.9</c:v>
                </c:pt>
                <c:pt idx="2">
                  <c:v>45.6</c:v>
                </c:pt>
                <c:pt idx="3">
                  <c:v>22.4</c:v>
                </c:pt>
              </c:numCache>
            </c:numRef>
          </c:val>
        </c:ser>
        <c:dLbls>
          <c:numFmt formatCode="0.0&quot;%&quot;" sourceLinked="0"/>
          <c:txPr>
            <a:bodyPr/>
            <a:lstStyle/>
            <a:p>
              <a:pPr>
                <a:defRPr b="1" i="0" strike="noStrike" sz="1200" u="none">
                  <a:solidFill>
                    <a:srgbClr val="2B2420"/>
                  </a:solidFill>
                  <a:latin typeface="DM Sans"/>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4A4039"/>
                </a:solidFill>
                <a:latin typeface="DM Sans"/>
              </a:defRPr>
            </a:pPr>
            <a:endParaRPr lang="en-US"/>
          </a:p>
        </c:txPr>
        <c:crossAx val="2094734552"/>
        <c:crosses val="autoZero"/>
        <c:auto val="1"/>
        <c:lblAlgn val="ctr"/>
        <c:noMultiLvlLbl val="1"/>
      </c:catAx>
      <c:valAx>
        <c:axId val="2094734552"/>
        <c:scaling>
          <c:orientation val="minMax"/>
          <c:max val="75"/>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 de encuestadas</c:v>
                </c:pt>
              </c:strCache>
            </c:strRef>
          </c:tx>
          <c:spPr>
            <a:solidFill>
              <a:srgbClr val="D98C86"/>
            </a:solidFill>
            <a:effectLst/>
          </c:spPr>
          <c:invertIfNegative val="0"/>
          <c:dLbls>
            <c:numFmt formatCode="0.0&quot;%&quot;" sourceLinked="0"/>
            <c:txPr>
              <a:bodyPr/>
              <a:lstStyle/>
              <a:p>
                <a:pPr>
                  <a:defRPr b="1" i="0" strike="noStrike" sz="1200" u="none">
                    <a:solidFill>
                      <a:srgbClr val="2B2420"/>
                    </a:solidFill>
                    <a:latin typeface="DM Sans"/>
                  </a:defRPr>
                </a:pPr>
              </a:p>
            </c:txPr>
            <c:showLegendKey val="0"/>
            <c:showVal val="1"/>
            <c:showCatName val="0"/>
            <c:showSerName val="0"/>
            <c:showPercent val="0"/>
            <c:showBubbleSize val="0"/>
            <c:showLeaderLines val="0"/>
          </c:dLbls>
          <c:dPt>
            <c:idx val="0"/>
            <c:invertIfNegative val="0"/>
            <c:bubble3D val="0"/>
            <c:spPr>
              <a:solidFill>
                <a:srgbClr val="D98C86"/>
              </a:solidFill>
              <a:effectLst/>
            </c:spPr>
          </c:dPt>
          <c:dPt>
            <c:idx val="1"/>
            <c:invertIfNegative val="0"/>
            <c:bubble3D val="0"/>
            <c:spPr>
              <a:solidFill>
                <a:srgbClr val="A87C45"/>
              </a:solidFill>
              <a:effectLst/>
            </c:spPr>
          </c:dPt>
          <c:dPt>
            <c:idx val="2"/>
            <c:invertIfNegative val="0"/>
            <c:bubble3D val="0"/>
            <c:spPr>
              <a:solidFill>
                <a:srgbClr val="C9B8B2"/>
              </a:solidFill>
              <a:effectLst/>
            </c:spPr>
          </c:dPt>
          <c:cat>
            <c:multiLvlStrRef>
              <c:f>Sheet1!$A$2:$A$4</c:f>
              <c:multiLvlStrCache>
                <c:ptCount val="3"/>
                <c:lvl>
                  <c:pt idx="0">
                    <c:v>Olvido / pereza</c:v>
                  </c:pt>
                  <c:pt idx="1">
                    <c:v>Tiempo del proceso manual</c:v>
                  </c:pt>
                  <c:pt idx="2">
                    <c:v>No lo considero necesario</c:v>
                  </c:pt>
                </c:lvl>
              </c:multiLvlStrCache>
            </c:multiLvlStrRef>
          </c:cat>
          <c:val>
            <c:numRef>
              <c:f>Sheet1!$B$2:$B$4</c:f>
              <c:numCache>
                <c:formatCode>General</c:formatCode>
                <c:ptCount val="3"/>
                <c:pt idx="0">
                  <c:v>47.6</c:v>
                </c:pt>
                <c:pt idx="1">
                  <c:v>40.1</c:v>
                </c:pt>
                <c:pt idx="2">
                  <c:v>12.2</c:v>
                </c:pt>
              </c:numCache>
            </c:numRef>
          </c:val>
        </c:ser>
        <c:dLbls>
          <c:numFmt formatCode="0.0&quot;%&quot;" sourceLinked="0"/>
          <c:txPr>
            <a:bodyPr/>
            <a:lstStyle/>
            <a:p>
              <a:pPr>
                <a:defRPr b="1" i="0" strike="noStrike" sz="1200" u="none">
                  <a:solidFill>
                    <a:srgbClr val="2B2420"/>
                  </a:solidFill>
                  <a:latin typeface="DM Sans"/>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4A4039"/>
                </a:solidFill>
                <a:latin typeface="DM Sans"/>
              </a:defRPr>
            </a:pPr>
            <a:endParaRPr lang="en-US"/>
          </a:p>
        </c:txPr>
        <c:crossAx val="2094734552"/>
        <c:crosses val="autoZero"/>
        <c:auto val="1"/>
        <c:lblAlgn val="ctr"/>
        <c:noMultiLvlLbl val="1"/>
      </c:catAx>
      <c:valAx>
        <c:axId val="2094734552"/>
        <c:scaling>
          <c:orientation val="minMax"/>
          <c:max val="75"/>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 de encuestadas</c:v>
                </c:pt>
              </c:strCache>
            </c:strRef>
          </c:tx>
          <c:spPr>
            <a:solidFill>
              <a:srgbClr val="D98C86"/>
            </a:solidFill>
            <a:effectLst/>
          </c:spPr>
          <c:invertIfNegative val="0"/>
          <c:dLbls>
            <c:numFmt formatCode="0.0&quot;%&quot;" sourceLinked="0"/>
            <c:txPr>
              <a:bodyPr/>
              <a:lstStyle/>
              <a:p>
                <a:pPr>
                  <a:defRPr b="1" i="0" strike="noStrike" sz="1200" u="none">
                    <a:solidFill>
                      <a:srgbClr val="2B2420"/>
                    </a:solidFill>
                    <a:latin typeface="DM Sans"/>
                  </a:defRPr>
                </a:pPr>
              </a:p>
            </c:txPr>
            <c:showLegendKey val="0"/>
            <c:showVal val="1"/>
            <c:showCatName val="0"/>
            <c:showSerName val="0"/>
            <c:showPercent val="0"/>
            <c:showBubbleSize val="0"/>
            <c:showLeaderLines val="0"/>
          </c:dLbls>
          <c:dPt>
            <c:idx val="0"/>
            <c:invertIfNegative val="0"/>
            <c:bubble3D val="0"/>
            <c:spPr>
              <a:solidFill>
                <a:srgbClr val="D98C86"/>
              </a:solidFill>
              <a:effectLst/>
            </c:spPr>
          </c:dPt>
          <c:dPt>
            <c:idx val="1"/>
            <c:invertIfNegative val="0"/>
            <c:bubble3D val="0"/>
            <c:spPr>
              <a:solidFill>
                <a:srgbClr val="A87C45"/>
              </a:solidFill>
              <a:effectLst/>
            </c:spPr>
          </c:dPt>
          <c:dPt>
            <c:idx val="2"/>
            <c:invertIfNegative val="0"/>
            <c:bubble3D val="0"/>
            <c:spPr>
              <a:solidFill>
                <a:srgbClr val="C9B8B2"/>
              </a:solidFill>
              <a:effectLst/>
            </c:spPr>
          </c:dPt>
          <c:dPt>
            <c:idx val="3"/>
            <c:invertIfNegative val="0"/>
            <c:bubble3D val="0"/>
            <c:spPr>
              <a:solidFill>
                <a:srgbClr val="8A5A52"/>
              </a:solidFill>
              <a:effectLst/>
            </c:spPr>
          </c:dPt>
          <c:cat>
            <c:multiLvlStrRef>
              <c:f>Sheet1!$A$2:$A$5</c:f>
              <c:multiLvlStrCache>
                <c:ptCount val="4"/>
                <c:lvl>
                  <c:pt idx="0">
                    <c:v>Jabón de manos o barra</c:v>
                  </c:pt>
                  <c:pt idx="1">
                    <c:v>Limpiador líquido especializado</c:v>
                  </c:pt>
                  <c:pt idx="2">
                    <c:v>Solo agua</c:v>
                  </c:pt>
                  <c:pt idx="3">
                    <c:v>Dispositivo de limpieza (est.)</c:v>
                  </c:pt>
                </c:lvl>
              </c:multiLvlStrCache>
            </c:multiLvlStrRef>
          </c:cat>
          <c:val>
            <c:numRef>
              <c:f>Sheet1!$B$2:$B$5</c:f>
              <c:numCache>
                <c:formatCode>General</c:formatCode>
                <c:ptCount val="4"/>
                <c:pt idx="0">
                  <c:v>46.9</c:v>
                </c:pt>
                <c:pt idx="1">
                  <c:v>37.4</c:v>
                </c:pt>
                <c:pt idx="2">
                  <c:v>9.5</c:v>
                </c:pt>
                <c:pt idx="3">
                  <c:v>6.2</c:v>
                </c:pt>
              </c:numCache>
            </c:numRef>
          </c:val>
        </c:ser>
        <c:dLbls>
          <c:numFmt formatCode="0.0&quot;%&quot;" sourceLinked="0"/>
          <c:txPr>
            <a:bodyPr/>
            <a:lstStyle/>
            <a:p>
              <a:pPr>
                <a:defRPr b="1" i="0" strike="noStrike" sz="1200" u="none">
                  <a:solidFill>
                    <a:srgbClr val="2B2420"/>
                  </a:solidFill>
                  <a:latin typeface="DM Sans"/>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4A4039"/>
                </a:solidFill>
                <a:latin typeface="DM Sans"/>
              </a:defRPr>
            </a:pPr>
            <a:endParaRPr lang="en-US"/>
          </a:p>
        </c:txPr>
        <c:crossAx val="2094734552"/>
        <c:crosses val="autoZero"/>
        <c:auto val="1"/>
        <c:lblAlgn val="ctr"/>
        <c:noMultiLvlLbl val="1"/>
      </c:catAx>
      <c:valAx>
        <c:axId val="2094734552"/>
        <c:scaling>
          <c:orientation val="minMax"/>
          <c:max val="75"/>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 de encuestadas</c:v>
                </c:pt>
              </c:strCache>
            </c:strRef>
          </c:tx>
          <c:spPr>
            <a:solidFill>
              <a:srgbClr val="8A5A52"/>
            </a:solidFill>
            <a:effectLst/>
          </c:spPr>
          <c:invertIfNegative val="0"/>
          <c:dLbls>
            <c:numFmt formatCode="0.0&quot;%&quot;" sourceLinked="0"/>
            <c:txPr>
              <a:bodyPr/>
              <a:lstStyle/>
              <a:p>
                <a:pPr>
                  <a:defRPr b="1" i="0" strike="noStrike" sz="1200" u="none">
                    <a:solidFill>
                      <a:srgbClr val="2B2420"/>
                    </a:solidFill>
                    <a:latin typeface="DM Sans"/>
                  </a:defRPr>
                </a:pPr>
              </a:p>
            </c:txPr>
            <c:showLegendKey val="0"/>
            <c:showVal val="1"/>
            <c:showCatName val="0"/>
            <c:showSerName val="0"/>
            <c:showPercent val="0"/>
            <c:showBubbleSize val="0"/>
            <c:showLeaderLines val="0"/>
          </c:dLbls>
          <c:dPt>
            <c:idx val="0"/>
            <c:invertIfNegative val="0"/>
            <c:bubble3D val="0"/>
            <c:spPr>
              <a:solidFill>
                <a:srgbClr val="8A5A52"/>
              </a:solidFill>
              <a:effectLst/>
            </c:spPr>
          </c:dPt>
          <c:dPt>
            <c:idx val="1"/>
            <c:invertIfNegative val="0"/>
            <c:bubble3D val="0"/>
            <c:spPr>
              <a:solidFill>
                <a:srgbClr val="D98C86"/>
              </a:solidFill>
              <a:effectLst/>
            </c:spPr>
          </c:dPt>
          <c:dPt>
            <c:idx val="2"/>
            <c:invertIfNegative val="0"/>
            <c:bubble3D val="0"/>
            <c:spPr>
              <a:solidFill>
                <a:srgbClr val="C9B8B2"/>
              </a:solidFill>
              <a:effectLst/>
            </c:spPr>
          </c:dPt>
          <c:dPt>
            <c:idx val="3"/>
            <c:invertIfNegative val="0"/>
            <c:bubble3D val="0"/>
            <c:spPr>
              <a:solidFill>
                <a:srgbClr val="A87C45"/>
              </a:solidFill>
              <a:effectLst/>
            </c:spPr>
          </c:dPt>
          <c:cat>
            <c:multiLvlStrRef>
              <c:f>Sheet1!$A$2:$A$5</c:f>
              <c:multiLvlStrCache>
                <c:ptCount val="4"/>
                <c:lvl>
                  <c:pt idx="0">
                    <c:v>Menos de COP 150.000</c:v>
                  </c:pt>
                  <c:pt idx="1">
                    <c:v>COP 250.000 - 450.000</c:v>
                  </c:pt>
                  <c:pt idx="2">
                    <c:v>No pagaría</c:v>
                  </c:pt>
                  <c:pt idx="3">
                    <c:v>Más de COP 450.000 (est.)</c:v>
                  </c:pt>
                </c:lvl>
              </c:multiLvlStrCache>
            </c:multiLvlStrRef>
          </c:cat>
          <c:val>
            <c:numRef>
              <c:f>Sheet1!$B$2:$B$5</c:f>
              <c:numCache>
                <c:formatCode>General</c:formatCode>
                <c:ptCount val="4"/>
                <c:pt idx="0">
                  <c:v>56.5</c:v>
                </c:pt>
                <c:pt idx="1">
                  <c:v>25.2</c:v>
                </c:pt>
                <c:pt idx="2">
                  <c:v>10.9</c:v>
                </c:pt>
                <c:pt idx="3">
                  <c:v>7.4</c:v>
                </c:pt>
              </c:numCache>
            </c:numRef>
          </c:val>
        </c:ser>
        <c:dLbls>
          <c:numFmt formatCode="0.0&quot;%&quot;" sourceLinked="0"/>
          <c:txPr>
            <a:bodyPr/>
            <a:lstStyle/>
            <a:p>
              <a:pPr>
                <a:defRPr b="1" i="0" strike="noStrike" sz="1200" u="none">
                  <a:solidFill>
                    <a:srgbClr val="2B2420"/>
                  </a:solidFill>
                  <a:latin typeface="DM Sans"/>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4A4039"/>
                </a:solidFill>
                <a:latin typeface="DM Sans"/>
              </a:defRPr>
            </a:pPr>
            <a:endParaRPr lang="en-US"/>
          </a:p>
        </c:txPr>
        <c:crossAx val="2094734552"/>
        <c:crosses val="autoZero"/>
        <c:auto val="1"/>
        <c:lblAlgn val="ctr"/>
        <c:noMultiLvlLbl val="1"/>
      </c:catAx>
      <c:valAx>
        <c:axId val="2094734552"/>
        <c:scaling>
          <c:orientation val="minMax"/>
          <c:max val="75"/>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 de encuestadas</c:v>
                </c:pt>
              </c:strCache>
            </c:strRef>
          </c:tx>
          <c:spPr>
            <a:solidFill>
              <a:srgbClr val="D98C86"/>
            </a:solidFill>
            <a:effectLst/>
          </c:spPr>
          <c:invertIfNegative val="0"/>
          <c:dLbls>
            <c:numFmt formatCode="0.0&quot;%&quot;" sourceLinked="0"/>
            <c:txPr>
              <a:bodyPr/>
              <a:lstStyle/>
              <a:p>
                <a:pPr>
                  <a:defRPr b="1" i="0" strike="noStrike" sz="1200" u="none">
                    <a:solidFill>
                      <a:srgbClr val="2B2420"/>
                    </a:solidFill>
                    <a:latin typeface="DM Sans"/>
                  </a:defRPr>
                </a:pPr>
              </a:p>
            </c:txPr>
            <c:showLegendKey val="0"/>
            <c:showVal val="1"/>
            <c:showCatName val="0"/>
            <c:showSerName val="0"/>
            <c:showPercent val="0"/>
            <c:showBubbleSize val="0"/>
            <c:showLeaderLines val="0"/>
          </c:dLbls>
          <c:dPt>
            <c:idx val="0"/>
            <c:invertIfNegative val="0"/>
            <c:bubble3D val="0"/>
            <c:spPr>
              <a:solidFill>
                <a:srgbClr val="D98C86"/>
              </a:solidFill>
              <a:effectLst/>
            </c:spPr>
          </c:dPt>
          <c:dPt>
            <c:idx val="1"/>
            <c:invertIfNegative val="0"/>
            <c:bubble3D val="0"/>
            <c:spPr>
              <a:solidFill>
                <a:srgbClr val="A87C45"/>
              </a:solidFill>
              <a:effectLst/>
            </c:spPr>
          </c:dPt>
          <c:dPt>
            <c:idx val="2"/>
            <c:invertIfNegative val="0"/>
            <c:bubble3D val="0"/>
            <c:spPr>
              <a:solidFill>
                <a:srgbClr val="C9B8B2"/>
              </a:solidFill>
              <a:effectLst/>
            </c:spPr>
          </c:dPt>
          <c:cat>
            <c:multiLvlStrRef>
              <c:f>Sheet1!$A$2:$A$4</c:f>
              <c:multiLvlStrCache>
                <c:ptCount val="3"/>
                <c:lvl>
                  <c:pt idx="0">
                    <c:v>Reseñas de creadoras</c:v>
                  </c:pt>
                  <c:pt idx="1">
                    <c:v>Demos en video</c:v>
                  </c:pt>
                  <c:pt idx="2">
                    <c:v>Descuentos / garantía</c:v>
                  </c:pt>
                </c:lvl>
              </c:multiLvlStrCache>
            </c:multiLvlStrRef>
          </c:cat>
          <c:val>
            <c:numRef>
              <c:f>Sheet1!$B$2:$B$4</c:f>
              <c:numCache>
                <c:formatCode>General</c:formatCode>
                <c:ptCount val="3"/>
                <c:pt idx="0">
                  <c:v>42.9</c:v>
                </c:pt>
                <c:pt idx="1">
                  <c:v>38.1</c:v>
                </c:pt>
                <c:pt idx="2">
                  <c:v>19</c:v>
                </c:pt>
              </c:numCache>
            </c:numRef>
          </c:val>
        </c:ser>
        <c:dLbls>
          <c:numFmt formatCode="0.0&quot;%&quot;" sourceLinked="0"/>
          <c:txPr>
            <a:bodyPr/>
            <a:lstStyle/>
            <a:p>
              <a:pPr>
                <a:defRPr b="1" i="0" strike="noStrike" sz="1200" u="none">
                  <a:solidFill>
                    <a:srgbClr val="2B2420"/>
                  </a:solidFill>
                  <a:latin typeface="DM Sans"/>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4A4039"/>
                </a:solidFill>
                <a:latin typeface="DM Sans"/>
              </a:defRPr>
            </a:pPr>
            <a:endParaRPr lang="en-US"/>
          </a:p>
        </c:txPr>
        <c:crossAx val="2094734552"/>
        <c:crosses val="autoZero"/>
        <c:auto val="1"/>
        <c:lblAlgn val="ctr"/>
        <c:noMultiLvlLbl val="1"/>
      </c:catAx>
      <c:valAx>
        <c:axId val="2094734552"/>
        <c:scaling>
          <c:orientation val="minMax"/>
          <c:max val="75"/>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Portada. Presentamos BlendPure: una estación inteligente conceptual para limpiar, desinfectar y secar esponjas de maquillaje. El proyecto evalúa su viabilidad comercial en Bogotá, Colombia, con base en evidencia secundaria.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39% limpia sus herramientas menos de una vez al mes y un 22% adicional nunca lo hace. Un estudio de Aston University encontró contaminación bacteriana en 70-90% de las muestras analizadas, con esponjas como las más contaminadas. Aclaración importante: esto es evidencia de presencia de microorganismos, no prueba de que cause enfermedad necesariamente.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mercado colombiano de belleza crece de forma estable. El segmento de maquillaje crece más rápido que el mercado general, y el beauty-tech global es el segmento de mayor crecimiento, aunque hoy es el más pequeño en Colombia.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Dimensionamiento. El TAM es el mercado colombiano de cosméticos y maquillaje, USD 351,72 millones en 2025. Para el SAM partimos de 3.248.320 mujeres adultas en Bogotá; aplicamos 84% con acceso a internet, y los supuestos del documento de 47% entre 18 y 45 años y 40% usuarias de maquillaje de cobertura, lo que da aproximadamente 512.975 consumidoras potenciales. Los porcentajes de edad y uso son supuestos, no datos medidos. El SOM no está cuantificado aún porque depende del precio definitivo.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Sara, 27 años, vive en Bogotá y trabaja en mercadeo digital. Usa beauty blender casi a diario pero la limpia con poca frecuencia por falta de tiempo. Sus barreras de compra son el precio y el escepticismo frente a nuevos gadgets de belleza.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problema no es solo higiene, es FRICCIÓN: mojar, jabonar, frotar, enjuagar, secar y esperar horas. Esa fricción de tiempo y esfuerzo es el verdadero dolor que BlendPure resuelve.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Beautyblender creó una categoría desde un problema propio y hoy vende una esponja cada 17 minutos en EE.UU. Dyson Airwrap demuestra que precios altos funcionan si el producto se ve bien en redes. Foreo Luna ganó por argumento de higiene con un material no poroso, el caso más cercano a lo que BlendPure propone.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Juicero fracasó por automatizar algo que no era suficientemente difícil a mano. Color&amp;Co, de L'Oréal, cerró pese a buena recepción, por no asegurar recompra. Clarisonic dominó una década pero cerró por depender de un solo producto y no conectar con consumidoras jóvenes.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Ningún competidor actual integra limpieza, enjuague, desinfección UV-C y secado en un solo ciclo pensado para esponjas. STYLPRO es el más cercano, pero no desinfecta ni usa microcorrientes de agua.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Costo de los sustitutos. Esponja estándar de COP 15.000 a 45.000, premium de 60.000 a 110.000, limpiador manual de USD 10 a 18 y STYLPRO de GBP 35 a 55. Mostramos el punto medio de cada rango como costo promedio; no son precios medios de mercado medidos, son los rangos del documento. El punto es que el sustituto dominante, jabón y agua, cuesta casi nada, y que el rango objetivo equivale a unas cuatro esponjas premium. Por eso el argumento de venta debe ser tiempo y comodidad.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problemática se construye de forma progresiva: el uso frecuente de beauty blenders lleva a baja frecuencia de limpieza por lo tedioso del proceso manual, lo que genera baja adherencia a la limpieza recomendada. Ahí aparece la oportunidad de automatización.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pregunta central que guía el proyecto. Diapositiva de impacto, con poco texto adicional, para dar espacio a la exposición oral.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Objetivos. El general sale directamente de la pregunta problema. Los cinco específicos salen del plan de validación del documento y los marcamos con su estado: los tres primeros están cubiertos, el de disposición a pagar se midió y no alcanzó la meta del 50%, y la validación del mockup con al menos 15 usuarias sigue pendiente.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BlendPure se justifica por un problema real y una fricción documentada, en un mercado de beauty-tech en crecimiento, sin un competidor directo que integre las cuatro etapas. Pero la validación primaria sigue pendiente.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Volvemos a la justificación con lo que aprendimos. Los cuatro primeros pilares se refuerzan: baja frecuencia de limpieza, fricción como causa, utilidad percibida alta y casi nadie usa un dispositivo. La diferenciación se refuerza con una condición: las especialistas piden pruebas independientes de la desinfección UV-C. El quinto pilar, la validación de la disposición a pagar, sigue sin cumplirse: 25,2% frente a una meta de 50%. Todo con la salvedad de que la muestra es de universitarias por conveniencia.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Primeros cuatro conceptos del marco teórico: Difusión de Innovaciones de Rogers, Acción Planificada de Ajzen, STP de Kotler y Armstrong, y Value Proposition Canvas de Osterwalder y colegas.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Últimos cuatro conceptos: CRM de Payne y Frow, Omnicanalidad de Verhoef, Kannan e Inman, Customer Journey de Lemon y Verhoef, y Customer Lifetime Value de Gupta y Lehmann.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 una de las ocho teorías se traduce en una decisión concreta: desde empezar con beauty creators hasta construir el Refill Club para sostener la recompra de cápsulas.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Contrastamos cinco de los ocho conceptos del marco teórico con los datos. Acción planificada y Value Proposition Canvas quedan respaldadas: hay intención y utilidad, pero la fricción impide la conducta. Rogers se respalda de forma cualitativa: la decisión de compra depende de video y creadoras. STP nos obliga a revisar el segmento: la muestra fue universitaria, el precio no cuadra con ese ingreso y una maquilladora de moda no usa esponjas. Y el valor de vida del cliente, con la recompra de cápsulas, todavía no tiene ninguna evidencia.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BlendPure se resume en cuatro verbos: limpia, enjuaga, desinfecta, seca. Sus tres beneficios centrales son ahorro de tiempo, simplicidad y cuidado de la herramienta. No se hacen afirmaciones sanitarias exageradas, porque la eficacia técnica aún no se ha validado.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Resultados de nuestra encuesta exploratoria (n=147, mujeres universitarias). El 60,5% usa la esponja a diario o 1-2 veces por semana, pero solo 6,1% (estimado por diferencia) la limpia después de cada uso y 68% la limpia una vez al mes o menos. Confirma la brecha uso-limpieza del numeral 2.1, con la advertencia de que es una muestra por conveniencia.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47,6% dice que se le olvida o le da pereza y el 40,1% señala el tiempo del proceso: 87,7% es fricción de ejecución, y solo 12,2% cree que no es necesario. Es consistente con la Teoría de la Acción Planificada: la intención existe pero no se traduce en conducta por la fricción. Además solo 6,2% (estimado) usa un dispositivo, así que el reto es cambio de hábito, no desplazar a un competidor.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hallazgo más importante y más exigente. 95,2% percibe algún grado de utilidad, pero solo 25,2% pagaría dentro del rango COP 250.000-450.000; 56,5% pagaría menos de COP 150.000. La meta que nos pusimos era 50%. No invalida la oportunidad, pero no valida el precio: hay que replicar con una muestra del segmento objetivo y/o revisar precio y propuesta de valor. Limitación: muestra de universitarias, con menor ingreso que el segmento objetivo.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Síntesis. La encuesta confirma tres supuestos: el uso es frecuente, la limpieza escasa, y la causa es fricción. También muestra que el 81% de las decisiones de compra se apoyan en contenido de video y creadoras, lo que respalda el plan de canales. La alerta es la disposición a pagar. Presentamos esto como evidencia exploratoria con sus limitaciones; el siguiente paso es la encuesta ampliada al segmento objetivo.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Entrevistamos a cinco especialistas del lado del uso y la higiene. Todas coinciden en que el problema es de fricción y de hábito, coherente con la encuesta. A la vez piden pruebas: tiempo real del ciclo, que la esponja no se deteriore y evidencia independiente de la desinfección UV-C; las dermatólogas advierten no prometer eliminar todas las bacterias ni prevenir enfermedades. Matiz importante: Paola Puentes, maquilladora de moda y bodas, no trabaja con esponjas por bioseguridad, así que el segmento profesional no es tan obvio como parece; esperaría máximo 3 minutos y prefiere una estación en casa.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 lado del negocio, la experta en marketing considera alto el rango de COP 250.000-450.000 para un producto que solo limpia esponjas, lo que coincide con nuestra encuesta, donde solo 25,2% pagaría en ese rango. El especialista en e-commerce dice que el mayor reto es generar confianza con una marca nueva; el video demostrativo es indispensable y con una landing optimizada se logran conversiones de 6 a 7%. Recomiendan TikTok y Reels, microcreadores, pago contra entrega, y TikTok Shop como objetivo 2027. Alerta: la gente busca réplicas en Temu, por eso la marca debe ser fuerte desde el inicio. Limitación: son opiniones de expertos, no datos de mercado, y el 6-7% es la tasa de su propia operación.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proyecto aún necesita validación primaria. El objetivo es encuestar a 200 mujeres de 18-35 años en Bogotá midiendo frecuencia de limpieza, tiempo dedicado, disposición a pagar y rango de precio. La meta es que al menos el 50% esté dispuesta a pagar entre 250.000 y 450.000 pesos.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BlendPure nace de la suma de un problema real documentado, una fricción de tiempo concreta y una oportunidad de mercado en beauty-tech. La idea final: convertir una tarea que hoy se evita en una rutina simple, rápida y automatizada. Gracias.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chart" Target="/ppt/charts/chart4.xml"/><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41F1D"/>
        </a:solidFill>
      </p:bgPr>
    </p:bg>
    <p:spTree>
      <p:nvGrpSpPr>
        <p:cNvPr id="1" name=""/>
        <p:cNvGrpSpPr/>
        <p:nvPr/>
      </p:nvGrpSpPr>
      <p:grpSpPr>
        <a:xfrm>
          <a:off x="0" y="0"/>
          <a:ext cx="0" cy="0"/>
          <a:chOff x="0" y="0"/>
          <a:chExt cx="0" cy="0"/>
        </a:xfrm>
      </p:grpSpPr>
      <p:sp>
        <p:nvSpPr>
          <p:cNvPr id="2" name="Shape 0"/>
          <p:cNvSpPr/>
          <p:nvPr/>
        </p:nvSpPr>
        <p:spPr>
          <a:xfrm>
            <a:off x="8412480" y="-1828800"/>
            <a:ext cx="6858000" cy="6858000"/>
          </a:xfrm>
          <a:prstGeom prst="ellipse">
            <a:avLst/>
          </a:prstGeom>
          <a:solidFill>
            <a:srgbClr val="D98C86">
              <a:alpha val="30000"/>
            </a:srgbClr>
          </a:solidFill>
          <a:ln/>
        </p:spPr>
      </p:sp>
      <p:sp>
        <p:nvSpPr>
          <p:cNvPr id="3" name="Shape 1"/>
          <p:cNvSpPr/>
          <p:nvPr/>
        </p:nvSpPr>
        <p:spPr>
          <a:xfrm>
            <a:off x="-2286000" y="4754880"/>
            <a:ext cx="4754880" cy="4754880"/>
          </a:xfrm>
          <a:prstGeom prst="ellipse">
            <a:avLst/>
          </a:prstGeom>
          <a:solidFill>
            <a:srgbClr val="A87C45">
              <a:alpha val="25000"/>
            </a:srgbClr>
          </a:solidFill>
          <a:ln/>
        </p:spPr>
      </p:sp>
      <p:sp>
        <p:nvSpPr>
          <p:cNvPr id="4" name="Shape 2"/>
          <p:cNvSpPr/>
          <p:nvPr/>
        </p:nvSpPr>
        <p:spPr>
          <a:xfrm>
            <a:off x="9418320" y="640080"/>
            <a:ext cx="2377440" cy="2377440"/>
          </a:xfrm>
          <a:prstGeom prst="ellipse">
            <a:avLst/>
          </a:prstGeom>
          <a:ln w="19050">
            <a:solidFill>
              <a:srgbClr val="A87C45">
                <a:alpha val="65000"/>
              </a:srgbClr>
            </a:solidFill>
            <a:prstDash val="solid"/>
          </a:ln>
        </p:spPr>
      </p:sp>
      <p:sp>
        <p:nvSpPr>
          <p:cNvPr id="5" name="Shape 3"/>
          <p:cNvSpPr/>
          <p:nvPr/>
        </p:nvSpPr>
        <p:spPr>
          <a:xfrm>
            <a:off x="9784080" y="1005840"/>
            <a:ext cx="1645920" cy="1645920"/>
          </a:xfrm>
          <a:prstGeom prst="ellipse">
            <a:avLst/>
          </a:prstGeom>
          <a:ln w="12700">
            <a:solidFill>
              <a:srgbClr val="D98C86">
                <a:alpha val="80000"/>
              </a:srgbClr>
            </a:solidFill>
            <a:prstDash val="solid"/>
          </a:ln>
        </p:spPr>
      </p:sp>
      <p:sp>
        <p:nvSpPr>
          <p:cNvPr id="6" name="Text 4"/>
          <p:cNvSpPr txBox="1"/>
          <p:nvPr/>
        </p:nvSpPr>
        <p:spPr>
          <a:xfrm>
            <a:off x="0" y="1920240"/>
            <a:ext cx="12191695" cy="365760"/>
          </a:xfrm>
          <a:prstGeom prst="rect">
            <a:avLst/>
          </a:prstGeom>
          <a:noFill/>
          <a:ln/>
        </p:spPr>
        <p:txBody>
          <a:bodyPr wrap="square" lIns="0" tIns="0" rIns="0" bIns="0" rtlCol="0" anchor="ctr"/>
          <a:lstStyle/>
          <a:p>
            <a:pPr algn="ctr" indent="0" marL="0">
              <a:buNone/>
            </a:pPr>
            <a:r>
              <a:rPr lang="en-US" sz="1400" b="1" spc="300" kern="0" dirty="0">
                <a:solidFill>
                  <a:srgbClr val="D98C86"/>
                </a:solidFill>
                <a:latin typeface="DM Sans" pitchFamily="34" charset="0"/>
                <a:ea typeface="DM Sans" pitchFamily="34" charset="-122"/>
                <a:cs typeface="DM Sans" pitchFamily="34" charset="-120"/>
              </a:rPr>
              <a:t>ESTACIÓN INTELIGENTE DE CUIDADO DE BELLEZA</a:t>
            </a:r>
            <a:endParaRPr lang="en-US" sz="1400" dirty="0"/>
          </a:p>
        </p:txBody>
      </p:sp>
      <p:sp>
        <p:nvSpPr>
          <p:cNvPr id="7" name="Text 5"/>
          <p:cNvSpPr txBox="1"/>
          <p:nvPr/>
        </p:nvSpPr>
        <p:spPr>
          <a:xfrm>
            <a:off x="0" y="2286000"/>
            <a:ext cx="12191695" cy="1371600"/>
          </a:xfrm>
          <a:prstGeom prst="rect">
            <a:avLst/>
          </a:prstGeom>
          <a:noFill/>
          <a:ln/>
        </p:spPr>
        <p:txBody>
          <a:bodyPr wrap="square" lIns="0" tIns="0" rIns="0" bIns="0" rtlCol="0" anchor="ctr"/>
          <a:lstStyle/>
          <a:p>
            <a:pPr algn="ctr" indent="0" marL="0">
              <a:buNone/>
            </a:pPr>
            <a:r>
              <a:rPr lang="en-US" sz="8800" b="1" spc="200" kern="0" dirty="0">
                <a:solidFill>
                  <a:srgbClr val="FBF5F1"/>
                </a:solidFill>
                <a:latin typeface="Cormorant Garamond" pitchFamily="34" charset="0"/>
                <a:ea typeface="Cormorant Garamond" pitchFamily="34" charset="-122"/>
                <a:cs typeface="Cormorant Garamond" pitchFamily="34" charset="-120"/>
              </a:rPr>
              <a:t>BLENDPURE</a:t>
            </a:r>
            <a:endParaRPr lang="en-US" sz="8800" dirty="0"/>
          </a:p>
        </p:txBody>
      </p:sp>
      <p:sp>
        <p:nvSpPr>
          <p:cNvPr id="8" name="Text 6"/>
          <p:cNvSpPr txBox="1"/>
          <p:nvPr/>
        </p:nvSpPr>
        <p:spPr>
          <a:xfrm>
            <a:off x="1371600" y="3657600"/>
            <a:ext cx="9418320" cy="640080"/>
          </a:xfrm>
          <a:prstGeom prst="rect">
            <a:avLst/>
          </a:prstGeom>
          <a:noFill/>
          <a:ln/>
        </p:spPr>
        <p:txBody>
          <a:bodyPr wrap="square" lIns="0" tIns="0" rIns="0" bIns="0" rtlCol="0" anchor="ctr"/>
          <a:lstStyle/>
          <a:p>
            <a:pPr algn="ctr" indent="0" marL="0">
              <a:buNone/>
            </a:pPr>
            <a:r>
              <a:rPr lang="en-US" sz="2200" i="1" dirty="0">
                <a:solidFill>
                  <a:srgbClr val="E6D4CC"/>
                </a:solidFill>
                <a:latin typeface="Cormorant Garamond" pitchFamily="34" charset="0"/>
                <a:ea typeface="Cormorant Garamond" pitchFamily="34" charset="-122"/>
                <a:cs typeface="Cormorant Garamond" pitchFamily="34" charset="-120"/>
              </a:rPr>
              <a:t>Limpieza, desinfección y secado automático de esponjas de maquillaje</a:t>
            </a:r>
            <a:endParaRPr lang="en-US" sz="2200" dirty="0"/>
          </a:p>
        </p:txBody>
      </p:sp>
      <p:sp>
        <p:nvSpPr>
          <p:cNvPr id="9" name="Text 7"/>
          <p:cNvSpPr txBox="1"/>
          <p:nvPr/>
        </p:nvSpPr>
        <p:spPr>
          <a:xfrm>
            <a:off x="548640" y="5989320"/>
            <a:ext cx="11064240" cy="320040"/>
          </a:xfrm>
          <a:prstGeom prst="rect">
            <a:avLst/>
          </a:prstGeom>
          <a:noFill/>
          <a:ln/>
        </p:spPr>
        <p:txBody>
          <a:bodyPr wrap="square" lIns="0" tIns="0" rIns="0" bIns="0" rtlCol="0" anchor="ctr"/>
          <a:lstStyle/>
          <a:p>
            <a:pPr indent="0" marL="0">
              <a:buNone/>
            </a:pPr>
            <a:r>
              <a:rPr lang="en-US" sz="1300" dirty="0">
                <a:solidFill>
                  <a:srgbClr val="C9B8B2"/>
                </a:solidFill>
                <a:latin typeface="DM Sans" pitchFamily="34" charset="0"/>
                <a:ea typeface="DM Sans" pitchFamily="34" charset="-122"/>
                <a:cs typeface="DM Sans" pitchFamily="34" charset="-120"/>
              </a:rPr>
              <a:t>Manuela Granados · Danna Sáenz · Isabela Carmona · Laura Quiñones</a:t>
            </a:r>
            <a:endParaRPr lang="en-US" sz="1300" dirty="0"/>
          </a:p>
        </p:txBody>
      </p:sp>
      <p:sp>
        <p:nvSpPr>
          <p:cNvPr id="10" name="Text 8"/>
          <p:cNvSpPr txBox="1"/>
          <p:nvPr/>
        </p:nvSpPr>
        <p:spPr>
          <a:xfrm>
            <a:off x="548640" y="6309360"/>
            <a:ext cx="11064240" cy="320040"/>
          </a:xfrm>
          <a:prstGeom prst="rect">
            <a:avLst/>
          </a:prstGeom>
          <a:noFill/>
          <a:ln/>
        </p:spPr>
        <p:txBody>
          <a:bodyPr wrap="square" lIns="0" tIns="0" rIns="0" bIns="0" rtlCol="0" anchor="ctr"/>
          <a:lstStyle/>
          <a:p>
            <a:pPr indent="0" marL="0">
              <a:buNone/>
            </a:pPr>
            <a:r>
              <a:rPr lang="en-US" sz="1300" dirty="0">
                <a:solidFill>
                  <a:srgbClr val="8A7A73"/>
                </a:solidFill>
                <a:latin typeface="DM Sans" pitchFamily="34" charset="0"/>
                <a:ea typeface="DM Sans" pitchFamily="34" charset="-122"/>
                <a:cs typeface="DM Sans" pitchFamily="34" charset="-120"/>
              </a:rPr>
              <a:t>Pontificia Universidad Javeriana · Mercadeo en Internet ·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5F1"/>
        </a:solidFill>
      </p:bgPr>
    </p:bg>
    <p:spTree>
      <p:nvGrpSpPr>
        <p:cNvPr id="1" name=""/>
        <p:cNvGrpSpPr/>
        <p:nvPr/>
      </p:nvGrpSpPr>
      <p:grpSpPr>
        <a:xfrm>
          <a:off x="0" y="0"/>
          <a:ext cx="0" cy="0"/>
          <a:chOff x="0" y="0"/>
          <a:chExt cx="0" cy="0"/>
        </a:xfrm>
      </p:grpSpPr>
      <p:sp>
        <p:nvSpPr>
          <p:cNvPr id="2" name="Text 0"/>
          <p:cNvSpPr txBox="1"/>
          <p:nvPr/>
        </p:nvSpPr>
        <p:spPr>
          <a:xfrm>
            <a:off x="548640" y="502920"/>
            <a:ext cx="11094415" cy="320040"/>
          </a:xfrm>
          <a:prstGeom prst="rect">
            <a:avLst/>
          </a:prstGeom>
          <a:noFill/>
          <a:ln/>
        </p:spPr>
        <p:txBody>
          <a:bodyPr wrap="square" lIns="0" tIns="0" rIns="0" bIns="0" rtlCol="0" anchor="ctr"/>
          <a:lstStyle/>
          <a:p>
            <a:pPr indent="0" marL="0">
              <a:buNone/>
            </a:pPr>
            <a:r>
              <a:rPr lang="en-US" sz="1300" b="1" spc="200" kern="0" dirty="0">
                <a:solidFill>
                  <a:srgbClr val="A87C45"/>
                </a:solidFill>
                <a:latin typeface="DM Sans" pitchFamily="34" charset="0"/>
                <a:ea typeface="DM Sans" pitchFamily="34" charset="-122"/>
                <a:cs typeface="DM Sans" pitchFamily="34" charset="-120"/>
              </a:rPr>
              <a:t>EL PROBLEMA</a:t>
            </a:r>
            <a:endParaRPr lang="en-US" sz="1300" dirty="0"/>
          </a:p>
        </p:txBody>
      </p:sp>
      <p:sp>
        <p:nvSpPr>
          <p:cNvPr id="3" name="Text 1"/>
          <p:cNvSpPr txBox="1"/>
          <p:nvPr/>
        </p:nvSpPr>
        <p:spPr>
          <a:xfrm>
            <a:off x="548640" y="868680"/>
            <a:ext cx="11094415" cy="822960"/>
          </a:xfrm>
          <a:prstGeom prst="rect">
            <a:avLst/>
          </a:prstGeom>
          <a:noFill/>
          <a:ln/>
        </p:spPr>
        <p:txBody>
          <a:bodyPr wrap="square" lIns="0" tIns="0" rIns="0" bIns="0" rtlCol="0" anchor="ctr"/>
          <a:lstStyle/>
          <a:p>
            <a:pPr algn="l" indent="0" marL="0">
              <a:buNone/>
            </a:pPr>
            <a:r>
              <a:rPr lang="en-US" sz="3400" b="1" dirty="0">
                <a:solidFill>
                  <a:srgbClr val="241F1D"/>
                </a:solidFill>
                <a:latin typeface="Cormorant Garamond" pitchFamily="34" charset="0"/>
                <a:ea typeface="Cormorant Garamond" pitchFamily="34" charset="-122"/>
                <a:cs typeface="Cormorant Garamond" pitchFamily="34" charset="-120"/>
              </a:rPr>
              <a:t>El problema en una cifra</a:t>
            </a:r>
            <a:endParaRPr lang="en-US" sz="3400" dirty="0"/>
          </a:p>
        </p:txBody>
      </p:sp>
      <p:sp>
        <p:nvSpPr>
          <p:cNvPr id="4" name="Shape 2"/>
          <p:cNvSpPr/>
          <p:nvPr/>
        </p:nvSpPr>
        <p:spPr>
          <a:xfrm>
            <a:off x="548640" y="1828800"/>
            <a:ext cx="3515258" cy="2651760"/>
          </a:xfrm>
          <a:prstGeom prst="roundRect">
            <a:avLst>
              <a:gd name="adj" fmla="val 4138"/>
            </a:avLst>
          </a:prstGeom>
          <a:solidFill>
            <a:srgbClr val="FFFFFF"/>
          </a:solidFill>
          <a:ln w="12700">
            <a:solidFill>
              <a:srgbClr val="EDE1D9"/>
            </a:solidFill>
            <a:prstDash val="solid"/>
          </a:ln>
        </p:spPr>
      </p:sp>
      <p:sp>
        <p:nvSpPr>
          <p:cNvPr id="5" name="Text 3"/>
          <p:cNvSpPr txBox="1"/>
          <p:nvPr/>
        </p:nvSpPr>
        <p:spPr>
          <a:xfrm>
            <a:off x="548640" y="2148840"/>
            <a:ext cx="3515258" cy="1005840"/>
          </a:xfrm>
          <a:prstGeom prst="rect">
            <a:avLst/>
          </a:prstGeom>
          <a:noFill/>
          <a:ln/>
        </p:spPr>
        <p:txBody>
          <a:bodyPr wrap="square" lIns="0" tIns="0" rIns="0" bIns="0" rtlCol="0" anchor="ctr"/>
          <a:lstStyle/>
          <a:p>
            <a:pPr algn="ctr" indent="0" marL="0">
              <a:buNone/>
            </a:pPr>
            <a:r>
              <a:rPr lang="en-US" sz="6000" b="1" dirty="0">
                <a:solidFill>
                  <a:srgbClr val="D98C86"/>
                </a:solidFill>
                <a:latin typeface="Cormorant Garamond" pitchFamily="34" charset="0"/>
                <a:ea typeface="Cormorant Garamond" pitchFamily="34" charset="-122"/>
                <a:cs typeface="Cormorant Garamond" pitchFamily="34" charset="-120"/>
              </a:rPr>
              <a:t>39%</a:t>
            </a:r>
            <a:endParaRPr lang="en-US" sz="6000" dirty="0"/>
          </a:p>
        </p:txBody>
      </p:sp>
      <p:sp>
        <p:nvSpPr>
          <p:cNvPr id="6" name="Text 4"/>
          <p:cNvSpPr txBox="1"/>
          <p:nvPr/>
        </p:nvSpPr>
        <p:spPr>
          <a:xfrm>
            <a:off x="777240" y="3246120"/>
            <a:ext cx="3058058" cy="1097280"/>
          </a:xfrm>
          <a:prstGeom prst="rect">
            <a:avLst/>
          </a:prstGeom>
          <a:noFill/>
          <a:ln/>
        </p:spPr>
        <p:txBody>
          <a:bodyPr wrap="square" lIns="0" tIns="0" rIns="0" bIns="0" rtlCol="0" anchor="ctr"/>
          <a:lstStyle/>
          <a:p>
            <a:pPr algn="ctr" indent="0" marL="0">
              <a:buNone/>
            </a:pPr>
            <a:r>
              <a:rPr lang="en-US" sz="1400" dirty="0">
                <a:solidFill>
                  <a:srgbClr val="5B5250"/>
                </a:solidFill>
                <a:latin typeface="DM Sans" pitchFamily="34" charset="0"/>
                <a:ea typeface="DM Sans" pitchFamily="34" charset="-122"/>
                <a:cs typeface="DM Sans" pitchFamily="34" charset="-120"/>
              </a:rPr>
              <a:t>de las mujeres limpia sus herramientas de maquillaje menos de una vez al mes</a:t>
            </a:r>
            <a:endParaRPr lang="en-US" sz="1400" dirty="0"/>
          </a:p>
        </p:txBody>
      </p:sp>
      <p:sp>
        <p:nvSpPr>
          <p:cNvPr id="7" name="Shape 5"/>
          <p:cNvSpPr/>
          <p:nvPr/>
        </p:nvSpPr>
        <p:spPr>
          <a:xfrm>
            <a:off x="4338218" y="1828800"/>
            <a:ext cx="3515258" cy="2651760"/>
          </a:xfrm>
          <a:prstGeom prst="roundRect">
            <a:avLst>
              <a:gd name="adj" fmla="val 4138"/>
            </a:avLst>
          </a:prstGeom>
          <a:solidFill>
            <a:srgbClr val="241F1D"/>
          </a:solidFill>
          <a:ln/>
        </p:spPr>
      </p:sp>
      <p:sp>
        <p:nvSpPr>
          <p:cNvPr id="8" name="Text 6"/>
          <p:cNvSpPr txBox="1"/>
          <p:nvPr/>
        </p:nvSpPr>
        <p:spPr>
          <a:xfrm>
            <a:off x="4338218" y="2148840"/>
            <a:ext cx="3515258" cy="1005840"/>
          </a:xfrm>
          <a:prstGeom prst="rect">
            <a:avLst/>
          </a:prstGeom>
          <a:noFill/>
          <a:ln/>
        </p:spPr>
        <p:txBody>
          <a:bodyPr wrap="square" lIns="0" tIns="0" rIns="0" bIns="0" rtlCol="0" anchor="ctr"/>
          <a:lstStyle/>
          <a:p>
            <a:pPr algn="ctr" indent="0" marL="0">
              <a:buNone/>
            </a:pPr>
            <a:r>
              <a:rPr lang="en-US" sz="6000" b="1" dirty="0">
                <a:solidFill>
                  <a:srgbClr val="E6D4CC"/>
                </a:solidFill>
                <a:latin typeface="Cormorant Garamond" pitchFamily="34" charset="0"/>
                <a:ea typeface="Cormorant Garamond" pitchFamily="34" charset="-122"/>
                <a:cs typeface="Cormorant Garamond" pitchFamily="34" charset="-120"/>
              </a:rPr>
              <a:t>22%</a:t>
            </a:r>
            <a:endParaRPr lang="en-US" sz="6000" dirty="0"/>
          </a:p>
        </p:txBody>
      </p:sp>
      <p:sp>
        <p:nvSpPr>
          <p:cNvPr id="9" name="Text 7"/>
          <p:cNvSpPr txBox="1"/>
          <p:nvPr/>
        </p:nvSpPr>
        <p:spPr>
          <a:xfrm>
            <a:off x="4566818" y="3246120"/>
            <a:ext cx="3058058" cy="1097280"/>
          </a:xfrm>
          <a:prstGeom prst="rect">
            <a:avLst/>
          </a:prstGeom>
          <a:noFill/>
          <a:ln/>
        </p:spPr>
        <p:txBody>
          <a:bodyPr wrap="square" lIns="0" tIns="0" rIns="0" bIns="0" rtlCol="0" anchor="ctr"/>
          <a:lstStyle/>
          <a:p>
            <a:pPr algn="ctr" indent="0" marL="0">
              <a:buNone/>
            </a:pPr>
            <a:r>
              <a:rPr lang="en-US" sz="1400" dirty="0">
                <a:solidFill>
                  <a:srgbClr val="C9B8B2"/>
                </a:solidFill>
                <a:latin typeface="DM Sans" pitchFamily="34" charset="0"/>
                <a:ea typeface="DM Sans" pitchFamily="34" charset="-122"/>
                <a:cs typeface="DM Sans" pitchFamily="34" charset="-120"/>
              </a:rPr>
              <a:t>nunca limpia sus esponjas o brochas de maquillaje</a:t>
            </a:r>
            <a:endParaRPr lang="en-US" sz="1400" dirty="0"/>
          </a:p>
        </p:txBody>
      </p:sp>
      <p:sp>
        <p:nvSpPr>
          <p:cNvPr id="10" name="Shape 8"/>
          <p:cNvSpPr/>
          <p:nvPr/>
        </p:nvSpPr>
        <p:spPr>
          <a:xfrm>
            <a:off x="8127797" y="1828800"/>
            <a:ext cx="3515258" cy="2651760"/>
          </a:xfrm>
          <a:prstGeom prst="roundRect">
            <a:avLst>
              <a:gd name="adj" fmla="val 4138"/>
            </a:avLst>
          </a:prstGeom>
          <a:solidFill>
            <a:srgbClr val="FFFFFF"/>
          </a:solidFill>
          <a:ln w="12700">
            <a:solidFill>
              <a:srgbClr val="EDE1D9"/>
            </a:solidFill>
            <a:prstDash val="solid"/>
          </a:ln>
        </p:spPr>
      </p:sp>
      <p:sp>
        <p:nvSpPr>
          <p:cNvPr id="11" name="Text 9"/>
          <p:cNvSpPr txBox="1"/>
          <p:nvPr/>
        </p:nvSpPr>
        <p:spPr>
          <a:xfrm>
            <a:off x="8127797" y="2148840"/>
            <a:ext cx="3515258" cy="1005840"/>
          </a:xfrm>
          <a:prstGeom prst="rect">
            <a:avLst/>
          </a:prstGeom>
          <a:noFill/>
          <a:ln/>
        </p:spPr>
        <p:txBody>
          <a:bodyPr wrap="square" lIns="0" tIns="0" rIns="0" bIns="0" rtlCol="0" anchor="ctr"/>
          <a:lstStyle/>
          <a:p>
            <a:pPr algn="ctr" indent="0" marL="0">
              <a:buNone/>
            </a:pPr>
            <a:r>
              <a:rPr lang="en-US" sz="4800" b="1" dirty="0">
                <a:solidFill>
                  <a:srgbClr val="A87C45"/>
                </a:solidFill>
                <a:latin typeface="Cormorant Garamond" pitchFamily="34" charset="0"/>
                <a:ea typeface="Cormorant Garamond" pitchFamily="34" charset="-122"/>
                <a:cs typeface="Cormorant Garamond" pitchFamily="34" charset="-120"/>
              </a:rPr>
              <a:t>70–90%</a:t>
            </a:r>
            <a:endParaRPr lang="en-US" sz="4800" dirty="0"/>
          </a:p>
        </p:txBody>
      </p:sp>
      <p:sp>
        <p:nvSpPr>
          <p:cNvPr id="12" name="Text 10"/>
          <p:cNvSpPr txBox="1"/>
          <p:nvPr/>
        </p:nvSpPr>
        <p:spPr>
          <a:xfrm>
            <a:off x="8356397" y="3246120"/>
            <a:ext cx="3058058" cy="1097280"/>
          </a:xfrm>
          <a:prstGeom prst="rect">
            <a:avLst/>
          </a:prstGeom>
          <a:noFill/>
          <a:ln/>
        </p:spPr>
        <p:txBody>
          <a:bodyPr wrap="square" lIns="0" tIns="0" rIns="0" bIns="0" rtlCol="0" anchor="ctr"/>
          <a:lstStyle/>
          <a:p>
            <a:pPr algn="ctr" indent="0" marL="0">
              <a:buNone/>
            </a:pPr>
            <a:r>
              <a:rPr lang="en-US" sz="1400" dirty="0">
                <a:solidFill>
                  <a:srgbClr val="5B5250"/>
                </a:solidFill>
                <a:latin typeface="DM Sans" pitchFamily="34" charset="0"/>
                <a:ea typeface="DM Sans" pitchFamily="34" charset="-122"/>
                <a:cs typeface="DM Sans" pitchFamily="34" charset="-120"/>
              </a:rPr>
              <a:t>de los productos de maquillaje analizados presentó contaminación bacteriana</a:t>
            </a:r>
            <a:endParaRPr lang="en-US" sz="1400" dirty="0"/>
          </a:p>
        </p:txBody>
      </p:sp>
      <p:sp>
        <p:nvSpPr>
          <p:cNvPr id="13" name="Shape 11"/>
          <p:cNvSpPr/>
          <p:nvPr/>
        </p:nvSpPr>
        <p:spPr>
          <a:xfrm>
            <a:off x="548640" y="4800600"/>
            <a:ext cx="11094415" cy="960120"/>
          </a:xfrm>
          <a:prstGeom prst="roundRect">
            <a:avLst>
              <a:gd name="adj" fmla="val 9524"/>
            </a:avLst>
          </a:prstGeom>
          <a:solidFill>
            <a:srgbClr val="F3DCD8"/>
          </a:solidFill>
          <a:ln/>
        </p:spPr>
      </p:sp>
      <p:sp>
        <p:nvSpPr>
          <p:cNvPr id="14" name="Text 12"/>
          <p:cNvSpPr txBox="1"/>
          <p:nvPr/>
        </p:nvSpPr>
        <p:spPr>
          <a:xfrm>
            <a:off x="822960" y="4937760"/>
            <a:ext cx="10545775" cy="731520"/>
          </a:xfrm>
          <a:prstGeom prst="rect">
            <a:avLst/>
          </a:prstGeom>
          <a:noFill/>
          <a:ln/>
        </p:spPr>
        <p:txBody>
          <a:bodyPr wrap="square" lIns="0" tIns="0" rIns="0" bIns="0" rtlCol="0" anchor="ctr"/>
          <a:lstStyle/>
          <a:p>
            <a:pPr indent="0" marL="0">
              <a:buNone/>
            </a:pPr>
            <a:r>
              <a:rPr lang="en-US" sz="1400" dirty="0">
                <a:solidFill>
                  <a:srgbClr val="6B4A43"/>
                </a:solidFill>
                <a:latin typeface="DM Sans" pitchFamily="34" charset="0"/>
                <a:ea typeface="DM Sans" pitchFamily="34" charset="-122"/>
                <a:cs typeface="DM Sans" pitchFamily="34" charset="-120"/>
              </a:rPr>
              <a:t>Esta evidencia muestra </a:t>
            </a:r>
            <a:pPr indent="0" marL="0">
              <a:buNone/>
            </a:pPr>
            <a:r>
              <a:rPr lang="en-US" sz="1400" b="1" dirty="0">
                <a:solidFill>
                  <a:srgbClr val="6B4A43"/>
                </a:solidFill>
                <a:latin typeface="DM Sans" pitchFamily="34" charset="0"/>
                <a:ea typeface="DM Sans" pitchFamily="34" charset="-122"/>
                <a:cs typeface="DM Sans" pitchFamily="34" charset="-120"/>
              </a:rPr>
              <a:t>presencia de microorganismos</a:t>
            </a:r>
            <a:pPr indent="0" marL="0">
              <a:buNone/>
            </a:pPr>
            <a:r>
              <a:rPr lang="en-US" sz="1400" dirty="0">
                <a:solidFill>
                  <a:srgbClr val="6B4A43"/>
                </a:solidFill>
                <a:latin typeface="DM Sans" pitchFamily="34" charset="0"/>
                <a:ea typeface="DM Sans" pitchFamily="34" charset="-122"/>
                <a:cs typeface="DM Sans" pitchFamily="34" charset="-120"/>
              </a:rPr>
              <a:t>, no que una esponja sucia </a:t>
            </a:r>
            <a:pPr indent="0" marL="0">
              <a:buNone/>
            </a:pPr>
            <a:r>
              <a:rPr lang="en-US" sz="1400" b="1" dirty="0">
                <a:solidFill>
                  <a:srgbClr val="6B4A43"/>
                </a:solidFill>
                <a:latin typeface="DM Sans" pitchFamily="34" charset="0"/>
                <a:ea typeface="DM Sans" pitchFamily="34" charset="-122"/>
                <a:cs typeface="DM Sans" pitchFamily="34" charset="-120"/>
              </a:rPr>
              <a:t>vaya a enfermar</a:t>
            </a:r>
            <a:pPr indent="0" marL="0">
              <a:buNone/>
            </a:pPr>
            <a:r>
              <a:rPr lang="en-US" sz="1400" dirty="0">
                <a:solidFill>
                  <a:srgbClr val="6B4A43"/>
                </a:solidFill>
                <a:latin typeface="DM Sans" pitchFamily="34" charset="0"/>
                <a:ea typeface="DM Sans" pitchFamily="34" charset="-122"/>
                <a:cs typeface="DM Sans" pitchFamily="34" charset="-120"/>
              </a:rPr>
              <a:t> a alguien necesariamente: la BRECHA está entre saber que hay que limpiar y realmente hacerlo.</a:t>
            </a:r>
            <a:endParaRPr lang="en-US" sz="1400" dirty="0"/>
          </a:p>
        </p:txBody>
      </p:sp>
      <p:sp>
        <p:nvSpPr>
          <p:cNvPr id="15" name="Text 13"/>
          <p:cNvSpPr txBox="1"/>
          <p:nvPr/>
        </p:nvSpPr>
        <p:spPr>
          <a:xfrm>
            <a:off x="548640" y="6355080"/>
            <a:ext cx="11094415" cy="365760"/>
          </a:xfrm>
          <a:prstGeom prst="rect">
            <a:avLst/>
          </a:prstGeom>
          <a:noFill/>
          <a:ln/>
        </p:spPr>
        <p:txBody>
          <a:bodyPr wrap="square" lIns="0" tIns="0" rIns="0" bIns="0" rtlCol="0" anchor="ctr"/>
          <a:lstStyle/>
          <a:p>
            <a:pPr indent="0" marL="0">
              <a:buNone/>
            </a:pPr>
            <a:r>
              <a:rPr lang="en-US" sz="1100" dirty="0">
                <a:solidFill>
                  <a:srgbClr val="8A7A73"/>
                </a:solidFill>
                <a:latin typeface="DM Sans" pitchFamily="34" charset="0"/>
                <a:ea typeface="DM Sans" pitchFamily="34" charset="-122"/>
                <a:cs typeface="DM Sans" pitchFamily="34" charset="-120"/>
              </a:rPr>
              <a:t>Fuentes: Beautyblender (2025); Salon Services (s.f.); Bashir y Lambert, Aston University, citados en EMJ Reviews (2020).</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5F1"/>
        </a:solidFill>
      </p:bgPr>
    </p:bg>
    <p:spTree>
      <p:nvGrpSpPr>
        <p:cNvPr id="1" name=""/>
        <p:cNvGrpSpPr/>
        <p:nvPr/>
      </p:nvGrpSpPr>
      <p:grpSpPr>
        <a:xfrm>
          <a:off x="0" y="0"/>
          <a:ext cx="0" cy="0"/>
          <a:chOff x="0" y="0"/>
          <a:chExt cx="0" cy="0"/>
        </a:xfrm>
      </p:grpSpPr>
      <p:sp>
        <p:nvSpPr>
          <p:cNvPr id="2" name="Text 0"/>
          <p:cNvSpPr txBox="1"/>
          <p:nvPr/>
        </p:nvSpPr>
        <p:spPr>
          <a:xfrm>
            <a:off x="548640" y="502920"/>
            <a:ext cx="11094415" cy="320040"/>
          </a:xfrm>
          <a:prstGeom prst="rect">
            <a:avLst/>
          </a:prstGeom>
          <a:noFill/>
          <a:ln/>
        </p:spPr>
        <p:txBody>
          <a:bodyPr wrap="square" lIns="0" tIns="0" rIns="0" bIns="0" rtlCol="0" anchor="ctr"/>
          <a:lstStyle/>
          <a:p>
            <a:pPr indent="0" marL="0">
              <a:buNone/>
            </a:pPr>
            <a:r>
              <a:rPr lang="en-US" sz="1300" b="1" spc="200" kern="0" dirty="0">
                <a:solidFill>
                  <a:srgbClr val="A87C45"/>
                </a:solidFill>
                <a:latin typeface="DM Sans" pitchFamily="34" charset="0"/>
                <a:ea typeface="DM Sans" pitchFamily="34" charset="-122"/>
                <a:cs typeface="DM Sans" pitchFamily="34" charset="-120"/>
              </a:rPr>
              <a:t>DIAGNÓSTICO DE MERCADO</a:t>
            </a:r>
            <a:endParaRPr lang="en-US" sz="1300" dirty="0"/>
          </a:p>
        </p:txBody>
      </p:sp>
      <p:sp>
        <p:nvSpPr>
          <p:cNvPr id="3" name="Text 1"/>
          <p:cNvSpPr txBox="1"/>
          <p:nvPr/>
        </p:nvSpPr>
        <p:spPr>
          <a:xfrm>
            <a:off x="548640" y="868680"/>
            <a:ext cx="11094415" cy="640080"/>
          </a:xfrm>
          <a:prstGeom prst="rect">
            <a:avLst/>
          </a:prstGeom>
          <a:noFill/>
          <a:ln/>
        </p:spPr>
        <p:txBody>
          <a:bodyPr wrap="square" lIns="0" tIns="0" rIns="0" bIns="0" rtlCol="0" anchor="ctr"/>
          <a:lstStyle/>
          <a:p>
            <a:pPr algn="l" indent="0" marL="0">
              <a:buNone/>
            </a:pPr>
            <a:r>
              <a:rPr lang="en-US" sz="2800" b="1" dirty="0">
                <a:solidFill>
                  <a:srgbClr val="241F1D"/>
                </a:solidFill>
                <a:latin typeface="Cormorant Garamond" pitchFamily="34" charset="0"/>
                <a:ea typeface="Cormorant Garamond" pitchFamily="34" charset="-122"/>
                <a:cs typeface="Cormorant Garamond" pitchFamily="34" charset="-120"/>
              </a:rPr>
              <a:t>Un mercado en expansión, con un nicho sin dueño</a:t>
            </a:r>
            <a:endParaRPr lang="en-US" sz="2800" dirty="0"/>
          </a:p>
        </p:txBody>
      </p:sp>
      <p:sp>
        <p:nvSpPr>
          <p:cNvPr id="4" name="Shape 2"/>
          <p:cNvSpPr/>
          <p:nvPr/>
        </p:nvSpPr>
        <p:spPr>
          <a:xfrm>
            <a:off x="548640" y="1783080"/>
            <a:ext cx="2331720" cy="1600200"/>
          </a:xfrm>
          <a:prstGeom prst="roundRect">
            <a:avLst>
              <a:gd name="adj" fmla="val 6857"/>
            </a:avLst>
          </a:prstGeom>
          <a:solidFill>
            <a:srgbClr val="FFFFFF"/>
          </a:solidFill>
          <a:ln w="12700">
            <a:solidFill>
              <a:srgbClr val="EDE1D9"/>
            </a:solidFill>
            <a:prstDash val="solid"/>
          </a:ln>
        </p:spPr>
      </p:sp>
      <p:sp>
        <p:nvSpPr>
          <p:cNvPr id="5" name="Text 3"/>
          <p:cNvSpPr txBox="1"/>
          <p:nvPr/>
        </p:nvSpPr>
        <p:spPr>
          <a:xfrm>
            <a:off x="640080" y="1947672"/>
            <a:ext cx="2148840" cy="457200"/>
          </a:xfrm>
          <a:prstGeom prst="rect">
            <a:avLst/>
          </a:prstGeom>
          <a:noFill/>
          <a:ln/>
        </p:spPr>
        <p:txBody>
          <a:bodyPr wrap="square" lIns="0" tIns="0" rIns="0" bIns="0" rtlCol="0" anchor="ctr"/>
          <a:lstStyle/>
          <a:p>
            <a:pPr algn="ctr" indent="0" marL="0">
              <a:buNone/>
            </a:pPr>
            <a:r>
              <a:rPr lang="en-US" sz="1250" b="1" dirty="0">
                <a:solidFill>
                  <a:srgbClr val="5B5250"/>
                </a:solidFill>
                <a:latin typeface="DM Sans" pitchFamily="34" charset="0"/>
                <a:ea typeface="DM Sans" pitchFamily="34" charset="-122"/>
                <a:cs typeface="DM Sans" pitchFamily="34" charset="-120"/>
              </a:rPr>
              <a:t>Belleza y cuidado personal</a:t>
            </a:r>
            <a:endParaRPr lang="en-US" sz="1250" dirty="0"/>
          </a:p>
        </p:txBody>
      </p:sp>
      <p:sp>
        <p:nvSpPr>
          <p:cNvPr id="6" name="Text 4"/>
          <p:cNvSpPr txBox="1"/>
          <p:nvPr/>
        </p:nvSpPr>
        <p:spPr>
          <a:xfrm>
            <a:off x="640080" y="2377440"/>
            <a:ext cx="2148840" cy="640080"/>
          </a:xfrm>
          <a:prstGeom prst="rect">
            <a:avLst/>
          </a:prstGeom>
          <a:noFill/>
          <a:ln/>
        </p:spPr>
        <p:txBody>
          <a:bodyPr wrap="square" lIns="0" tIns="0" rIns="0" bIns="0" rtlCol="0" anchor="ctr"/>
          <a:lstStyle/>
          <a:p>
            <a:pPr algn="ctr" indent="0" marL="0">
              <a:buNone/>
            </a:pPr>
            <a:r>
              <a:rPr lang="en-US" sz="3000" b="1" dirty="0">
                <a:solidFill>
                  <a:srgbClr val="241F1D"/>
                </a:solidFill>
                <a:latin typeface="Cormorant Garamond" pitchFamily="34" charset="0"/>
                <a:ea typeface="Cormorant Garamond" pitchFamily="34" charset="-122"/>
                <a:cs typeface="Cormorant Garamond" pitchFamily="34" charset="-120"/>
              </a:rPr>
              <a:t>4,4–5,5%</a:t>
            </a:r>
            <a:endParaRPr lang="en-US" sz="3000" dirty="0"/>
          </a:p>
        </p:txBody>
      </p:sp>
      <p:sp>
        <p:nvSpPr>
          <p:cNvPr id="7" name="Text 5"/>
          <p:cNvSpPr txBox="1"/>
          <p:nvPr/>
        </p:nvSpPr>
        <p:spPr>
          <a:xfrm>
            <a:off x="640080" y="3044952"/>
            <a:ext cx="2148840" cy="274320"/>
          </a:xfrm>
          <a:prstGeom prst="rect">
            <a:avLst/>
          </a:prstGeom>
          <a:noFill/>
          <a:ln/>
        </p:spPr>
        <p:txBody>
          <a:bodyPr wrap="square" lIns="0" tIns="0" rIns="0" bIns="0" rtlCol="0" anchor="ctr"/>
          <a:lstStyle/>
          <a:p>
            <a:pPr algn="ctr" indent="0" marL="0">
              <a:buNone/>
            </a:pPr>
            <a:r>
              <a:rPr lang="en-US" sz="1100" dirty="0">
                <a:solidFill>
                  <a:srgbClr val="8A7A73"/>
                </a:solidFill>
                <a:latin typeface="DM Sans" pitchFamily="34" charset="0"/>
                <a:ea typeface="DM Sans" pitchFamily="34" charset="-122"/>
                <a:cs typeface="DM Sans" pitchFamily="34" charset="-120"/>
              </a:rPr>
              <a:t>CAGR 2025–2032</a:t>
            </a:r>
            <a:endParaRPr lang="en-US" sz="1100" dirty="0"/>
          </a:p>
        </p:txBody>
      </p:sp>
      <p:sp>
        <p:nvSpPr>
          <p:cNvPr id="8" name="Shape 6"/>
          <p:cNvSpPr/>
          <p:nvPr/>
        </p:nvSpPr>
        <p:spPr>
          <a:xfrm>
            <a:off x="2916936" y="2500884"/>
            <a:ext cx="246888" cy="164592"/>
          </a:xfrm>
          <a:prstGeom prst="rightArrow">
            <a:avLst/>
          </a:prstGeom>
          <a:solidFill>
            <a:srgbClr val="D98C86"/>
          </a:solidFill>
          <a:ln/>
        </p:spPr>
      </p:sp>
      <p:sp>
        <p:nvSpPr>
          <p:cNvPr id="9" name="Shape 7"/>
          <p:cNvSpPr/>
          <p:nvPr/>
        </p:nvSpPr>
        <p:spPr>
          <a:xfrm>
            <a:off x="3200400" y="1783080"/>
            <a:ext cx="2331720" cy="1600200"/>
          </a:xfrm>
          <a:prstGeom prst="roundRect">
            <a:avLst>
              <a:gd name="adj" fmla="val 6857"/>
            </a:avLst>
          </a:prstGeom>
          <a:solidFill>
            <a:srgbClr val="FFFFFF"/>
          </a:solidFill>
          <a:ln w="12700">
            <a:solidFill>
              <a:srgbClr val="EDE1D9"/>
            </a:solidFill>
            <a:prstDash val="solid"/>
          </a:ln>
        </p:spPr>
      </p:sp>
      <p:sp>
        <p:nvSpPr>
          <p:cNvPr id="10" name="Text 8"/>
          <p:cNvSpPr txBox="1"/>
          <p:nvPr/>
        </p:nvSpPr>
        <p:spPr>
          <a:xfrm>
            <a:off x="3291840" y="1947672"/>
            <a:ext cx="2148840" cy="457200"/>
          </a:xfrm>
          <a:prstGeom prst="rect">
            <a:avLst/>
          </a:prstGeom>
          <a:noFill/>
          <a:ln/>
        </p:spPr>
        <p:txBody>
          <a:bodyPr wrap="square" lIns="0" tIns="0" rIns="0" bIns="0" rtlCol="0" anchor="ctr"/>
          <a:lstStyle/>
          <a:p>
            <a:pPr algn="ctr" indent="0" marL="0">
              <a:buNone/>
            </a:pPr>
            <a:r>
              <a:rPr lang="en-US" sz="1250" b="1" dirty="0">
                <a:solidFill>
                  <a:srgbClr val="5B5250"/>
                </a:solidFill>
                <a:latin typeface="DM Sans" pitchFamily="34" charset="0"/>
                <a:ea typeface="DM Sans" pitchFamily="34" charset="-122"/>
                <a:cs typeface="DM Sans" pitchFamily="34" charset="-120"/>
              </a:rPr>
              <a:t>Maquillaje / cosméticos</a:t>
            </a:r>
            <a:endParaRPr lang="en-US" sz="1250" dirty="0"/>
          </a:p>
        </p:txBody>
      </p:sp>
      <p:sp>
        <p:nvSpPr>
          <p:cNvPr id="11" name="Text 9"/>
          <p:cNvSpPr txBox="1"/>
          <p:nvPr/>
        </p:nvSpPr>
        <p:spPr>
          <a:xfrm>
            <a:off x="3291840" y="2377440"/>
            <a:ext cx="2148840" cy="640080"/>
          </a:xfrm>
          <a:prstGeom prst="rect">
            <a:avLst/>
          </a:prstGeom>
          <a:noFill/>
          <a:ln/>
        </p:spPr>
        <p:txBody>
          <a:bodyPr wrap="square" lIns="0" tIns="0" rIns="0" bIns="0" rtlCol="0" anchor="ctr"/>
          <a:lstStyle/>
          <a:p>
            <a:pPr algn="ctr" indent="0" marL="0">
              <a:buNone/>
            </a:pPr>
            <a:r>
              <a:rPr lang="en-US" sz="3000" b="1" dirty="0">
                <a:solidFill>
                  <a:srgbClr val="241F1D"/>
                </a:solidFill>
                <a:latin typeface="Cormorant Garamond" pitchFamily="34" charset="0"/>
                <a:ea typeface="Cormorant Garamond" pitchFamily="34" charset="-122"/>
                <a:cs typeface="Cormorant Garamond" pitchFamily="34" charset="-120"/>
              </a:rPr>
              <a:t>8,32%</a:t>
            </a:r>
            <a:endParaRPr lang="en-US" sz="3000" dirty="0"/>
          </a:p>
        </p:txBody>
      </p:sp>
      <p:sp>
        <p:nvSpPr>
          <p:cNvPr id="12" name="Text 10"/>
          <p:cNvSpPr txBox="1"/>
          <p:nvPr/>
        </p:nvSpPr>
        <p:spPr>
          <a:xfrm>
            <a:off x="3291840" y="3044952"/>
            <a:ext cx="2148840" cy="274320"/>
          </a:xfrm>
          <a:prstGeom prst="rect">
            <a:avLst/>
          </a:prstGeom>
          <a:noFill/>
          <a:ln/>
        </p:spPr>
        <p:txBody>
          <a:bodyPr wrap="square" lIns="0" tIns="0" rIns="0" bIns="0" rtlCol="0" anchor="ctr"/>
          <a:lstStyle/>
          <a:p>
            <a:pPr algn="ctr" indent="0" marL="0">
              <a:buNone/>
            </a:pPr>
            <a:r>
              <a:rPr lang="en-US" sz="1100" dirty="0">
                <a:solidFill>
                  <a:srgbClr val="8A7A73"/>
                </a:solidFill>
                <a:latin typeface="DM Sans" pitchFamily="34" charset="0"/>
                <a:ea typeface="DM Sans" pitchFamily="34" charset="-122"/>
                <a:cs typeface="DM Sans" pitchFamily="34" charset="-120"/>
              </a:rPr>
              <a:t>CAGR (Mordor Intelligence)</a:t>
            </a:r>
            <a:endParaRPr lang="en-US" sz="1100" dirty="0"/>
          </a:p>
        </p:txBody>
      </p:sp>
      <p:sp>
        <p:nvSpPr>
          <p:cNvPr id="13" name="Shape 11"/>
          <p:cNvSpPr/>
          <p:nvPr/>
        </p:nvSpPr>
        <p:spPr>
          <a:xfrm>
            <a:off x="5568696" y="2500884"/>
            <a:ext cx="246888" cy="164592"/>
          </a:xfrm>
          <a:prstGeom prst="rightArrow">
            <a:avLst/>
          </a:prstGeom>
          <a:solidFill>
            <a:srgbClr val="D98C86"/>
          </a:solidFill>
          <a:ln/>
        </p:spPr>
      </p:sp>
      <p:sp>
        <p:nvSpPr>
          <p:cNvPr id="14" name="Shape 12"/>
          <p:cNvSpPr/>
          <p:nvPr/>
        </p:nvSpPr>
        <p:spPr>
          <a:xfrm>
            <a:off x="5852160" y="1783080"/>
            <a:ext cx="2331720" cy="1600200"/>
          </a:xfrm>
          <a:prstGeom prst="roundRect">
            <a:avLst>
              <a:gd name="adj" fmla="val 6857"/>
            </a:avLst>
          </a:prstGeom>
          <a:solidFill>
            <a:srgbClr val="FFFFFF"/>
          </a:solidFill>
          <a:ln w="12700">
            <a:solidFill>
              <a:srgbClr val="EDE1D9"/>
            </a:solidFill>
            <a:prstDash val="solid"/>
          </a:ln>
        </p:spPr>
      </p:sp>
      <p:sp>
        <p:nvSpPr>
          <p:cNvPr id="15" name="Text 13"/>
          <p:cNvSpPr txBox="1"/>
          <p:nvPr/>
        </p:nvSpPr>
        <p:spPr>
          <a:xfrm>
            <a:off x="5943600" y="1947672"/>
            <a:ext cx="2148840" cy="457200"/>
          </a:xfrm>
          <a:prstGeom prst="rect">
            <a:avLst/>
          </a:prstGeom>
          <a:noFill/>
          <a:ln/>
        </p:spPr>
        <p:txBody>
          <a:bodyPr wrap="square" lIns="0" tIns="0" rIns="0" bIns="0" rtlCol="0" anchor="ctr"/>
          <a:lstStyle/>
          <a:p>
            <a:pPr algn="ctr" indent="0" marL="0">
              <a:buNone/>
            </a:pPr>
            <a:r>
              <a:rPr lang="en-US" sz="1250" b="1" dirty="0">
                <a:solidFill>
                  <a:srgbClr val="5B5250"/>
                </a:solidFill>
                <a:latin typeface="DM Sans" pitchFamily="34" charset="0"/>
                <a:ea typeface="DM Sans" pitchFamily="34" charset="-122"/>
                <a:cs typeface="DM Sans" pitchFamily="34" charset="-120"/>
              </a:rPr>
              <a:t>Beauty-tech global</a:t>
            </a:r>
            <a:endParaRPr lang="en-US" sz="1250" dirty="0"/>
          </a:p>
        </p:txBody>
      </p:sp>
      <p:sp>
        <p:nvSpPr>
          <p:cNvPr id="16" name="Text 14"/>
          <p:cNvSpPr txBox="1"/>
          <p:nvPr/>
        </p:nvSpPr>
        <p:spPr>
          <a:xfrm>
            <a:off x="5943600" y="2377440"/>
            <a:ext cx="2148840" cy="640080"/>
          </a:xfrm>
          <a:prstGeom prst="rect">
            <a:avLst/>
          </a:prstGeom>
          <a:noFill/>
          <a:ln/>
        </p:spPr>
        <p:txBody>
          <a:bodyPr wrap="square" lIns="0" tIns="0" rIns="0" bIns="0" rtlCol="0" anchor="ctr"/>
          <a:lstStyle/>
          <a:p>
            <a:pPr algn="ctr" indent="0" marL="0">
              <a:buNone/>
            </a:pPr>
            <a:r>
              <a:rPr lang="en-US" sz="3000" b="1" dirty="0">
                <a:solidFill>
                  <a:srgbClr val="241F1D"/>
                </a:solidFill>
                <a:latin typeface="Cormorant Garamond" pitchFamily="34" charset="0"/>
                <a:ea typeface="Cormorant Garamond" pitchFamily="34" charset="-122"/>
                <a:cs typeface="Cormorant Garamond" pitchFamily="34" charset="-120"/>
              </a:rPr>
              <a:t>13,3%</a:t>
            </a:r>
            <a:endParaRPr lang="en-US" sz="3000" dirty="0"/>
          </a:p>
        </p:txBody>
      </p:sp>
      <p:sp>
        <p:nvSpPr>
          <p:cNvPr id="17" name="Text 15"/>
          <p:cNvSpPr txBox="1"/>
          <p:nvPr/>
        </p:nvSpPr>
        <p:spPr>
          <a:xfrm>
            <a:off x="5943600" y="3044952"/>
            <a:ext cx="2148840" cy="274320"/>
          </a:xfrm>
          <a:prstGeom prst="rect">
            <a:avLst/>
          </a:prstGeom>
          <a:noFill/>
          <a:ln/>
        </p:spPr>
        <p:txBody>
          <a:bodyPr wrap="square" lIns="0" tIns="0" rIns="0" bIns="0" rtlCol="0" anchor="ctr"/>
          <a:lstStyle/>
          <a:p>
            <a:pPr algn="ctr" indent="0" marL="0">
              <a:buNone/>
            </a:pPr>
            <a:r>
              <a:rPr lang="en-US" sz="1100" dirty="0">
                <a:solidFill>
                  <a:srgbClr val="8A7A73"/>
                </a:solidFill>
                <a:latin typeface="DM Sans" pitchFamily="34" charset="0"/>
                <a:ea typeface="DM Sans" pitchFamily="34" charset="-122"/>
                <a:cs typeface="DM Sans" pitchFamily="34" charset="-120"/>
              </a:rPr>
              <a:t>CAGR 2025–2026</a:t>
            </a:r>
            <a:endParaRPr lang="en-US" sz="1100" dirty="0"/>
          </a:p>
        </p:txBody>
      </p:sp>
      <p:sp>
        <p:nvSpPr>
          <p:cNvPr id="18" name="Shape 16"/>
          <p:cNvSpPr/>
          <p:nvPr/>
        </p:nvSpPr>
        <p:spPr>
          <a:xfrm>
            <a:off x="8220456" y="2500884"/>
            <a:ext cx="246888" cy="164592"/>
          </a:xfrm>
          <a:prstGeom prst="rightArrow">
            <a:avLst/>
          </a:prstGeom>
          <a:solidFill>
            <a:srgbClr val="D98C86"/>
          </a:solidFill>
          <a:ln/>
        </p:spPr>
      </p:sp>
      <p:sp>
        <p:nvSpPr>
          <p:cNvPr id="19" name="Shape 17"/>
          <p:cNvSpPr/>
          <p:nvPr/>
        </p:nvSpPr>
        <p:spPr>
          <a:xfrm>
            <a:off x="8503920" y="1783080"/>
            <a:ext cx="2331720" cy="1600200"/>
          </a:xfrm>
          <a:prstGeom prst="roundRect">
            <a:avLst>
              <a:gd name="adj" fmla="val 6857"/>
            </a:avLst>
          </a:prstGeom>
          <a:solidFill>
            <a:srgbClr val="241F1D"/>
          </a:solidFill>
          <a:ln/>
        </p:spPr>
      </p:sp>
      <p:sp>
        <p:nvSpPr>
          <p:cNvPr id="20" name="Text 18"/>
          <p:cNvSpPr txBox="1"/>
          <p:nvPr/>
        </p:nvSpPr>
        <p:spPr>
          <a:xfrm>
            <a:off x="8595360" y="1947672"/>
            <a:ext cx="2148840" cy="457200"/>
          </a:xfrm>
          <a:prstGeom prst="rect">
            <a:avLst/>
          </a:prstGeom>
          <a:noFill/>
          <a:ln/>
        </p:spPr>
        <p:txBody>
          <a:bodyPr wrap="square" lIns="0" tIns="0" rIns="0" bIns="0" rtlCol="0" anchor="ctr"/>
          <a:lstStyle/>
          <a:p>
            <a:pPr algn="ctr" indent="0" marL="0">
              <a:buNone/>
            </a:pPr>
            <a:r>
              <a:rPr lang="en-US" sz="1250" b="1" dirty="0">
                <a:solidFill>
                  <a:srgbClr val="E6D4CC"/>
                </a:solidFill>
                <a:latin typeface="DM Sans" pitchFamily="34" charset="0"/>
                <a:ea typeface="DM Sans" pitchFamily="34" charset="-122"/>
                <a:cs typeface="DM Sans" pitchFamily="34" charset="-120"/>
              </a:rPr>
              <a:t>BLENDPURE</a:t>
            </a:r>
            <a:endParaRPr lang="en-US" sz="1250" dirty="0"/>
          </a:p>
        </p:txBody>
      </p:sp>
      <p:sp>
        <p:nvSpPr>
          <p:cNvPr id="21" name="Text 19"/>
          <p:cNvSpPr txBox="1"/>
          <p:nvPr/>
        </p:nvSpPr>
        <p:spPr>
          <a:xfrm>
            <a:off x="8595360" y="2377440"/>
            <a:ext cx="2148840" cy="640080"/>
          </a:xfrm>
          <a:prstGeom prst="rect">
            <a:avLst/>
          </a:prstGeom>
          <a:noFill/>
          <a:ln/>
        </p:spPr>
        <p:txBody>
          <a:bodyPr wrap="square" lIns="0" tIns="0" rIns="0" bIns="0" rtlCol="0" anchor="ctr"/>
          <a:lstStyle/>
          <a:p>
            <a:pPr algn="ctr" indent="0" marL="0">
              <a:buNone/>
            </a:pPr>
            <a:r>
              <a:rPr lang="en-US" sz="3000" b="1" dirty="0">
                <a:solidFill>
                  <a:srgbClr val="D98C86"/>
                </a:solidFill>
                <a:latin typeface="Cormorant Garamond" pitchFamily="34" charset="0"/>
                <a:ea typeface="Cormorant Garamond" pitchFamily="34" charset="-122"/>
                <a:cs typeface="Cormorant Garamond" pitchFamily="34" charset="-120"/>
              </a:rPr>
              <a:t>Nicho</a:t>
            </a:r>
            <a:endParaRPr lang="en-US" sz="3000" dirty="0"/>
          </a:p>
          <a:p>
            <a:pPr algn="ctr" indent="0" marL="0">
              <a:buNone/>
            </a:pPr>
            <a:r>
              <a:rPr lang="en-US" sz="3000" b="1" dirty="0">
                <a:solidFill>
                  <a:srgbClr val="D98C86"/>
                </a:solidFill>
                <a:latin typeface="Cormorant Garamond" pitchFamily="34" charset="0"/>
                <a:ea typeface="Cormorant Garamond" pitchFamily="34" charset="-122"/>
                <a:cs typeface="Cormorant Garamond" pitchFamily="34" charset="-120"/>
              </a:rPr>
              <a:t>emergente</a:t>
            </a:r>
            <a:endParaRPr lang="en-US" sz="3000" dirty="0"/>
          </a:p>
        </p:txBody>
      </p:sp>
      <p:sp>
        <p:nvSpPr>
          <p:cNvPr id="22" name="Text 20"/>
          <p:cNvSpPr txBox="1"/>
          <p:nvPr/>
        </p:nvSpPr>
        <p:spPr>
          <a:xfrm>
            <a:off x="8595360" y="3044952"/>
            <a:ext cx="2148840" cy="274320"/>
          </a:xfrm>
          <a:prstGeom prst="rect">
            <a:avLst/>
          </a:prstGeom>
          <a:noFill/>
          <a:ln/>
        </p:spPr>
        <p:txBody>
          <a:bodyPr wrap="square" lIns="0" tIns="0" rIns="0" bIns="0" rtlCol="0" anchor="ctr"/>
          <a:lstStyle/>
          <a:p>
            <a:pPr algn="ctr" indent="0" marL="0">
              <a:buNone/>
            </a:pPr>
            <a:r>
              <a:rPr lang="en-US" sz="1100" dirty="0">
                <a:solidFill>
                  <a:srgbClr val="C9B8B2"/>
                </a:solidFill>
                <a:latin typeface="DM Sans" pitchFamily="34" charset="0"/>
                <a:ea typeface="DM Sans" pitchFamily="34" charset="-122"/>
                <a:cs typeface="DM Sans" pitchFamily="34" charset="-120"/>
              </a:rPr>
              <a:t>Sin categoría consolidada aún</a:t>
            </a:r>
            <a:endParaRPr lang="en-US" sz="1100" dirty="0"/>
          </a:p>
        </p:txBody>
      </p:sp>
      <p:sp>
        <p:nvSpPr>
          <p:cNvPr id="23" name="Shape 21"/>
          <p:cNvSpPr/>
          <p:nvPr/>
        </p:nvSpPr>
        <p:spPr>
          <a:xfrm>
            <a:off x="548640" y="3749040"/>
            <a:ext cx="5349240" cy="1188720"/>
          </a:xfrm>
          <a:prstGeom prst="roundRect">
            <a:avLst>
              <a:gd name="adj" fmla="val 6154"/>
            </a:avLst>
          </a:prstGeom>
          <a:solidFill>
            <a:srgbClr val="F3DCD8"/>
          </a:solidFill>
          <a:ln/>
        </p:spPr>
      </p:sp>
      <p:sp>
        <p:nvSpPr>
          <p:cNvPr id="24" name="Text 22"/>
          <p:cNvSpPr txBox="1"/>
          <p:nvPr/>
        </p:nvSpPr>
        <p:spPr>
          <a:xfrm>
            <a:off x="777240" y="3858768"/>
            <a:ext cx="4892040" cy="969264"/>
          </a:xfrm>
          <a:prstGeom prst="rect">
            <a:avLst/>
          </a:prstGeom>
          <a:noFill/>
          <a:ln/>
        </p:spPr>
        <p:txBody>
          <a:bodyPr wrap="square" lIns="0" tIns="0" rIns="0" bIns="0" rtlCol="0" anchor="ctr"/>
          <a:lstStyle/>
          <a:p>
            <a:pPr indent="0" marL="0">
              <a:buNone/>
            </a:pPr>
            <a:r>
              <a:rPr lang="en-US" sz="1300" dirty="0">
                <a:solidFill>
                  <a:srgbClr val="6B4A43"/>
                </a:solidFill>
                <a:latin typeface="DM Sans" pitchFamily="34" charset="0"/>
                <a:ea typeface="DM Sans" pitchFamily="34" charset="-122"/>
                <a:cs typeface="DM Sans" pitchFamily="34" charset="-120"/>
              </a:rPr>
              <a:t>Mercado colombiano de belleza: USD 3.300–4.320 millones (2024–2025), con el canal online creciendo al 9,95% anual, el más rápido de todos.</a:t>
            </a:r>
            <a:endParaRPr lang="en-US" sz="1300" dirty="0"/>
          </a:p>
        </p:txBody>
      </p:sp>
      <p:sp>
        <p:nvSpPr>
          <p:cNvPr id="25" name="Shape 23"/>
          <p:cNvSpPr/>
          <p:nvPr/>
        </p:nvSpPr>
        <p:spPr>
          <a:xfrm>
            <a:off x="6172200" y="3749040"/>
            <a:ext cx="5468112" cy="1188720"/>
          </a:xfrm>
          <a:prstGeom prst="roundRect">
            <a:avLst>
              <a:gd name="adj" fmla="val 6154"/>
            </a:avLst>
          </a:prstGeom>
          <a:solidFill>
            <a:srgbClr val="FFFFFF"/>
          </a:solidFill>
          <a:ln w="12700">
            <a:solidFill>
              <a:srgbClr val="EDE1D9"/>
            </a:solidFill>
            <a:prstDash val="solid"/>
          </a:ln>
        </p:spPr>
      </p:sp>
      <p:sp>
        <p:nvSpPr>
          <p:cNvPr id="26" name="Text 24"/>
          <p:cNvSpPr txBox="1"/>
          <p:nvPr/>
        </p:nvSpPr>
        <p:spPr>
          <a:xfrm>
            <a:off x="6400800" y="3858768"/>
            <a:ext cx="5029200" cy="969264"/>
          </a:xfrm>
          <a:prstGeom prst="rect">
            <a:avLst/>
          </a:prstGeom>
          <a:noFill/>
          <a:ln/>
        </p:spPr>
        <p:txBody>
          <a:bodyPr wrap="square" lIns="0" tIns="0" rIns="0" bIns="0" rtlCol="0" anchor="ctr"/>
          <a:lstStyle/>
          <a:p>
            <a:pPr indent="0" marL="0">
              <a:buNone/>
            </a:pPr>
            <a:r>
              <a:rPr lang="en-US" sz="1300" dirty="0">
                <a:solidFill>
                  <a:srgbClr val="5B5250"/>
                </a:solidFill>
                <a:latin typeface="DM Sans" pitchFamily="34" charset="0"/>
                <a:ea typeface="DM Sans" pitchFamily="34" charset="-122"/>
                <a:cs typeface="DM Sans" pitchFamily="34" charset="-120"/>
              </a:rPr>
              <a:t>Beauty-tech global pasará de USD 79.380M (2025) a USD 89.940M (2026), proyectado en USD 146.040M para 2030.</a:t>
            </a:r>
            <a:endParaRPr lang="en-US" sz="1300" dirty="0"/>
          </a:p>
        </p:txBody>
      </p:sp>
      <p:sp>
        <p:nvSpPr>
          <p:cNvPr id="27" name="Text 25"/>
          <p:cNvSpPr txBox="1"/>
          <p:nvPr/>
        </p:nvSpPr>
        <p:spPr>
          <a:xfrm>
            <a:off x="548640" y="6355080"/>
            <a:ext cx="11094415" cy="365760"/>
          </a:xfrm>
          <a:prstGeom prst="rect">
            <a:avLst/>
          </a:prstGeom>
          <a:noFill/>
          <a:ln/>
        </p:spPr>
        <p:txBody>
          <a:bodyPr wrap="square" lIns="0" tIns="0" rIns="0" bIns="0" rtlCol="0" anchor="ctr"/>
          <a:lstStyle/>
          <a:p>
            <a:pPr indent="0" marL="0">
              <a:buNone/>
            </a:pPr>
            <a:r>
              <a:rPr lang="en-US" sz="1100" dirty="0">
                <a:solidFill>
                  <a:srgbClr val="8A7A73"/>
                </a:solidFill>
                <a:latin typeface="DM Sans" pitchFamily="34" charset="0"/>
                <a:ea typeface="DM Sans" pitchFamily="34" charset="-122"/>
                <a:cs typeface="DM Sans" pitchFamily="34" charset="-120"/>
              </a:rPr>
              <a:t>Fuentes: Verified Market Research (2025); DataInsightsMarket (2026); Mordor Intelligence (2026); Research and Markets (2026).</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5F1"/>
        </a:solidFill>
      </p:bgPr>
    </p:bg>
    <p:spTree>
      <p:nvGrpSpPr>
        <p:cNvPr id="1" name=""/>
        <p:cNvGrpSpPr/>
        <p:nvPr/>
      </p:nvGrpSpPr>
      <p:grpSpPr>
        <a:xfrm>
          <a:off x="0" y="0"/>
          <a:ext cx="0" cy="0"/>
          <a:chOff x="0" y="0"/>
          <a:chExt cx="0" cy="0"/>
        </a:xfrm>
      </p:grpSpPr>
      <p:sp>
        <p:nvSpPr>
          <p:cNvPr id="2" name="Text 0"/>
          <p:cNvSpPr txBox="1"/>
          <p:nvPr/>
        </p:nvSpPr>
        <p:spPr>
          <a:xfrm>
            <a:off x="548640" y="502920"/>
            <a:ext cx="11094415" cy="320040"/>
          </a:xfrm>
          <a:prstGeom prst="rect">
            <a:avLst/>
          </a:prstGeom>
          <a:noFill/>
          <a:ln/>
        </p:spPr>
        <p:txBody>
          <a:bodyPr wrap="square" lIns="0" tIns="0" rIns="0" bIns="0" rtlCol="0" anchor="ctr"/>
          <a:lstStyle/>
          <a:p>
            <a:pPr indent="0" marL="0">
              <a:buNone/>
            </a:pPr>
            <a:r>
              <a:rPr lang="en-US" sz="1300" b="1" spc="200" kern="0" dirty="0">
                <a:solidFill>
                  <a:srgbClr val="A87C45"/>
                </a:solidFill>
                <a:latin typeface="DM Sans" pitchFamily="34" charset="0"/>
                <a:ea typeface="DM Sans" pitchFamily="34" charset="-122"/>
                <a:cs typeface="DM Sans" pitchFamily="34" charset="-120"/>
              </a:rPr>
              <a:t>ANÁLISIS DEL MERCADO</a:t>
            </a:r>
            <a:endParaRPr lang="en-US" sz="1300" dirty="0"/>
          </a:p>
        </p:txBody>
      </p:sp>
      <p:sp>
        <p:nvSpPr>
          <p:cNvPr id="3" name="Text 1"/>
          <p:cNvSpPr txBox="1"/>
          <p:nvPr/>
        </p:nvSpPr>
        <p:spPr>
          <a:xfrm>
            <a:off x="548640" y="822960"/>
            <a:ext cx="11094415" cy="822960"/>
          </a:xfrm>
          <a:prstGeom prst="rect">
            <a:avLst/>
          </a:prstGeom>
          <a:noFill/>
          <a:ln/>
        </p:spPr>
        <p:txBody>
          <a:bodyPr wrap="square" lIns="0" tIns="0" rIns="0" bIns="0" rtlCol="0" anchor="ctr"/>
          <a:lstStyle/>
          <a:p>
            <a:pPr algn="l" indent="0" marL="0">
              <a:buNone/>
            </a:pPr>
            <a:r>
              <a:rPr lang="en-US" sz="3000" b="1" dirty="0">
                <a:solidFill>
                  <a:srgbClr val="241F1D"/>
                </a:solidFill>
                <a:latin typeface="Cormorant Garamond" pitchFamily="34" charset="0"/>
                <a:ea typeface="Cormorant Garamond" pitchFamily="34" charset="-122"/>
                <a:cs typeface="Cormorant Garamond" pitchFamily="34" charset="-120"/>
              </a:rPr>
              <a:t>De USD 351,7 millones a ≈ 513 mil consumidoras</a:t>
            </a:r>
            <a:endParaRPr lang="en-US" sz="3000" dirty="0"/>
          </a:p>
        </p:txBody>
      </p:sp>
      <p:sp>
        <p:nvSpPr>
          <p:cNvPr id="4" name="Shape 2"/>
          <p:cNvSpPr/>
          <p:nvPr/>
        </p:nvSpPr>
        <p:spPr>
          <a:xfrm>
            <a:off x="548640" y="1783080"/>
            <a:ext cx="5669280" cy="777240"/>
          </a:xfrm>
          <a:prstGeom prst="roundRect">
            <a:avLst>
              <a:gd name="adj" fmla="val 11765"/>
            </a:avLst>
          </a:prstGeom>
          <a:solidFill>
            <a:srgbClr val="FFFFFF"/>
          </a:solidFill>
          <a:ln w="12700">
            <a:solidFill>
              <a:srgbClr val="EDE1D9"/>
            </a:solidFill>
            <a:prstDash val="solid"/>
          </a:ln>
        </p:spPr>
      </p:sp>
      <p:sp>
        <p:nvSpPr>
          <p:cNvPr id="5" name="Text 3"/>
          <p:cNvSpPr txBox="1"/>
          <p:nvPr/>
        </p:nvSpPr>
        <p:spPr>
          <a:xfrm>
            <a:off x="731520" y="1783080"/>
            <a:ext cx="1920240" cy="777240"/>
          </a:xfrm>
          <a:prstGeom prst="rect">
            <a:avLst/>
          </a:prstGeom>
          <a:noFill/>
          <a:ln/>
        </p:spPr>
        <p:txBody>
          <a:bodyPr wrap="square" lIns="0" tIns="0" rIns="0" bIns="0" rtlCol="0" anchor="ctr"/>
          <a:lstStyle/>
          <a:p>
            <a:pPr indent="0" marL="0">
              <a:buNone/>
            </a:pPr>
            <a:r>
              <a:rPr lang="en-US" sz="2400" b="1" dirty="0">
                <a:solidFill>
                  <a:srgbClr val="241F1D"/>
                </a:solidFill>
                <a:latin typeface="Cormorant Garamond" pitchFamily="34" charset="0"/>
                <a:ea typeface="Cormorant Garamond" pitchFamily="34" charset="-122"/>
                <a:cs typeface="Cormorant Garamond" pitchFamily="34" charset="-120"/>
              </a:rPr>
              <a:t>3.248.320</a:t>
            </a:r>
            <a:endParaRPr lang="en-US" sz="2400" dirty="0"/>
          </a:p>
        </p:txBody>
      </p:sp>
      <p:sp>
        <p:nvSpPr>
          <p:cNvPr id="6" name="Text 4"/>
          <p:cNvSpPr txBox="1"/>
          <p:nvPr/>
        </p:nvSpPr>
        <p:spPr>
          <a:xfrm>
            <a:off x="2651760" y="1783080"/>
            <a:ext cx="3474720" cy="777240"/>
          </a:xfrm>
          <a:prstGeom prst="rect">
            <a:avLst/>
          </a:prstGeom>
          <a:noFill/>
          <a:ln/>
        </p:spPr>
        <p:txBody>
          <a:bodyPr wrap="square" lIns="0" tIns="0" rIns="0" bIns="0" rtlCol="0" anchor="ctr"/>
          <a:lstStyle/>
          <a:p>
            <a:pPr indent="0" marL="0">
              <a:buNone/>
            </a:pPr>
            <a:r>
              <a:rPr lang="en-US" sz="1100" dirty="0">
                <a:solidFill>
                  <a:srgbClr val="241F1D"/>
                </a:solidFill>
                <a:latin typeface="DM Sans" pitchFamily="34" charset="0"/>
                <a:ea typeface="DM Sans" pitchFamily="34" charset="-122"/>
                <a:cs typeface="DM Sans" pitchFamily="34" charset="-120"/>
              </a:rPr>
              <a:t>mujeres adultas en Bogotá (DANE vía Telencuestas, 2025)</a:t>
            </a:r>
            <a:endParaRPr lang="en-US" sz="1100" dirty="0"/>
          </a:p>
        </p:txBody>
      </p:sp>
      <p:sp>
        <p:nvSpPr>
          <p:cNvPr id="7" name="Shape 5"/>
          <p:cNvSpPr/>
          <p:nvPr/>
        </p:nvSpPr>
        <p:spPr>
          <a:xfrm>
            <a:off x="548640" y="2697480"/>
            <a:ext cx="5212080" cy="777240"/>
          </a:xfrm>
          <a:prstGeom prst="roundRect">
            <a:avLst>
              <a:gd name="adj" fmla="val 11765"/>
            </a:avLst>
          </a:prstGeom>
          <a:solidFill>
            <a:srgbClr val="FFFFFF"/>
          </a:solidFill>
          <a:ln w="12700">
            <a:solidFill>
              <a:srgbClr val="EDE1D9"/>
            </a:solidFill>
            <a:prstDash val="solid"/>
          </a:ln>
        </p:spPr>
      </p:sp>
      <p:sp>
        <p:nvSpPr>
          <p:cNvPr id="8" name="Text 6"/>
          <p:cNvSpPr txBox="1"/>
          <p:nvPr/>
        </p:nvSpPr>
        <p:spPr>
          <a:xfrm>
            <a:off x="731520" y="2697480"/>
            <a:ext cx="1920240" cy="777240"/>
          </a:xfrm>
          <a:prstGeom prst="rect">
            <a:avLst/>
          </a:prstGeom>
          <a:noFill/>
          <a:ln/>
        </p:spPr>
        <p:txBody>
          <a:bodyPr wrap="square" lIns="0" tIns="0" rIns="0" bIns="0" rtlCol="0" anchor="ctr"/>
          <a:lstStyle/>
          <a:p>
            <a:pPr indent="0" marL="0">
              <a:buNone/>
            </a:pPr>
            <a:r>
              <a:rPr lang="en-US" sz="2400" b="1" dirty="0">
                <a:solidFill>
                  <a:srgbClr val="241F1D"/>
                </a:solidFill>
                <a:latin typeface="Cormorant Garamond" pitchFamily="34" charset="0"/>
                <a:ea typeface="Cormorant Garamond" pitchFamily="34" charset="-122"/>
                <a:cs typeface="Cormorant Garamond" pitchFamily="34" charset="-120"/>
              </a:rPr>
              <a:t>≈ 2.728.589</a:t>
            </a:r>
            <a:endParaRPr lang="en-US" sz="2400" dirty="0"/>
          </a:p>
        </p:txBody>
      </p:sp>
      <p:sp>
        <p:nvSpPr>
          <p:cNvPr id="9" name="Text 7"/>
          <p:cNvSpPr txBox="1"/>
          <p:nvPr/>
        </p:nvSpPr>
        <p:spPr>
          <a:xfrm>
            <a:off x="2651760" y="2697480"/>
            <a:ext cx="3017520" cy="777240"/>
          </a:xfrm>
          <a:prstGeom prst="rect">
            <a:avLst/>
          </a:prstGeom>
          <a:noFill/>
          <a:ln/>
        </p:spPr>
        <p:txBody>
          <a:bodyPr wrap="square" lIns="0" tIns="0" rIns="0" bIns="0" rtlCol="0" anchor="ctr"/>
          <a:lstStyle/>
          <a:p>
            <a:pPr indent="0" marL="0">
              <a:buNone/>
            </a:pPr>
            <a:r>
              <a:rPr lang="en-US" sz="1100" dirty="0">
                <a:solidFill>
                  <a:srgbClr val="241F1D"/>
                </a:solidFill>
                <a:latin typeface="DM Sans" pitchFamily="34" charset="0"/>
                <a:ea typeface="DM Sans" pitchFamily="34" charset="-122"/>
                <a:cs typeface="DM Sans" pitchFamily="34" charset="-120"/>
              </a:rPr>
              <a:t>con acceso a internet urbano: 84 % (calculado)</a:t>
            </a:r>
            <a:endParaRPr lang="en-US" sz="1100" dirty="0"/>
          </a:p>
        </p:txBody>
      </p:sp>
      <p:sp>
        <p:nvSpPr>
          <p:cNvPr id="10" name="Shape 8"/>
          <p:cNvSpPr/>
          <p:nvPr/>
        </p:nvSpPr>
        <p:spPr>
          <a:xfrm>
            <a:off x="548640" y="3611880"/>
            <a:ext cx="4754880" cy="777240"/>
          </a:xfrm>
          <a:prstGeom prst="roundRect">
            <a:avLst>
              <a:gd name="adj" fmla="val 11765"/>
            </a:avLst>
          </a:prstGeom>
          <a:solidFill>
            <a:srgbClr val="F3DCD8"/>
          </a:solidFill>
          <a:ln/>
        </p:spPr>
      </p:sp>
      <p:sp>
        <p:nvSpPr>
          <p:cNvPr id="11" name="Text 9"/>
          <p:cNvSpPr txBox="1"/>
          <p:nvPr/>
        </p:nvSpPr>
        <p:spPr>
          <a:xfrm>
            <a:off x="731520" y="3611880"/>
            <a:ext cx="1920240" cy="777240"/>
          </a:xfrm>
          <a:prstGeom prst="rect">
            <a:avLst/>
          </a:prstGeom>
          <a:noFill/>
          <a:ln/>
        </p:spPr>
        <p:txBody>
          <a:bodyPr wrap="square" lIns="0" tIns="0" rIns="0" bIns="0" rtlCol="0" anchor="ctr"/>
          <a:lstStyle/>
          <a:p>
            <a:pPr indent="0" marL="0">
              <a:buNone/>
            </a:pPr>
            <a:r>
              <a:rPr lang="en-US" sz="2400" b="1" dirty="0">
                <a:solidFill>
                  <a:srgbClr val="241F1D"/>
                </a:solidFill>
                <a:latin typeface="Cormorant Garamond" pitchFamily="34" charset="0"/>
                <a:ea typeface="Cormorant Garamond" pitchFamily="34" charset="-122"/>
                <a:cs typeface="Cormorant Garamond" pitchFamily="34" charset="-120"/>
              </a:rPr>
              <a:t>≈ 1.282.437</a:t>
            </a:r>
            <a:endParaRPr lang="en-US" sz="2400" dirty="0"/>
          </a:p>
        </p:txBody>
      </p:sp>
      <p:sp>
        <p:nvSpPr>
          <p:cNvPr id="12" name="Text 10"/>
          <p:cNvSpPr txBox="1"/>
          <p:nvPr/>
        </p:nvSpPr>
        <p:spPr>
          <a:xfrm>
            <a:off x="2651760" y="3611880"/>
            <a:ext cx="2560320" cy="777240"/>
          </a:xfrm>
          <a:prstGeom prst="rect">
            <a:avLst/>
          </a:prstGeom>
          <a:noFill/>
          <a:ln/>
        </p:spPr>
        <p:txBody>
          <a:bodyPr wrap="square" lIns="0" tIns="0" rIns="0" bIns="0" rtlCol="0" anchor="ctr"/>
          <a:lstStyle/>
          <a:p>
            <a:pPr indent="0" marL="0">
              <a:buNone/>
            </a:pPr>
            <a:r>
              <a:rPr lang="en-US" sz="1100" dirty="0">
                <a:solidFill>
                  <a:srgbClr val="241F1D"/>
                </a:solidFill>
                <a:latin typeface="DM Sans" pitchFamily="34" charset="0"/>
                <a:ea typeface="DM Sans" pitchFamily="34" charset="-122"/>
                <a:cs typeface="DM Sans" pitchFamily="34" charset="-120"/>
              </a:rPr>
              <a:t>de 18 a 45 años: 47 % (supuesto del documento; calculado)</a:t>
            </a:r>
            <a:endParaRPr lang="en-US" sz="1100" dirty="0"/>
          </a:p>
        </p:txBody>
      </p:sp>
      <p:sp>
        <p:nvSpPr>
          <p:cNvPr id="13" name="Shape 11"/>
          <p:cNvSpPr/>
          <p:nvPr/>
        </p:nvSpPr>
        <p:spPr>
          <a:xfrm>
            <a:off x="548640" y="4526280"/>
            <a:ext cx="4297680" cy="777240"/>
          </a:xfrm>
          <a:prstGeom prst="roundRect">
            <a:avLst>
              <a:gd name="adj" fmla="val 11765"/>
            </a:avLst>
          </a:prstGeom>
          <a:solidFill>
            <a:srgbClr val="D98C86"/>
          </a:solidFill>
          <a:ln/>
        </p:spPr>
      </p:sp>
      <p:sp>
        <p:nvSpPr>
          <p:cNvPr id="14" name="Text 12"/>
          <p:cNvSpPr txBox="1"/>
          <p:nvPr/>
        </p:nvSpPr>
        <p:spPr>
          <a:xfrm>
            <a:off x="731520" y="4526280"/>
            <a:ext cx="1920240" cy="777240"/>
          </a:xfrm>
          <a:prstGeom prst="rect">
            <a:avLst/>
          </a:prstGeom>
          <a:noFill/>
          <a:ln/>
        </p:spPr>
        <p:txBody>
          <a:bodyPr wrap="square" lIns="0" tIns="0" rIns="0" bIns="0" rtlCol="0" anchor="ctr"/>
          <a:lstStyle/>
          <a:p>
            <a:pPr indent="0" marL="0">
              <a:buNone/>
            </a:pPr>
            <a:r>
              <a:rPr lang="en-US" sz="2400" b="1" dirty="0">
                <a:solidFill>
                  <a:srgbClr val="241F1D"/>
                </a:solidFill>
                <a:latin typeface="Cormorant Garamond" pitchFamily="34" charset="0"/>
                <a:ea typeface="Cormorant Garamond" pitchFamily="34" charset="-122"/>
                <a:cs typeface="Cormorant Garamond" pitchFamily="34" charset="-120"/>
              </a:rPr>
              <a:t>≈ 512.975</a:t>
            </a:r>
            <a:endParaRPr lang="en-US" sz="2400" dirty="0"/>
          </a:p>
        </p:txBody>
      </p:sp>
      <p:sp>
        <p:nvSpPr>
          <p:cNvPr id="15" name="Text 13"/>
          <p:cNvSpPr txBox="1"/>
          <p:nvPr/>
        </p:nvSpPr>
        <p:spPr>
          <a:xfrm>
            <a:off x="2651760" y="4526280"/>
            <a:ext cx="2103120" cy="777240"/>
          </a:xfrm>
          <a:prstGeom prst="rect">
            <a:avLst/>
          </a:prstGeom>
          <a:noFill/>
          <a:ln/>
        </p:spPr>
        <p:txBody>
          <a:bodyPr wrap="square" lIns="0" tIns="0" rIns="0" bIns="0" rtlCol="0" anchor="ctr"/>
          <a:lstStyle/>
          <a:p>
            <a:pPr indent="0" marL="0">
              <a:buNone/>
            </a:pPr>
            <a:r>
              <a:rPr lang="en-US" sz="1100" dirty="0">
                <a:solidFill>
                  <a:srgbClr val="241F1D"/>
                </a:solidFill>
                <a:latin typeface="DM Sans" pitchFamily="34" charset="0"/>
                <a:ea typeface="DM Sans" pitchFamily="34" charset="-122"/>
                <a:cs typeface="DM Sans" pitchFamily="34" charset="-120"/>
              </a:rPr>
              <a:t>usan maquillaje de cobertura: 40 % (supuesto) = SAM</a:t>
            </a:r>
            <a:endParaRPr lang="en-US" sz="1100" dirty="0"/>
          </a:p>
        </p:txBody>
      </p:sp>
      <p:sp>
        <p:nvSpPr>
          <p:cNvPr id="16" name="Shape 14"/>
          <p:cNvSpPr/>
          <p:nvPr/>
        </p:nvSpPr>
        <p:spPr>
          <a:xfrm>
            <a:off x="6492240" y="1783080"/>
            <a:ext cx="5148072" cy="1371600"/>
          </a:xfrm>
          <a:prstGeom prst="roundRect">
            <a:avLst>
              <a:gd name="adj" fmla="val 8000"/>
            </a:avLst>
          </a:prstGeom>
          <a:solidFill>
            <a:srgbClr val="241F1D"/>
          </a:solidFill>
          <a:ln/>
        </p:spPr>
      </p:sp>
      <p:sp>
        <p:nvSpPr>
          <p:cNvPr id="17" name="Text 15"/>
          <p:cNvSpPr txBox="1"/>
          <p:nvPr/>
        </p:nvSpPr>
        <p:spPr>
          <a:xfrm>
            <a:off x="6720840" y="1874520"/>
            <a:ext cx="1828800" cy="274320"/>
          </a:xfrm>
          <a:prstGeom prst="rect">
            <a:avLst/>
          </a:prstGeom>
          <a:noFill/>
          <a:ln/>
        </p:spPr>
        <p:txBody>
          <a:bodyPr wrap="square" lIns="0" tIns="0" rIns="0" bIns="0" rtlCol="0" anchor="ctr"/>
          <a:lstStyle/>
          <a:p>
            <a:pPr indent="0" marL="0">
              <a:buNone/>
            </a:pPr>
            <a:r>
              <a:rPr lang="en-US" sz="1250" b="1" spc="100" kern="0" dirty="0">
                <a:solidFill>
                  <a:srgbClr val="D98C86"/>
                </a:solidFill>
                <a:latin typeface="DM Sans" pitchFamily="34" charset="0"/>
                <a:ea typeface="DM Sans" pitchFamily="34" charset="-122"/>
                <a:cs typeface="DM Sans" pitchFamily="34" charset="-120"/>
              </a:rPr>
              <a:t>TAM</a:t>
            </a:r>
            <a:endParaRPr lang="en-US" sz="1250" dirty="0"/>
          </a:p>
        </p:txBody>
      </p:sp>
      <p:sp>
        <p:nvSpPr>
          <p:cNvPr id="18" name="Text 16"/>
          <p:cNvSpPr txBox="1"/>
          <p:nvPr/>
        </p:nvSpPr>
        <p:spPr>
          <a:xfrm>
            <a:off x="6720840" y="2148840"/>
            <a:ext cx="4754880" cy="594360"/>
          </a:xfrm>
          <a:prstGeom prst="rect">
            <a:avLst/>
          </a:prstGeom>
          <a:noFill/>
          <a:ln/>
        </p:spPr>
        <p:txBody>
          <a:bodyPr wrap="square" lIns="0" tIns="0" rIns="0" bIns="0" rtlCol="0" anchor="ctr"/>
          <a:lstStyle/>
          <a:p>
            <a:pPr indent="0" marL="0">
              <a:buNone/>
            </a:pPr>
            <a:r>
              <a:rPr lang="en-US" sz="3400" b="1" dirty="0">
                <a:solidFill>
                  <a:srgbClr val="FBF5F1"/>
                </a:solidFill>
                <a:latin typeface="Cormorant Garamond" pitchFamily="34" charset="0"/>
                <a:ea typeface="Cormorant Garamond" pitchFamily="34" charset="-122"/>
                <a:cs typeface="Cormorant Garamond" pitchFamily="34" charset="-120"/>
              </a:rPr>
              <a:t>USD 351,72 M</a:t>
            </a:r>
            <a:endParaRPr lang="en-US" sz="3400" dirty="0"/>
          </a:p>
        </p:txBody>
      </p:sp>
      <p:sp>
        <p:nvSpPr>
          <p:cNvPr id="19" name="Text 17"/>
          <p:cNvSpPr txBox="1"/>
          <p:nvPr/>
        </p:nvSpPr>
        <p:spPr>
          <a:xfrm>
            <a:off x="6720840" y="2743200"/>
            <a:ext cx="4754880" cy="365760"/>
          </a:xfrm>
          <a:prstGeom prst="rect">
            <a:avLst/>
          </a:prstGeom>
          <a:noFill/>
          <a:ln/>
        </p:spPr>
        <p:txBody>
          <a:bodyPr wrap="square" lIns="0" tIns="0" rIns="0" bIns="0" rtlCol="0" anchor="ctr"/>
          <a:lstStyle/>
          <a:p>
            <a:pPr indent="0" marL="0">
              <a:buNone/>
            </a:pPr>
            <a:r>
              <a:rPr lang="en-US" sz="1100" dirty="0">
                <a:solidFill>
                  <a:srgbClr val="C9B8B2"/>
                </a:solidFill>
                <a:latin typeface="DM Sans" pitchFamily="34" charset="0"/>
                <a:ea typeface="DM Sans" pitchFamily="34" charset="-122"/>
                <a:cs typeface="DM Sans" pitchFamily="34" charset="-120"/>
              </a:rPr>
              <a:t>mercado colombiano de cosméticos/maquillaje, 2025 (Mordor Intelligence, 2026)</a:t>
            </a:r>
            <a:endParaRPr lang="en-US" sz="1100" dirty="0"/>
          </a:p>
        </p:txBody>
      </p:sp>
      <p:sp>
        <p:nvSpPr>
          <p:cNvPr id="20" name="Shape 18"/>
          <p:cNvSpPr/>
          <p:nvPr/>
        </p:nvSpPr>
        <p:spPr>
          <a:xfrm>
            <a:off x="6492240" y="3291840"/>
            <a:ext cx="5148072" cy="566928"/>
          </a:xfrm>
          <a:prstGeom prst="roundRect">
            <a:avLst>
              <a:gd name="adj" fmla="val 16129"/>
            </a:avLst>
          </a:prstGeom>
          <a:solidFill>
            <a:srgbClr val="FFFFFF"/>
          </a:solidFill>
          <a:ln w="12700">
            <a:solidFill>
              <a:srgbClr val="EDE1D9"/>
            </a:solidFill>
            <a:prstDash val="solid"/>
          </a:ln>
        </p:spPr>
      </p:sp>
      <p:sp>
        <p:nvSpPr>
          <p:cNvPr id="21" name="Text 19"/>
          <p:cNvSpPr txBox="1"/>
          <p:nvPr/>
        </p:nvSpPr>
        <p:spPr>
          <a:xfrm>
            <a:off x="6675120" y="3291840"/>
            <a:ext cx="2011680" cy="566928"/>
          </a:xfrm>
          <a:prstGeom prst="rect">
            <a:avLst/>
          </a:prstGeom>
          <a:noFill/>
          <a:ln/>
        </p:spPr>
        <p:txBody>
          <a:bodyPr wrap="square" lIns="0" tIns="0" rIns="0" bIns="0" rtlCol="0" anchor="ctr"/>
          <a:lstStyle/>
          <a:p>
            <a:pPr indent="0" marL="0">
              <a:buNone/>
            </a:pPr>
            <a:r>
              <a:rPr lang="en-US" sz="1300" b="1" dirty="0">
                <a:solidFill>
                  <a:srgbClr val="6B4A43"/>
                </a:solidFill>
                <a:latin typeface="DM Sans" pitchFamily="34" charset="0"/>
                <a:ea typeface="DM Sans" pitchFamily="34" charset="-122"/>
                <a:cs typeface="DM Sans" pitchFamily="34" charset="-120"/>
              </a:rPr>
              <a:t>USD 3.300-4.320 M</a:t>
            </a:r>
            <a:endParaRPr lang="en-US" sz="1300" dirty="0"/>
          </a:p>
        </p:txBody>
      </p:sp>
      <p:sp>
        <p:nvSpPr>
          <p:cNvPr id="22" name="Text 20"/>
          <p:cNvSpPr txBox="1"/>
          <p:nvPr/>
        </p:nvSpPr>
        <p:spPr>
          <a:xfrm>
            <a:off x="8686800" y="3291840"/>
            <a:ext cx="2880360" cy="566928"/>
          </a:xfrm>
          <a:prstGeom prst="rect">
            <a:avLst/>
          </a:prstGeom>
          <a:noFill/>
          <a:ln/>
        </p:spPr>
        <p:txBody>
          <a:bodyPr wrap="square" lIns="0" tIns="0" rIns="0" bIns="0" rtlCol="0" anchor="ctr"/>
          <a:lstStyle/>
          <a:p>
            <a:pPr indent="0" marL="0">
              <a:buNone/>
            </a:pPr>
            <a:r>
              <a:rPr lang="en-US" sz="1050" dirty="0">
                <a:solidFill>
                  <a:srgbClr val="5B5250"/>
                </a:solidFill>
                <a:latin typeface="DM Sans" pitchFamily="34" charset="0"/>
                <a:ea typeface="DM Sans" pitchFamily="34" charset="-122"/>
                <a:cs typeface="DM Sans" pitchFamily="34" charset="-120"/>
              </a:rPr>
              <a:t>belleza y cuidado personal en Colombia, 2024-2025</a:t>
            </a:r>
            <a:endParaRPr lang="en-US" sz="1050" dirty="0"/>
          </a:p>
        </p:txBody>
      </p:sp>
      <p:sp>
        <p:nvSpPr>
          <p:cNvPr id="23" name="Shape 21"/>
          <p:cNvSpPr/>
          <p:nvPr/>
        </p:nvSpPr>
        <p:spPr>
          <a:xfrm>
            <a:off x="6492240" y="3950208"/>
            <a:ext cx="5148072" cy="566928"/>
          </a:xfrm>
          <a:prstGeom prst="roundRect">
            <a:avLst>
              <a:gd name="adj" fmla="val 16129"/>
            </a:avLst>
          </a:prstGeom>
          <a:solidFill>
            <a:srgbClr val="FFFFFF"/>
          </a:solidFill>
          <a:ln w="12700">
            <a:solidFill>
              <a:srgbClr val="EDE1D9"/>
            </a:solidFill>
            <a:prstDash val="solid"/>
          </a:ln>
        </p:spPr>
      </p:sp>
      <p:sp>
        <p:nvSpPr>
          <p:cNvPr id="24" name="Text 22"/>
          <p:cNvSpPr txBox="1"/>
          <p:nvPr/>
        </p:nvSpPr>
        <p:spPr>
          <a:xfrm>
            <a:off x="6675120" y="3950208"/>
            <a:ext cx="2011680" cy="566928"/>
          </a:xfrm>
          <a:prstGeom prst="rect">
            <a:avLst/>
          </a:prstGeom>
          <a:noFill/>
          <a:ln/>
        </p:spPr>
        <p:txBody>
          <a:bodyPr wrap="square" lIns="0" tIns="0" rIns="0" bIns="0" rtlCol="0" anchor="ctr"/>
          <a:lstStyle/>
          <a:p>
            <a:pPr indent="0" marL="0">
              <a:buNone/>
            </a:pPr>
            <a:r>
              <a:rPr lang="en-US" sz="1300" b="1" dirty="0">
                <a:solidFill>
                  <a:srgbClr val="6B4A43"/>
                </a:solidFill>
                <a:latin typeface="DM Sans" pitchFamily="34" charset="0"/>
                <a:ea typeface="DM Sans" pitchFamily="34" charset="-122"/>
                <a:cs typeface="DM Sans" pitchFamily="34" charset="-120"/>
              </a:rPr>
              <a:t>CAGR 4,4-5,5 %</a:t>
            </a:r>
            <a:endParaRPr lang="en-US" sz="1300" dirty="0"/>
          </a:p>
        </p:txBody>
      </p:sp>
      <p:sp>
        <p:nvSpPr>
          <p:cNvPr id="25" name="Text 23"/>
          <p:cNvSpPr txBox="1"/>
          <p:nvPr/>
        </p:nvSpPr>
        <p:spPr>
          <a:xfrm>
            <a:off x="8686800" y="3950208"/>
            <a:ext cx="2880360" cy="566928"/>
          </a:xfrm>
          <a:prstGeom prst="rect">
            <a:avLst/>
          </a:prstGeom>
          <a:noFill/>
          <a:ln/>
        </p:spPr>
        <p:txBody>
          <a:bodyPr wrap="square" lIns="0" tIns="0" rIns="0" bIns="0" rtlCol="0" anchor="ctr"/>
          <a:lstStyle/>
          <a:p>
            <a:pPr indent="0" marL="0">
              <a:buNone/>
            </a:pPr>
            <a:r>
              <a:rPr lang="en-US" sz="1050" dirty="0">
                <a:solidFill>
                  <a:srgbClr val="5B5250"/>
                </a:solidFill>
                <a:latin typeface="DM Sans" pitchFamily="34" charset="0"/>
                <a:ea typeface="DM Sans" pitchFamily="34" charset="-122"/>
                <a:cs typeface="DM Sans" pitchFamily="34" charset="-120"/>
              </a:rPr>
              <a:t>crecimiento estimado del mercado colombiano</a:t>
            </a:r>
            <a:endParaRPr lang="en-US" sz="1050" dirty="0"/>
          </a:p>
        </p:txBody>
      </p:sp>
      <p:sp>
        <p:nvSpPr>
          <p:cNvPr id="26" name="Shape 24"/>
          <p:cNvSpPr/>
          <p:nvPr/>
        </p:nvSpPr>
        <p:spPr>
          <a:xfrm>
            <a:off x="6492240" y="4608576"/>
            <a:ext cx="5148072" cy="566928"/>
          </a:xfrm>
          <a:prstGeom prst="roundRect">
            <a:avLst>
              <a:gd name="adj" fmla="val 16129"/>
            </a:avLst>
          </a:prstGeom>
          <a:solidFill>
            <a:srgbClr val="FFFFFF"/>
          </a:solidFill>
          <a:ln w="12700">
            <a:solidFill>
              <a:srgbClr val="EDE1D9"/>
            </a:solidFill>
            <a:prstDash val="solid"/>
          </a:ln>
        </p:spPr>
      </p:sp>
      <p:sp>
        <p:nvSpPr>
          <p:cNvPr id="27" name="Text 25"/>
          <p:cNvSpPr txBox="1"/>
          <p:nvPr/>
        </p:nvSpPr>
        <p:spPr>
          <a:xfrm>
            <a:off x="6675120" y="4608576"/>
            <a:ext cx="2011680" cy="566928"/>
          </a:xfrm>
          <a:prstGeom prst="rect">
            <a:avLst/>
          </a:prstGeom>
          <a:noFill/>
          <a:ln/>
        </p:spPr>
        <p:txBody>
          <a:bodyPr wrap="square" lIns="0" tIns="0" rIns="0" bIns="0" rtlCol="0" anchor="ctr"/>
          <a:lstStyle/>
          <a:p>
            <a:pPr indent="0" marL="0">
              <a:buNone/>
            </a:pPr>
            <a:r>
              <a:rPr lang="en-US" sz="1300" b="1" dirty="0">
                <a:solidFill>
                  <a:srgbClr val="6B4A43"/>
                </a:solidFill>
                <a:latin typeface="DM Sans" pitchFamily="34" charset="0"/>
                <a:ea typeface="DM Sans" pitchFamily="34" charset="-122"/>
                <a:cs typeface="DM Sans" pitchFamily="34" charset="-120"/>
              </a:rPr>
              <a:t>CAGR 13,3 %</a:t>
            </a:r>
            <a:endParaRPr lang="en-US" sz="1300" dirty="0"/>
          </a:p>
        </p:txBody>
      </p:sp>
      <p:sp>
        <p:nvSpPr>
          <p:cNvPr id="28" name="Text 26"/>
          <p:cNvSpPr txBox="1"/>
          <p:nvPr/>
        </p:nvSpPr>
        <p:spPr>
          <a:xfrm>
            <a:off x="8686800" y="4608576"/>
            <a:ext cx="2880360" cy="566928"/>
          </a:xfrm>
          <a:prstGeom prst="rect">
            <a:avLst/>
          </a:prstGeom>
          <a:noFill/>
          <a:ln/>
        </p:spPr>
        <p:txBody>
          <a:bodyPr wrap="square" lIns="0" tIns="0" rIns="0" bIns="0" rtlCol="0" anchor="ctr"/>
          <a:lstStyle/>
          <a:p>
            <a:pPr indent="0" marL="0">
              <a:buNone/>
            </a:pPr>
            <a:r>
              <a:rPr lang="en-US" sz="1050" dirty="0">
                <a:solidFill>
                  <a:srgbClr val="5B5250"/>
                </a:solidFill>
                <a:latin typeface="DM Sans" pitchFamily="34" charset="0"/>
                <a:ea typeface="DM Sans" pitchFamily="34" charset="-122"/>
                <a:cs typeface="DM Sans" pitchFamily="34" charset="-120"/>
              </a:rPr>
              <a:t>beauty tech a nivel global</a:t>
            </a:r>
            <a:endParaRPr lang="en-US" sz="1050" dirty="0"/>
          </a:p>
        </p:txBody>
      </p:sp>
      <p:sp>
        <p:nvSpPr>
          <p:cNvPr id="29" name="Shape 27"/>
          <p:cNvSpPr/>
          <p:nvPr/>
        </p:nvSpPr>
        <p:spPr>
          <a:xfrm>
            <a:off x="548640" y="5577840"/>
            <a:ext cx="11094415" cy="548640"/>
          </a:xfrm>
          <a:prstGeom prst="roundRect">
            <a:avLst>
              <a:gd name="adj" fmla="val 16667"/>
            </a:avLst>
          </a:prstGeom>
          <a:solidFill>
            <a:srgbClr val="F3DCD8"/>
          </a:solidFill>
          <a:ln/>
        </p:spPr>
      </p:sp>
      <p:sp>
        <p:nvSpPr>
          <p:cNvPr id="30" name="Text 28"/>
          <p:cNvSpPr txBox="1"/>
          <p:nvPr/>
        </p:nvSpPr>
        <p:spPr>
          <a:xfrm>
            <a:off x="777240" y="5577840"/>
            <a:ext cx="10637215" cy="548640"/>
          </a:xfrm>
          <a:prstGeom prst="rect">
            <a:avLst/>
          </a:prstGeom>
          <a:noFill/>
          <a:ln/>
        </p:spPr>
        <p:txBody>
          <a:bodyPr wrap="square" lIns="0" tIns="0" rIns="0" bIns="0" rtlCol="0" anchor="ctr"/>
          <a:lstStyle/>
          <a:p>
            <a:pPr indent="0" marL="0">
              <a:buNone/>
            </a:pPr>
            <a:r>
              <a:rPr lang="en-US" sz="1200" i="1" dirty="0">
                <a:solidFill>
                  <a:srgbClr val="6B4A43"/>
                </a:solidFill>
                <a:latin typeface="DM Sans" pitchFamily="34" charset="0"/>
                <a:ea typeface="DM Sans" pitchFamily="34" charset="-122"/>
                <a:cs typeface="DM Sans" pitchFamily="34" charset="-120"/>
              </a:rPr>
              <a:t>SOM: el documento no lo cuantifica todavía; depende del precio definitivo y de la validación de la disposición a pagar.</a:t>
            </a:r>
            <a:endParaRPr lang="en-US" sz="1200" dirty="0"/>
          </a:p>
        </p:txBody>
      </p:sp>
      <p:sp>
        <p:nvSpPr>
          <p:cNvPr id="31" name="Text 29"/>
          <p:cNvSpPr txBox="1"/>
          <p:nvPr/>
        </p:nvSpPr>
        <p:spPr>
          <a:xfrm>
            <a:off x="548640" y="6355080"/>
            <a:ext cx="11094415" cy="365760"/>
          </a:xfrm>
          <a:prstGeom prst="rect">
            <a:avLst/>
          </a:prstGeom>
          <a:noFill/>
          <a:ln/>
        </p:spPr>
        <p:txBody>
          <a:bodyPr wrap="square" lIns="0" tIns="0" rIns="0" bIns="0" rtlCol="0" anchor="ctr"/>
          <a:lstStyle/>
          <a:p>
            <a:pPr indent="0" marL="0">
              <a:buNone/>
            </a:pPr>
            <a:r>
              <a:rPr lang="en-US" sz="1100" dirty="0">
                <a:solidFill>
                  <a:srgbClr val="8A7A73"/>
                </a:solidFill>
                <a:latin typeface="DM Sans" pitchFamily="34" charset="0"/>
                <a:ea typeface="DM Sans" pitchFamily="34" charset="-122"/>
                <a:cs typeface="DM Sans" pitchFamily="34" charset="-120"/>
              </a:rPr>
              <a:t>Fuente: Anexo 4 del documento (Mordor Intelligence, 2026; DANE vía Telencuestas, 2025; PCM Agencia, 2025; Verified Market Research, 2025; Research and Markets, 2026). Los pasos intermedios son cálculos propios con los supuestos del documento.</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5F1"/>
        </a:solidFill>
      </p:bgPr>
    </p:bg>
    <p:spTree>
      <p:nvGrpSpPr>
        <p:cNvPr id="1" name=""/>
        <p:cNvGrpSpPr/>
        <p:nvPr/>
      </p:nvGrpSpPr>
      <p:grpSpPr>
        <a:xfrm>
          <a:off x="0" y="0"/>
          <a:ext cx="0" cy="0"/>
          <a:chOff x="0" y="0"/>
          <a:chExt cx="0" cy="0"/>
        </a:xfrm>
      </p:grpSpPr>
      <p:sp>
        <p:nvSpPr>
          <p:cNvPr id="2" name="Text 0"/>
          <p:cNvSpPr txBox="1"/>
          <p:nvPr/>
        </p:nvSpPr>
        <p:spPr>
          <a:xfrm>
            <a:off x="548640" y="502920"/>
            <a:ext cx="11094415" cy="320040"/>
          </a:xfrm>
          <a:prstGeom prst="rect">
            <a:avLst/>
          </a:prstGeom>
          <a:noFill/>
          <a:ln/>
        </p:spPr>
        <p:txBody>
          <a:bodyPr wrap="square" lIns="0" tIns="0" rIns="0" bIns="0" rtlCol="0" anchor="ctr"/>
          <a:lstStyle/>
          <a:p>
            <a:pPr indent="0" marL="0">
              <a:buNone/>
            </a:pPr>
            <a:r>
              <a:rPr lang="en-US" sz="1300" b="1" spc="200" kern="0" dirty="0">
                <a:solidFill>
                  <a:srgbClr val="A87C45"/>
                </a:solidFill>
                <a:latin typeface="DM Sans" pitchFamily="34" charset="0"/>
                <a:ea typeface="DM Sans" pitchFamily="34" charset="-122"/>
                <a:cs typeface="DM Sans" pitchFamily="34" charset="-120"/>
              </a:rPr>
              <a:t>MERCADO OBJETIVO</a:t>
            </a:r>
            <a:endParaRPr lang="en-US" sz="1300" dirty="0"/>
          </a:p>
        </p:txBody>
      </p:sp>
      <p:sp>
        <p:nvSpPr>
          <p:cNvPr id="3" name="Text 1"/>
          <p:cNvSpPr txBox="1"/>
          <p:nvPr/>
        </p:nvSpPr>
        <p:spPr>
          <a:xfrm>
            <a:off x="548640" y="868680"/>
            <a:ext cx="11094415" cy="822960"/>
          </a:xfrm>
          <a:prstGeom prst="rect">
            <a:avLst/>
          </a:prstGeom>
          <a:noFill/>
          <a:ln/>
        </p:spPr>
        <p:txBody>
          <a:bodyPr wrap="square" lIns="0" tIns="0" rIns="0" bIns="0" rtlCol="0" anchor="ctr"/>
          <a:lstStyle/>
          <a:p>
            <a:pPr algn="l" indent="0" marL="0">
              <a:buNone/>
            </a:pPr>
            <a:r>
              <a:rPr lang="en-US" sz="3200" b="1" dirty="0">
                <a:solidFill>
                  <a:srgbClr val="241F1D"/>
                </a:solidFill>
                <a:latin typeface="Cormorant Garamond" pitchFamily="34" charset="0"/>
                <a:ea typeface="Cormorant Garamond" pitchFamily="34" charset="-122"/>
                <a:cs typeface="Cormorant Garamond" pitchFamily="34" charset="-120"/>
              </a:rPr>
              <a:t>¿Quién tiene el problema?</a:t>
            </a:r>
            <a:endParaRPr lang="en-US" sz="3200" dirty="0"/>
          </a:p>
        </p:txBody>
      </p:sp>
      <p:sp>
        <p:nvSpPr>
          <p:cNvPr id="4" name="Text 2"/>
          <p:cNvSpPr txBox="1"/>
          <p:nvPr/>
        </p:nvSpPr>
        <p:spPr>
          <a:xfrm>
            <a:off x="548640" y="1417320"/>
            <a:ext cx="11094415" cy="502920"/>
          </a:xfrm>
          <a:prstGeom prst="rect">
            <a:avLst/>
          </a:prstGeom>
          <a:noFill/>
          <a:ln/>
        </p:spPr>
        <p:txBody>
          <a:bodyPr wrap="square" lIns="0" tIns="0" rIns="0" bIns="0" rtlCol="0" anchor="ctr"/>
          <a:lstStyle/>
          <a:p>
            <a:pPr indent="0" marL="0">
              <a:buNone/>
            </a:pPr>
            <a:r>
              <a:rPr lang="en-US" sz="1400" dirty="0">
                <a:solidFill>
                  <a:srgbClr val="5B5250"/>
                </a:solidFill>
                <a:latin typeface="DM Sans" pitchFamily="34" charset="0"/>
                <a:ea typeface="DM Sans" pitchFamily="34" charset="-122"/>
                <a:cs typeface="DM Sans" pitchFamily="34" charset="-120"/>
              </a:rPr>
              <a:t>Mujeres jóvenes adultas, 18–35 años, de zonas urbanas · inicialmente Bogotá · estratos medios y medio-altos · uso frecuente de base/corrector con esponja · activas en redes y e-commerce.</a:t>
            </a:r>
            <a:endParaRPr lang="en-US" sz="1400" dirty="0"/>
          </a:p>
        </p:txBody>
      </p:sp>
      <p:sp>
        <p:nvSpPr>
          <p:cNvPr id="5" name="Shape 3"/>
          <p:cNvSpPr/>
          <p:nvPr/>
        </p:nvSpPr>
        <p:spPr>
          <a:xfrm>
            <a:off x="548640" y="2103120"/>
            <a:ext cx="3108960" cy="3931920"/>
          </a:xfrm>
          <a:prstGeom prst="roundRect">
            <a:avLst>
              <a:gd name="adj" fmla="val 3529"/>
            </a:avLst>
          </a:prstGeom>
          <a:solidFill>
            <a:srgbClr val="241F1D"/>
          </a:solidFill>
          <a:ln/>
        </p:spPr>
      </p:sp>
      <p:sp>
        <p:nvSpPr>
          <p:cNvPr id="6" name="Shape 4"/>
          <p:cNvSpPr/>
          <p:nvPr/>
        </p:nvSpPr>
        <p:spPr>
          <a:xfrm>
            <a:off x="1417320" y="2514600"/>
            <a:ext cx="1371600" cy="1371600"/>
          </a:xfrm>
          <a:prstGeom prst="ellipse">
            <a:avLst/>
          </a:prstGeom>
          <a:solidFill>
            <a:srgbClr val="D98C86"/>
          </a:solidFill>
          <a:ln/>
        </p:spPr>
      </p:sp>
      <p:sp>
        <p:nvSpPr>
          <p:cNvPr id="7" name="Text 5"/>
          <p:cNvSpPr txBox="1"/>
          <p:nvPr/>
        </p:nvSpPr>
        <p:spPr>
          <a:xfrm>
            <a:off x="640080" y="4069080"/>
            <a:ext cx="2926080" cy="457200"/>
          </a:xfrm>
          <a:prstGeom prst="rect">
            <a:avLst/>
          </a:prstGeom>
          <a:noFill/>
          <a:ln/>
        </p:spPr>
        <p:txBody>
          <a:bodyPr wrap="square" lIns="0" tIns="0" rIns="0" bIns="0" rtlCol="0" anchor="ctr"/>
          <a:lstStyle/>
          <a:p>
            <a:pPr algn="ctr" indent="0" marL="0">
              <a:buNone/>
            </a:pPr>
            <a:r>
              <a:rPr lang="en-US" sz="2800" b="1" dirty="0">
                <a:solidFill>
                  <a:srgbClr val="FBF5F1"/>
                </a:solidFill>
                <a:latin typeface="Cormorant Garamond" pitchFamily="34" charset="0"/>
                <a:ea typeface="Cormorant Garamond" pitchFamily="34" charset="-122"/>
                <a:cs typeface="Cormorant Garamond" pitchFamily="34" charset="-120"/>
              </a:rPr>
              <a:t>Sara, 27</a:t>
            </a:r>
            <a:endParaRPr lang="en-US" sz="2800" dirty="0"/>
          </a:p>
        </p:txBody>
      </p:sp>
      <p:sp>
        <p:nvSpPr>
          <p:cNvPr id="8" name="Text 6"/>
          <p:cNvSpPr txBox="1"/>
          <p:nvPr/>
        </p:nvSpPr>
        <p:spPr>
          <a:xfrm>
            <a:off x="777240" y="4572000"/>
            <a:ext cx="2651760" cy="1188720"/>
          </a:xfrm>
          <a:prstGeom prst="rect">
            <a:avLst/>
          </a:prstGeom>
          <a:noFill/>
          <a:ln/>
        </p:spPr>
        <p:txBody>
          <a:bodyPr wrap="square" lIns="0" tIns="0" rIns="0" bIns="0" rtlCol="0" anchor="ctr"/>
          <a:lstStyle/>
          <a:p>
            <a:pPr algn="ctr" indent="0" marL="0">
              <a:buNone/>
            </a:pPr>
            <a:r>
              <a:rPr lang="en-US" sz="1300" dirty="0">
                <a:solidFill>
                  <a:srgbClr val="C9B8B2"/>
                </a:solidFill>
                <a:latin typeface="DM Sans" pitchFamily="34" charset="0"/>
                <a:ea typeface="DM Sans" pitchFamily="34" charset="-122"/>
                <a:cs typeface="DM Sans" pitchFamily="34" charset="-120"/>
              </a:rPr>
              <a:t>Profesional beauty-conscious · Bogotá (Chapinero / Usaquén) · estrato 4</a:t>
            </a:r>
            <a:endParaRPr lang="en-US" sz="1300" dirty="0"/>
          </a:p>
        </p:txBody>
      </p:sp>
      <p:sp>
        <p:nvSpPr>
          <p:cNvPr id="9" name="Shape 7"/>
          <p:cNvSpPr/>
          <p:nvPr/>
        </p:nvSpPr>
        <p:spPr>
          <a:xfrm>
            <a:off x="3931920" y="2103120"/>
            <a:ext cx="3739896" cy="1851660"/>
          </a:xfrm>
          <a:prstGeom prst="roundRect">
            <a:avLst>
              <a:gd name="adj" fmla="val 5926"/>
            </a:avLst>
          </a:prstGeom>
          <a:solidFill>
            <a:srgbClr val="FFFFFF"/>
          </a:solidFill>
          <a:ln w="12700">
            <a:solidFill>
              <a:srgbClr val="EDE1D9"/>
            </a:solidFill>
            <a:prstDash val="solid"/>
          </a:ln>
        </p:spPr>
      </p:sp>
      <p:sp>
        <p:nvSpPr>
          <p:cNvPr id="10" name="Text 8"/>
          <p:cNvSpPr txBox="1"/>
          <p:nvPr/>
        </p:nvSpPr>
        <p:spPr>
          <a:xfrm>
            <a:off x="4160520" y="2286000"/>
            <a:ext cx="3282696" cy="320040"/>
          </a:xfrm>
          <a:prstGeom prst="rect">
            <a:avLst/>
          </a:prstGeom>
          <a:noFill/>
          <a:ln/>
        </p:spPr>
        <p:txBody>
          <a:bodyPr wrap="square" lIns="0" tIns="0" rIns="0" bIns="0" rtlCol="0" anchor="ctr"/>
          <a:lstStyle/>
          <a:p>
            <a:pPr indent="0" marL="0">
              <a:buNone/>
            </a:pPr>
            <a:r>
              <a:rPr lang="en-US" sz="1300" b="1" dirty="0">
                <a:solidFill>
                  <a:srgbClr val="A87C45"/>
                </a:solidFill>
                <a:latin typeface="DM Sans" pitchFamily="34" charset="0"/>
                <a:ea typeface="DM Sans" pitchFamily="34" charset="-122"/>
                <a:cs typeface="DM Sans" pitchFamily="34" charset="-120"/>
              </a:rPr>
              <a:t>Hábitos de maquillaje</a:t>
            </a:r>
            <a:endParaRPr lang="en-US" sz="1300" dirty="0"/>
          </a:p>
        </p:txBody>
      </p:sp>
      <p:sp>
        <p:nvSpPr>
          <p:cNvPr id="11" name="Text 9"/>
          <p:cNvSpPr txBox="1"/>
          <p:nvPr/>
        </p:nvSpPr>
        <p:spPr>
          <a:xfrm>
            <a:off x="4160520" y="2633472"/>
            <a:ext cx="3282696" cy="1120140"/>
          </a:xfrm>
          <a:prstGeom prst="rect">
            <a:avLst/>
          </a:prstGeom>
          <a:noFill/>
          <a:ln/>
        </p:spPr>
        <p:txBody>
          <a:bodyPr wrap="square" lIns="0" tIns="0" rIns="0" bIns="0" rtlCol="0" anchor="ctr"/>
          <a:lstStyle/>
          <a:p>
            <a:pPr indent="0" marL="0">
              <a:buNone/>
            </a:pPr>
            <a:r>
              <a:rPr lang="en-US" sz="1350" dirty="0">
                <a:solidFill>
                  <a:srgbClr val="4A4039"/>
                </a:solidFill>
                <a:latin typeface="DM Sans" pitchFamily="34" charset="0"/>
                <a:ea typeface="DM Sans" pitchFamily="34" charset="-122"/>
                <a:cs typeface="DM Sans" pitchFamily="34" charset="-120"/>
              </a:rPr>
              <a:t>Usa base y corrector con beauty blender 5 días/semana; sigue tutoriales en Instagram y TikTok</a:t>
            </a:r>
            <a:endParaRPr lang="en-US" sz="1350" dirty="0"/>
          </a:p>
        </p:txBody>
      </p:sp>
      <p:sp>
        <p:nvSpPr>
          <p:cNvPr id="12" name="Shape 10"/>
          <p:cNvSpPr/>
          <p:nvPr/>
        </p:nvSpPr>
        <p:spPr>
          <a:xfrm>
            <a:off x="7900416" y="2103120"/>
            <a:ext cx="3739896" cy="1851660"/>
          </a:xfrm>
          <a:prstGeom prst="roundRect">
            <a:avLst>
              <a:gd name="adj" fmla="val 5926"/>
            </a:avLst>
          </a:prstGeom>
          <a:solidFill>
            <a:srgbClr val="FFFFFF"/>
          </a:solidFill>
          <a:ln w="12700">
            <a:solidFill>
              <a:srgbClr val="EDE1D9"/>
            </a:solidFill>
            <a:prstDash val="solid"/>
          </a:ln>
        </p:spPr>
      </p:sp>
      <p:sp>
        <p:nvSpPr>
          <p:cNvPr id="13" name="Text 11"/>
          <p:cNvSpPr txBox="1"/>
          <p:nvPr/>
        </p:nvSpPr>
        <p:spPr>
          <a:xfrm>
            <a:off x="8129016" y="2286000"/>
            <a:ext cx="3282696" cy="320040"/>
          </a:xfrm>
          <a:prstGeom prst="rect">
            <a:avLst/>
          </a:prstGeom>
          <a:noFill/>
          <a:ln/>
        </p:spPr>
        <p:txBody>
          <a:bodyPr wrap="square" lIns="0" tIns="0" rIns="0" bIns="0" rtlCol="0" anchor="ctr"/>
          <a:lstStyle/>
          <a:p>
            <a:pPr indent="0" marL="0">
              <a:buNone/>
            </a:pPr>
            <a:r>
              <a:rPr lang="en-US" sz="1300" b="1" dirty="0">
                <a:solidFill>
                  <a:srgbClr val="A87C45"/>
                </a:solidFill>
                <a:latin typeface="DM Sans" pitchFamily="34" charset="0"/>
                <a:ea typeface="DM Sans" pitchFamily="34" charset="-122"/>
                <a:cs typeface="DM Sans" pitchFamily="34" charset="-120"/>
              </a:rPr>
              <a:t>Hábitos de limpieza</a:t>
            </a:r>
            <a:endParaRPr lang="en-US" sz="1300" dirty="0"/>
          </a:p>
        </p:txBody>
      </p:sp>
      <p:sp>
        <p:nvSpPr>
          <p:cNvPr id="14" name="Text 12"/>
          <p:cNvSpPr txBox="1"/>
          <p:nvPr/>
        </p:nvSpPr>
        <p:spPr>
          <a:xfrm>
            <a:off x="8129016" y="2633472"/>
            <a:ext cx="3282696" cy="1120140"/>
          </a:xfrm>
          <a:prstGeom prst="rect">
            <a:avLst/>
          </a:prstGeom>
          <a:noFill/>
          <a:ln/>
        </p:spPr>
        <p:txBody>
          <a:bodyPr wrap="square" lIns="0" tIns="0" rIns="0" bIns="0" rtlCol="0" anchor="ctr"/>
          <a:lstStyle/>
          <a:p>
            <a:pPr indent="0" marL="0">
              <a:buNone/>
            </a:pPr>
            <a:r>
              <a:rPr lang="en-US" sz="1350" dirty="0">
                <a:solidFill>
                  <a:srgbClr val="4A4039"/>
                </a:solidFill>
                <a:latin typeface="DM Sans" pitchFamily="34" charset="0"/>
                <a:ea typeface="DM Sans" pitchFamily="34" charset="-122"/>
                <a:cs typeface="DM Sans" pitchFamily="34" charset="-120"/>
              </a:rPr>
              <a:t>Limpia su esponja cada 2–3 semanas por falta de tiempo, aun sabiendo que debería hacerlo más seguido</a:t>
            </a:r>
            <a:endParaRPr lang="en-US" sz="1350" dirty="0"/>
          </a:p>
        </p:txBody>
      </p:sp>
      <p:sp>
        <p:nvSpPr>
          <p:cNvPr id="15" name="Shape 13"/>
          <p:cNvSpPr/>
          <p:nvPr/>
        </p:nvSpPr>
        <p:spPr>
          <a:xfrm>
            <a:off x="3931920" y="4183380"/>
            <a:ext cx="3739896" cy="1851660"/>
          </a:xfrm>
          <a:prstGeom prst="roundRect">
            <a:avLst>
              <a:gd name="adj" fmla="val 5926"/>
            </a:avLst>
          </a:prstGeom>
          <a:solidFill>
            <a:srgbClr val="FFFFFF"/>
          </a:solidFill>
          <a:ln w="12700">
            <a:solidFill>
              <a:srgbClr val="EDE1D9"/>
            </a:solidFill>
            <a:prstDash val="solid"/>
          </a:ln>
        </p:spPr>
      </p:sp>
      <p:sp>
        <p:nvSpPr>
          <p:cNvPr id="16" name="Text 14"/>
          <p:cNvSpPr txBox="1"/>
          <p:nvPr/>
        </p:nvSpPr>
        <p:spPr>
          <a:xfrm>
            <a:off x="4160520" y="4366260"/>
            <a:ext cx="3282696" cy="320040"/>
          </a:xfrm>
          <a:prstGeom prst="rect">
            <a:avLst/>
          </a:prstGeom>
          <a:noFill/>
          <a:ln/>
        </p:spPr>
        <p:txBody>
          <a:bodyPr wrap="square" lIns="0" tIns="0" rIns="0" bIns="0" rtlCol="0" anchor="ctr"/>
          <a:lstStyle/>
          <a:p>
            <a:pPr indent="0" marL="0">
              <a:buNone/>
            </a:pPr>
            <a:r>
              <a:rPr lang="en-US" sz="1300" b="1" dirty="0">
                <a:solidFill>
                  <a:srgbClr val="A87C45"/>
                </a:solidFill>
                <a:latin typeface="DM Sans" pitchFamily="34" charset="0"/>
                <a:ea typeface="DM Sans" pitchFamily="34" charset="-122"/>
                <a:cs typeface="DM Sans" pitchFamily="34" charset="-120"/>
              </a:rPr>
              <a:t>Motivaciones</a:t>
            </a:r>
            <a:endParaRPr lang="en-US" sz="1300" dirty="0"/>
          </a:p>
        </p:txBody>
      </p:sp>
      <p:sp>
        <p:nvSpPr>
          <p:cNvPr id="17" name="Text 15"/>
          <p:cNvSpPr txBox="1"/>
          <p:nvPr/>
        </p:nvSpPr>
        <p:spPr>
          <a:xfrm>
            <a:off x="4160520" y="4713732"/>
            <a:ext cx="3282696" cy="1120140"/>
          </a:xfrm>
          <a:prstGeom prst="rect">
            <a:avLst/>
          </a:prstGeom>
          <a:noFill/>
          <a:ln/>
        </p:spPr>
        <p:txBody>
          <a:bodyPr wrap="square" lIns="0" tIns="0" rIns="0" bIns="0" rtlCol="0" anchor="ctr"/>
          <a:lstStyle/>
          <a:p>
            <a:pPr indent="0" marL="0">
              <a:buNone/>
            </a:pPr>
            <a:r>
              <a:rPr lang="en-US" sz="1350" dirty="0">
                <a:solidFill>
                  <a:srgbClr val="4A4039"/>
                </a:solidFill>
                <a:latin typeface="DM Sans" pitchFamily="34" charset="0"/>
                <a:ea typeface="DM Sans" pitchFamily="34" charset="-122"/>
                <a:cs typeface="DM Sans" pitchFamily="34" charset="-120"/>
              </a:rPr>
              <a:t>Verse impecable sin invertir tiempo excesivo; cuidar su piel, propensa a brotes ocasionales</a:t>
            </a:r>
            <a:endParaRPr lang="en-US" sz="1350" dirty="0"/>
          </a:p>
        </p:txBody>
      </p:sp>
      <p:sp>
        <p:nvSpPr>
          <p:cNvPr id="18" name="Shape 16"/>
          <p:cNvSpPr/>
          <p:nvPr/>
        </p:nvSpPr>
        <p:spPr>
          <a:xfrm>
            <a:off x="7900416" y="4183380"/>
            <a:ext cx="3739896" cy="1851660"/>
          </a:xfrm>
          <a:prstGeom prst="roundRect">
            <a:avLst>
              <a:gd name="adj" fmla="val 5926"/>
            </a:avLst>
          </a:prstGeom>
          <a:solidFill>
            <a:srgbClr val="F3DCD8"/>
          </a:solidFill>
          <a:ln/>
        </p:spPr>
      </p:sp>
      <p:sp>
        <p:nvSpPr>
          <p:cNvPr id="19" name="Text 17"/>
          <p:cNvSpPr txBox="1"/>
          <p:nvPr/>
        </p:nvSpPr>
        <p:spPr>
          <a:xfrm>
            <a:off x="8129016" y="4366260"/>
            <a:ext cx="3282696" cy="320040"/>
          </a:xfrm>
          <a:prstGeom prst="rect">
            <a:avLst/>
          </a:prstGeom>
          <a:noFill/>
          <a:ln/>
        </p:spPr>
        <p:txBody>
          <a:bodyPr wrap="square" lIns="0" tIns="0" rIns="0" bIns="0" rtlCol="0" anchor="ctr"/>
          <a:lstStyle/>
          <a:p>
            <a:pPr indent="0" marL="0">
              <a:buNone/>
            </a:pPr>
            <a:r>
              <a:rPr lang="en-US" sz="1300" b="1" dirty="0">
                <a:solidFill>
                  <a:srgbClr val="6B4A43"/>
                </a:solidFill>
                <a:latin typeface="DM Sans" pitchFamily="34" charset="0"/>
                <a:ea typeface="DM Sans" pitchFamily="34" charset="-122"/>
                <a:cs typeface="DM Sans" pitchFamily="34" charset="-120"/>
              </a:rPr>
              <a:t>Barreras de compra</a:t>
            </a:r>
            <a:endParaRPr lang="en-US" sz="1300" dirty="0"/>
          </a:p>
        </p:txBody>
      </p:sp>
      <p:sp>
        <p:nvSpPr>
          <p:cNvPr id="20" name="Text 18"/>
          <p:cNvSpPr txBox="1"/>
          <p:nvPr/>
        </p:nvSpPr>
        <p:spPr>
          <a:xfrm>
            <a:off x="8129016" y="4713732"/>
            <a:ext cx="3282696" cy="1120140"/>
          </a:xfrm>
          <a:prstGeom prst="rect">
            <a:avLst/>
          </a:prstGeom>
          <a:noFill/>
          <a:ln/>
        </p:spPr>
        <p:txBody>
          <a:bodyPr wrap="square" lIns="0" tIns="0" rIns="0" bIns="0" rtlCol="0" anchor="ctr"/>
          <a:lstStyle/>
          <a:p>
            <a:pPr indent="0" marL="0">
              <a:buNone/>
            </a:pPr>
            <a:r>
              <a:rPr lang="en-US" sz="1350" dirty="0">
                <a:solidFill>
                  <a:srgbClr val="6B4A43"/>
                </a:solidFill>
                <a:latin typeface="DM Sans" pitchFamily="34" charset="0"/>
                <a:ea typeface="DM Sans" pitchFamily="34" charset="-122"/>
                <a:cs typeface="DM Sans" pitchFamily="34" charset="-120"/>
              </a:rPr>
              <a:t>Precio del dispositivo; escepticismo ante nuevos "gadgets"; necesita ver demostraciones antes de comprar</a:t>
            </a:r>
            <a:endParaRPr lang="en-US" sz="1350" dirty="0"/>
          </a:p>
        </p:txBody>
      </p:sp>
      <p:sp>
        <p:nvSpPr>
          <p:cNvPr id="21" name="Text 19"/>
          <p:cNvSpPr txBox="1"/>
          <p:nvPr/>
        </p:nvSpPr>
        <p:spPr>
          <a:xfrm>
            <a:off x="548640" y="6355080"/>
            <a:ext cx="11094415" cy="365760"/>
          </a:xfrm>
          <a:prstGeom prst="rect">
            <a:avLst/>
          </a:prstGeom>
          <a:noFill/>
          <a:ln/>
        </p:spPr>
        <p:txBody>
          <a:bodyPr wrap="square" lIns="0" tIns="0" rIns="0" bIns="0" rtlCol="0" anchor="ctr"/>
          <a:lstStyle/>
          <a:p>
            <a:pPr indent="0" marL="0">
              <a:buNone/>
            </a:pPr>
            <a:r>
              <a:rPr lang="en-US" sz="1100" dirty="0">
                <a:solidFill>
                  <a:srgbClr val="8A7A73"/>
                </a:solidFill>
                <a:latin typeface="DM Sans" pitchFamily="34" charset="0"/>
                <a:ea typeface="DM Sans" pitchFamily="34" charset="-122"/>
                <a:cs typeface="DM Sans" pitchFamily="34" charset="-120"/>
              </a:rPr>
              <a:t>Buyer persona construido por triangulación de datos secundarios (Accenture y TikTok, citado en El Colombiano, 2024; Mordor Intelligence, 2026). Pendiente de validación primaria.</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5F1"/>
        </a:solidFill>
      </p:bgPr>
    </p:bg>
    <p:spTree>
      <p:nvGrpSpPr>
        <p:cNvPr id="1" name=""/>
        <p:cNvGrpSpPr/>
        <p:nvPr/>
      </p:nvGrpSpPr>
      <p:grpSpPr>
        <a:xfrm>
          <a:off x="0" y="0"/>
          <a:ext cx="0" cy="0"/>
          <a:chOff x="0" y="0"/>
          <a:chExt cx="0" cy="0"/>
        </a:xfrm>
      </p:grpSpPr>
      <p:sp>
        <p:nvSpPr>
          <p:cNvPr id="2" name="Text 0"/>
          <p:cNvSpPr txBox="1"/>
          <p:nvPr/>
        </p:nvSpPr>
        <p:spPr>
          <a:xfrm>
            <a:off x="548640" y="502920"/>
            <a:ext cx="11094415" cy="320040"/>
          </a:xfrm>
          <a:prstGeom prst="rect">
            <a:avLst/>
          </a:prstGeom>
          <a:noFill/>
          <a:ln/>
        </p:spPr>
        <p:txBody>
          <a:bodyPr wrap="square" lIns="0" tIns="0" rIns="0" bIns="0" rtlCol="0" anchor="ctr"/>
          <a:lstStyle/>
          <a:p>
            <a:pPr indent="0" marL="0">
              <a:buNone/>
            </a:pPr>
            <a:r>
              <a:rPr lang="en-US" sz="1300" b="1" spc="200" kern="0" dirty="0">
                <a:solidFill>
                  <a:srgbClr val="A87C45"/>
                </a:solidFill>
                <a:latin typeface="DM Sans" pitchFamily="34" charset="0"/>
                <a:ea typeface="DM Sans" pitchFamily="34" charset="-122"/>
                <a:cs typeface="DM Sans" pitchFamily="34" charset="-120"/>
              </a:rPr>
              <a:t>DIAGNÓSTICO</a:t>
            </a:r>
            <a:endParaRPr lang="en-US" sz="1300" dirty="0"/>
          </a:p>
        </p:txBody>
      </p:sp>
      <p:sp>
        <p:nvSpPr>
          <p:cNvPr id="3" name="Text 1"/>
          <p:cNvSpPr txBox="1"/>
          <p:nvPr/>
        </p:nvSpPr>
        <p:spPr>
          <a:xfrm>
            <a:off x="548640" y="822960"/>
            <a:ext cx="11094415" cy="822960"/>
          </a:xfrm>
          <a:prstGeom prst="rect">
            <a:avLst/>
          </a:prstGeom>
          <a:noFill/>
          <a:ln/>
        </p:spPr>
        <p:txBody>
          <a:bodyPr wrap="square" lIns="0" tIns="0" rIns="0" bIns="0" rtlCol="0" anchor="ctr"/>
          <a:lstStyle/>
          <a:p>
            <a:pPr algn="l" indent="0" marL="0">
              <a:buNone/>
            </a:pPr>
            <a:r>
              <a:rPr lang="en-US" sz="3000" b="1" dirty="0">
                <a:solidFill>
                  <a:srgbClr val="241F1D"/>
                </a:solidFill>
                <a:latin typeface="Cormorant Garamond" pitchFamily="34" charset="0"/>
                <a:ea typeface="Cormorant Garamond" pitchFamily="34" charset="-122"/>
                <a:cs typeface="Cormorant Garamond" pitchFamily="34" charset="-120"/>
              </a:rPr>
              <a:t>¿Por qué no limpian la esponja?</a:t>
            </a:r>
            <a:endParaRPr lang="en-US" sz="3000" dirty="0"/>
          </a:p>
        </p:txBody>
      </p:sp>
      <p:sp>
        <p:nvSpPr>
          <p:cNvPr id="4" name="Shape 2"/>
          <p:cNvSpPr/>
          <p:nvPr/>
        </p:nvSpPr>
        <p:spPr>
          <a:xfrm>
            <a:off x="548640" y="1737360"/>
            <a:ext cx="1605229" cy="685800"/>
          </a:xfrm>
          <a:prstGeom prst="roundRect">
            <a:avLst>
              <a:gd name="adj" fmla="val 13333"/>
            </a:avLst>
          </a:prstGeom>
          <a:solidFill>
            <a:srgbClr val="FFFFFF"/>
          </a:solidFill>
          <a:ln w="12700">
            <a:solidFill>
              <a:srgbClr val="EDE1D9"/>
            </a:solidFill>
            <a:prstDash val="solid"/>
          </a:ln>
        </p:spPr>
      </p:sp>
      <p:sp>
        <p:nvSpPr>
          <p:cNvPr id="5" name="Text 3"/>
          <p:cNvSpPr txBox="1"/>
          <p:nvPr/>
        </p:nvSpPr>
        <p:spPr>
          <a:xfrm>
            <a:off x="548640" y="1737360"/>
            <a:ext cx="1605229" cy="685800"/>
          </a:xfrm>
          <a:prstGeom prst="rect">
            <a:avLst/>
          </a:prstGeom>
          <a:noFill/>
          <a:ln/>
        </p:spPr>
        <p:txBody>
          <a:bodyPr wrap="square" lIns="0" tIns="0" rIns="0" bIns="0" rtlCol="0" anchor="ctr"/>
          <a:lstStyle/>
          <a:p>
            <a:pPr algn="ctr" indent="0" marL="0">
              <a:buNone/>
            </a:pPr>
            <a:r>
              <a:rPr lang="en-US" sz="1400" b="1" dirty="0">
                <a:solidFill>
                  <a:srgbClr val="4A4039"/>
                </a:solidFill>
                <a:latin typeface="DM Sans" pitchFamily="34" charset="0"/>
                <a:ea typeface="DM Sans" pitchFamily="34" charset="-122"/>
                <a:cs typeface="DM Sans" pitchFamily="34" charset="-120"/>
              </a:rPr>
              <a:t>MOJAR</a:t>
            </a:r>
            <a:endParaRPr lang="en-US" sz="1400" dirty="0"/>
          </a:p>
        </p:txBody>
      </p:sp>
      <p:sp>
        <p:nvSpPr>
          <p:cNvPr id="6" name="Shape 4"/>
          <p:cNvSpPr/>
          <p:nvPr/>
        </p:nvSpPr>
        <p:spPr>
          <a:xfrm>
            <a:off x="2172157" y="2016252"/>
            <a:ext cx="256032" cy="128016"/>
          </a:xfrm>
          <a:prstGeom prst="rightArrow">
            <a:avLst/>
          </a:prstGeom>
          <a:solidFill>
            <a:srgbClr val="D98C86"/>
          </a:solidFill>
          <a:ln/>
        </p:spPr>
      </p:sp>
      <p:sp>
        <p:nvSpPr>
          <p:cNvPr id="7" name="Shape 5"/>
          <p:cNvSpPr/>
          <p:nvPr/>
        </p:nvSpPr>
        <p:spPr>
          <a:xfrm>
            <a:off x="2446477" y="1737360"/>
            <a:ext cx="1605229" cy="685800"/>
          </a:xfrm>
          <a:prstGeom prst="roundRect">
            <a:avLst>
              <a:gd name="adj" fmla="val 13333"/>
            </a:avLst>
          </a:prstGeom>
          <a:solidFill>
            <a:srgbClr val="FFFFFF"/>
          </a:solidFill>
          <a:ln w="12700">
            <a:solidFill>
              <a:srgbClr val="EDE1D9"/>
            </a:solidFill>
            <a:prstDash val="solid"/>
          </a:ln>
        </p:spPr>
      </p:sp>
      <p:sp>
        <p:nvSpPr>
          <p:cNvPr id="8" name="Text 6"/>
          <p:cNvSpPr txBox="1"/>
          <p:nvPr/>
        </p:nvSpPr>
        <p:spPr>
          <a:xfrm>
            <a:off x="2446477" y="1737360"/>
            <a:ext cx="1605229" cy="685800"/>
          </a:xfrm>
          <a:prstGeom prst="rect">
            <a:avLst/>
          </a:prstGeom>
          <a:noFill/>
          <a:ln/>
        </p:spPr>
        <p:txBody>
          <a:bodyPr wrap="square" lIns="0" tIns="0" rIns="0" bIns="0" rtlCol="0" anchor="ctr"/>
          <a:lstStyle/>
          <a:p>
            <a:pPr algn="ctr" indent="0" marL="0">
              <a:buNone/>
            </a:pPr>
            <a:r>
              <a:rPr lang="en-US" sz="1400" b="1" dirty="0">
                <a:solidFill>
                  <a:srgbClr val="4A4039"/>
                </a:solidFill>
                <a:latin typeface="DM Sans" pitchFamily="34" charset="0"/>
                <a:ea typeface="DM Sans" pitchFamily="34" charset="-122"/>
                <a:cs typeface="DM Sans" pitchFamily="34" charset="-120"/>
              </a:rPr>
              <a:t>JABONAR</a:t>
            </a:r>
            <a:endParaRPr lang="en-US" sz="1400" dirty="0"/>
          </a:p>
        </p:txBody>
      </p:sp>
      <p:sp>
        <p:nvSpPr>
          <p:cNvPr id="9" name="Shape 7"/>
          <p:cNvSpPr/>
          <p:nvPr/>
        </p:nvSpPr>
        <p:spPr>
          <a:xfrm>
            <a:off x="4069994" y="2016252"/>
            <a:ext cx="256032" cy="128016"/>
          </a:xfrm>
          <a:prstGeom prst="rightArrow">
            <a:avLst/>
          </a:prstGeom>
          <a:solidFill>
            <a:srgbClr val="D98C86"/>
          </a:solidFill>
          <a:ln/>
        </p:spPr>
      </p:sp>
      <p:sp>
        <p:nvSpPr>
          <p:cNvPr id="10" name="Shape 8"/>
          <p:cNvSpPr/>
          <p:nvPr/>
        </p:nvSpPr>
        <p:spPr>
          <a:xfrm>
            <a:off x="4344314" y="1737360"/>
            <a:ext cx="1605229" cy="685800"/>
          </a:xfrm>
          <a:prstGeom prst="roundRect">
            <a:avLst>
              <a:gd name="adj" fmla="val 13333"/>
            </a:avLst>
          </a:prstGeom>
          <a:solidFill>
            <a:srgbClr val="FFFFFF"/>
          </a:solidFill>
          <a:ln w="12700">
            <a:solidFill>
              <a:srgbClr val="EDE1D9"/>
            </a:solidFill>
            <a:prstDash val="solid"/>
          </a:ln>
        </p:spPr>
      </p:sp>
      <p:sp>
        <p:nvSpPr>
          <p:cNvPr id="11" name="Text 9"/>
          <p:cNvSpPr txBox="1"/>
          <p:nvPr/>
        </p:nvSpPr>
        <p:spPr>
          <a:xfrm>
            <a:off x="4344314" y="1737360"/>
            <a:ext cx="1605229" cy="685800"/>
          </a:xfrm>
          <a:prstGeom prst="rect">
            <a:avLst/>
          </a:prstGeom>
          <a:noFill/>
          <a:ln/>
        </p:spPr>
        <p:txBody>
          <a:bodyPr wrap="square" lIns="0" tIns="0" rIns="0" bIns="0" rtlCol="0" anchor="ctr"/>
          <a:lstStyle/>
          <a:p>
            <a:pPr algn="ctr" indent="0" marL="0">
              <a:buNone/>
            </a:pPr>
            <a:r>
              <a:rPr lang="en-US" sz="1400" b="1" dirty="0">
                <a:solidFill>
                  <a:srgbClr val="4A4039"/>
                </a:solidFill>
                <a:latin typeface="DM Sans" pitchFamily="34" charset="0"/>
                <a:ea typeface="DM Sans" pitchFamily="34" charset="-122"/>
                <a:cs typeface="DM Sans" pitchFamily="34" charset="-120"/>
              </a:rPr>
              <a:t>FROTAR</a:t>
            </a:r>
            <a:endParaRPr lang="en-US" sz="1400" dirty="0"/>
          </a:p>
        </p:txBody>
      </p:sp>
      <p:sp>
        <p:nvSpPr>
          <p:cNvPr id="12" name="Shape 10"/>
          <p:cNvSpPr/>
          <p:nvPr/>
        </p:nvSpPr>
        <p:spPr>
          <a:xfrm>
            <a:off x="5967832" y="2016252"/>
            <a:ext cx="256032" cy="128016"/>
          </a:xfrm>
          <a:prstGeom prst="rightArrow">
            <a:avLst/>
          </a:prstGeom>
          <a:solidFill>
            <a:srgbClr val="D98C86"/>
          </a:solidFill>
          <a:ln/>
        </p:spPr>
      </p:sp>
      <p:sp>
        <p:nvSpPr>
          <p:cNvPr id="13" name="Shape 11"/>
          <p:cNvSpPr/>
          <p:nvPr/>
        </p:nvSpPr>
        <p:spPr>
          <a:xfrm>
            <a:off x="6242152" y="1737360"/>
            <a:ext cx="1605229" cy="685800"/>
          </a:xfrm>
          <a:prstGeom prst="roundRect">
            <a:avLst>
              <a:gd name="adj" fmla="val 13333"/>
            </a:avLst>
          </a:prstGeom>
          <a:solidFill>
            <a:srgbClr val="FFFFFF"/>
          </a:solidFill>
          <a:ln w="12700">
            <a:solidFill>
              <a:srgbClr val="EDE1D9"/>
            </a:solidFill>
            <a:prstDash val="solid"/>
          </a:ln>
        </p:spPr>
      </p:sp>
      <p:sp>
        <p:nvSpPr>
          <p:cNvPr id="14" name="Text 12"/>
          <p:cNvSpPr txBox="1"/>
          <p:nvPr/>
        </p:nvSpPr>
        <p:spPr>
          <a:xfrm>
            <a:off x="6242152" y="1737360"/>
            <a:ext cx="1605229" cy="685800"/>
          </a:xfrm>
          <a:prstGeom prst="rect">
            <a:avLst/>
          </a:prstGeom>
          <a:noFill/>
          <a:ln/>
        </p:spPr>
        <p:txBody>
          <a:bodyPr wrap="square" lIns="0" tIns="0" rIns="0" bIns="0" rtlCol="0" anchor="ctr"/>
          <a:lstStyle/>
          <a:p>
            <a:pPr algn="ctr" indent="0" marL="0">
              <a:buNone/>
            </a:pPr>
            <a:r>
              <a:rPr lang="en-US" sz="1400" b="1" dirty="0">
                <a:solidFill>
                  <a:srgbClr val="4A4039"/>
                </a:solidFill>
                <a:latin typeface="DM Sans" pitchFamily="34" charset="0"/>
                <a:ea typeface="DM Sans" pitchFamily="34" charset="-122"/>
                <a:cs typeface="DM Sans" pitchFamily="34" charset="-120"/>
              </a:rPr>
              <a:t>ENJUAGAR</a:t>
            </a:r>
            <a:endParaRPr lang="en-US" sz="1400" dirty="0"/>
          </a:p>
        </p:txBody>
      </p:sp>
      <p:sp>
        <p:nvSpPr>
          <p:cNvPr id="15" name="Shape 13"/>
          <p:cNvSpPr/>
          <p:nvPr/>
        </p:nvSpPr>
        <p:spPr>
          <a:xfrm>
            <a:off x="7865669" y="2016252"/>
            <a:ext cx="256032" cy="128016"/>
          </a:xfrm>
          <a:prstGeom prst="rightArrow">
            <a:avLst/>
          </a:prstGeom>
          <a:solidFill>
            <a:srgbClr val="D98C86"/>
          </a:solidFill>
          <a:ln/>
        </p:spPr>
      </p:sp>
      <p:sp>
        <p:nvSpPr>
          <p:cNvPr id="16" name="Shape 14"/>
          <p:cNvSpPr/>
          <p:nvPr/>
        </p:nvSpPr>
        <p:spPr>
          <a:xfrm>
            <a:off x="8139989" y="1737360"/>
            <a:ext cx="1605229" cy="685800"/>
          </a:xfrm>
          <a:prstGeom prst="roundRect">
            <a:avLst>
              <a:gd name="adj" fmla="val 13333"/>
            </a:avLst>
          </a:prstGeom>
          <a:solidFill>
            <a:srgbClr val="FFFFFF"/>
          </a:solidFill>
          <a:ln w="12700">
            <a:solidFill>
              <a:srgbClr val="EDE1D9"/>
            </a:solidFill>
            <a:prstDash val="solid"/>
          </a:ln>
        </p:spPr>
      </p:sp>
      <p:sp>
        <p:nvSpPr>
          <p:cNvPr id="17" name="Text 15"/>
          <p:cNvSpPr txBox="1"/>
          <p:nvPr/>
        </p:nvSpPr>
        <p:spPr>
          <a:xfrm>
            <a:off x="8139989" y="1737360"/>
            <a:ext cx="1605229" cy="685800"/>
          </a:xfrm>
          <a:prstGeom prst="rect">
            <a:avLst/>
          </a:prstGeom>
          <a:noFill/>
          <a:ln/>
        </p:spPr>
        <p:txBody>
          <a:bodyPr wrap="square" lIns="0" tIns="0" rIns="0" bIns="0" rtlCol="0" anchor="ctr"/>
          <a:lstStyle/>
          <a:p>
            <a:pPr algn="ctr" indent="0" marL="0">
              <a:buNone/>
            </a:pPr>
            <a:r>
              <a:rPr lang="en-US" sz="1400" b="1" dirty="0">
                <a:solidFill>
                  <a:srgbClr val="4A4039"/>
                </a:solidFill>
                <a:latin typeface="DM Sans" pitchFamily="34" charset="0"/>
                <a:ea typeface="DM Sans" pitchFamily="34" charset="-122"/>
                <a:cs typeface="DM Sans" pitchFamily="34" charset="-120"/>
              </a:rPr>
              <a:t>SECAR</a:t>
            </a:r>
            <a:endParaRPr lang="en-US" sz="1400" dirty="0"/>
          </a:p>
        </p:txBody>
      </p:sp>
      <p:sp>
        <p:nvSpPr>
          <p:cNvPr id="18" name="Shape 16"/>
          <p:cNvSpPr/>
          <p:nvPr/>
        </p:nvSpPr>
        <p:spPr>
          <a:xfrm>
            <a:off x="9763506" y="2016252"/>
            <a:ext cx="256032" cy="128016"/>
          </a:xfrm>
          <a:prstGeom prst="rightArrow">
            <a:avLst/>
          </a:prstGeom>
          <a:solidFill>
            <a:srgbClr val="D98C86"/>
          </a:solidFill>
          <a:ln/>
        </p:spPr>
      </p:sp>
      <p:sp>
        <p:nvSpPr>
          <p:cNvPr id="19" name="Shape 17"/>
          <p:cNvSpPr/>
          <p:nvPr/>
        </p:nvSpPr>
        <p:spPr>
          <a:xfrm>
            <a:off x="10037826" y="1737360"/>
            <a:ext cx="1605229" cy="685800"/>
          </a:xfrm>
          <a:prstGeom prst="roundRect">
            <a:avLst>
              <a:gd name="adj" fmla="val 13333"/>
            </a:avLst>
          </a:prstGeom>
          <a:solidFill>
            <a:srgbClr val="F3DCD8"/>
          </a:solidFill>
          <a:ln/>
        </p:spPr>
      </p:sp>
      <p:sp>
        <p:nvSpPr>
          <p:cNvPr id="20" name="Text 18"/>
          <p:cNvSpPr txBox="1"/>
          <p:nvPr/>
        </p:nvSpPr>
        <p:spPr>
          <a:xfrm>
            <a:off x="10037826" y="1737360"/>
            <a:ext cx="1605229" cy="685800"/>
          </a:xfrm>
          <a:prstGeom prst="rect">
            <a:avLst/>
          </a:prstGeom>
          <a:noFill/>
          <a:ln/>
        </p:spPr>
        <p:txBody>
          <a:bodyPr wrap="square" lIns="0" tIns="0" rIns="0" bIns="0" rtlCol="0" anchor="ctr"/>
          <a:lstStyle/>
          <a:p>
            <a:pPr algn="ctr" indent="0" marL="0">
              <a:buNone/>
            </a:pPr>
            <a:r>
              <a:rPr lang="en-US" sz="1400" b="1" dirty="0">
                <a:solidFill>
                  <a:srgbClr val="6B4A43"/>
                </a:solidFill>
                <a:latin typeface="DM Sans" pitchFamily="34" charset="0"/>
                <a:ea typeface="DM Sans" pitchFamily="34" charset="-122"/>
                <a:cs typeface="DM Sans" pitchFamily="34" charset="-120"/>
              </a:rPr>
              <a:t>ESPERAR</a:t>
            </a:r>
            <a:endParaRPr lang="en-US" sz="1400" dirty="0"/>
          </a:p>
        </p:txBody>
      </p:sp>
      <p:sp>
        <p:nvSpPr>
          <p:cNvPr id="21" name="Shape 19"/>
          <p:cNvSpPr/>
          <p:nvPr/>
        </p:nvSpPr>
        <p:spPr>
          <a:xfrm>
            <a:off x="548640" y="2743200"/>
            <a:ext cx="2602154" cy="685800"/>
          </a:xfrm>
          <a:prstGeom prst="roundRect">
            <a:avLst>
              <a:gd name="adj" fmla="val 13333"/>
            </a:avLst>
          </a:prstGeom>
          <a:solidFill>
            <a:srgbClr val="FFFFFF"/>
          </a:solidFill>
          <a:ln w="12700">
            <a:solidFill>
              <a:srgbClr val="EDE1D9"/>
            </a:solidFill>
            <a:prstDash val="solid"/>
          </a:ln>
        </p:spPr>
      </p:sp>
      <p:sp>
        <p:nvSpPr>
          <p:cNvPr id="22" name="Text 20"/>
          <p:cNvSpPr txBox="1"/>
          <p:nvPr/>
        </p:nvSpPr>
        <p:spPr>
          <a:xfrm>
            <a:off x="548640" y="2743200"/>
            <a:ext cx="2602154" cy="685800"/>
          </a:xfrm>
          <a:prstGeom prst="rect">
            <a:avLst/>
          </a:prstGeom>
          <a:noFill/>
          <a:ln/>
        </p:spPr>
        <p:txBody>
          <a:bodyPr wrap="square" lIns="0" tIns="0" rIns="0" bIns="0" rtlCol="0" anchor="ctr"/>
          <a:lstStyle/>
          <a:p>
            <a:pPr algn="ctr" indent="0" marL="0">
              <a:buNone/>
            </a:pPr>
            <a:r>
              <a:rPr lang="en-US" sz="1400" dirty="0">
                <a:solidFill>
                  <a:srgbClr val="4A4039"/>
                </a:solidFill>
                <a:latin typeface="DM Sans" pitchFamily="34" charset="0"/>
                <a:ea typeface="DM Sans" pitchFamily="34" charset="-122"/>
                <a:cs typeface="DM Sans" pitchFamily="34" charset="-120"/>
              </a:rPr>
              <a:t>Tiempo</a:t>
            </a:r>
            <a:endParaRPr lang="en-US" sz="1400" dirty="0"/>
          </a:p>
        </p:txBody>
      </p:sp>
      <p:sp>
        <p:nvSpPr>
          <p:cNvPr id="23" name="Shape 21"/>
          <p:cNvSpPr/>
          <p:nvPr/>
        </p:nvSpPr>
        <p:spPr>
          <a:xfrm>
            <a:off x="3379394" y="2743200"/>
            <a:ext cx="2602154" cy="685800"/>
          </a:xfrm>
          <a:prstGeom prst="roundRect">
            <a:avLst>
              <a:gd name="adj" fmla="val 13333"/>
            </a:avLst>
          </a:prstGeom>
          <a:solidFill>
            <a:srgbClr val="FFFFFF"/>
          </a:solidFill>
          <a:ln w="12700">
            <a:solidFill>
              <a:srgbClr val="EDE1D9"/>
            </a:solidFill>
            <a:prstDash val="solid"/>
          </a:ln>
        </p:spPr>
      </p:sp>
      <p:sp>
        <p:nvSpPr>
          <p:cNvPr id="24" name="Text 22"/>
          <p:cNvSpPr txBox="1"/>
          <p:nvPr/>
        </p:nvSpPr>
        <p:spPr>
          <a:xfrm>
            <a:off x="3379394" y="2743200"/>
            <a:ext cx="2602154" cy="685800"/>
          </a:xfrm>
          <a:prstGeom prst="rect">
            <a:avLst/>
          </a:prstGeom>
          <a:noFill/>
          <a:ln/>
        </p:spPr>
        <p:txBody>
          <a:bodyPr wrap="square" lIns="0" tIns="0" rIns="0" bIns="0" rtlCol="0" anchor="ctr"/>
          <a:lstStyle/>
          <a:p>
            <a:pPr algn="ctr" indent="0" marL="0">
              <a:buNone/>
            </a:pPr>
            <a:r>
              <a:rPr lang="en-US" sz="1400" dirty="0">
                <a:solidFill>
                  <a:srgbClr val="4A4039"/>
                </a:solidFill>
                <a:latin typeface="DM Sans" pitchFamily="34" charset="0"/>
                <a:ea typeface="DM Sans" pitchFamily="34" charset="-122"/>
                <a:cs typeface="DM Sans" pitchFamily="34" charset="-120"/>
              </a:rPr>
              <a:t>Esfuerzo</a:t>
            </a:r>
            <a:endParaRPr lang="en-US" sz="1400" dirty="0"/>
          </a:p>
        </p:txBody>
      </p:sp>
      <p:sp>
        <p:nvSpPr>
          <p:cNvPr id="25" name="Shape 23"/>
          <p:cNvSpPr/>
          <p:nvPr/>
        </p:nvSpPr>
        <p:spPr>
          <a:xfrm>
            <a:off x="6210148" y="2743200"/>
            <a:ext cx="2602154" cy="685800"/>
          </a:xfrm>
          <a:prstGeom prst="roundRect">
            <a:avLst>
              <a:gd name="adj" fmla="val 13333"/>
            </a:avLst>
          </a:prstGeom>
          <a:solidFill>
            <a:srgbClr val="FFFFFF"/>
          </a:solidFill>
          <a:ln w="12700">
            <a:solidFill>
              <a:srgbClr val="EDE1D9"/>
            </a:solidFill>
            <a:prstDash val="solid"/>
          </a:ln>
        </p:spPr>
      </p:sp>
      <p:sp>
        <p:nvSpPr>
          <p:cNvPr id="26" name="Text 24"/>
          <p:cNvSpPr txBox="1"/>
          <p:nvPr/>
        </p:nvSpPr>
        <p:spPr>
          <a:xfrm>
            <a:off x="6210148" y="2743200"/>
            <a:ext cx="2602154" cy="685800"/>
          </a:xfrm>
          <a:prstGeom prst="rect">
            <a:avLst/>
          </a:prstGeom>
          <a:noFill/>
          <a:ln/>
        </p:spPr>
        <p:txBody>
          <a:bodyPr wrap="square" lIns="0" tIns="0" rIns="0" bIns="0" rtlCol="0" anchor="ctr"/>
          <a:lstStyle/>
          <a:p>
            <a:pPr algn="ctr" indent="0" marL="0">
              <a:buNone/>
            </a:pPr>
            <a:r>
              <a:rPr lang="en-US" sz="1400" dirty="0">
                <a:solidFill>
                  <a:srgbClr val="4A4039"/>
                </a:solidFill>
                <a:latin typeface="DM Sans" pitchFamily="34" charset="0"/>
                <a:ea typeface="DM Sans" pitchFamily="34" charset="-122"/>
                <a:cs typeface="DM Sans" pitchFamily="34" charset="-120"/>
              </a:rPr>
              <a:t>Proceso tedioso</a:t>
            </a:r>
            <a:endParaRPr lang="en-US" sz="1400" dirty="0"/>
          </a:p>
        </p:txBody>
      </p:sp>
      <p:sp>
        <p:nvSpPr>
          <p:cNvPr id="27" name="Shape 25"/>
          <p:cNvSpPr/>
          <p:nvPr/>
        </p:nvSpPr>
        <p:spPr>
          <a:xfrm>
            <a:off x="9040901" y="2743200"/>
            <a:ext cx="2602154" cy="685800"/>
          </a:xfrm>
          <a:prstGeom prst="roundRect">
            <a:avLst>
              <a:gd name="adj" fmla="val 13333"/>
            </a:avLst>
          </a:prstGeom>
          <a:solidFill>
            <a:srgbClr val="FFFFFF"/>
          </a:solidFill>
          <a:ln w="12700">
            <a:solidFill>
              <a:srgbClr val="EDE1D9"/>
            </a:solidFill>
            <a:prstDash val="solid"/>
          </a:ln>
        </p:spPr>
      </p:sp>
      <p:sp>
        <p:nvSpPr>
          <p:cNvPr id="28" name="Text 26"/>
          <p:cNvSpPr txBox="1"/>
          <p:nvPr/>
        </p:nvSpPr>
        <p:spPr>
          <a:xfrm>
            <a:off x="9040901" y="2743200"/>
            <a:ext cx="2602154" cy="685800"/>
          </a:xfrm>
          <a:prstGeom prst="rect">
            <a:avLst/>
          </a:prstGeom>
          <a:noFill/>
          <a:ln/>
        </p:spPr>
        <p:txBody>
          <a:bodyPr wrap="square" lIns="0" tIns="0" rIns="0" bIns="0" rtlCol="0" anchor="ctr"/>
          <a:lstStyle/>
          <a:p>
            <a:pPr algn="ctr" indent="0" marL="0">
              <a:buNone/>
            </a:pPr>
            <a:r>
              <a:rPr lang="en-US" sz="1400" dirty="0">
                <a:solidFill>
                  <a:srgbClr val="4A4039"/>
                </a:solidFill>
                <a:latin typeface="DM Sans" pitchFamily="34" charset="0"/>
                <a:ea typeface="DM Sans" pitchFamily="34" charset="-122"/>
                <a:cs typeface="DM Sans" pitchFamily="34" charset="-120"/>
              </a:rPr>
              <a:t>Horas de secado</a:t>
            </a:r>
            <a:endParaRPr lang="en-US" sz="1400" dirty="0"/>
          </a:p>
        </p:txBody>
      </p:sp>
      <p:sp>
        <p:nvSpPr>
          <p:cNvPr id="29" name="Shape 27"/>
          <p:cNvSpPr/>
          <p:nvPr/>
        </p:nvSpPr>
        <p:spPr>
          <a:xfrm>
            <a:off x="548640" y="3840480"/>
            <a:ext cx="11094415" cy="1874520"/>
          </a:xfrm>
          <a:prstGeom prst="roundRect">
            <a:avLst>
              <a:gd name="adj" fmla="val 5854"/>
            </a:avLst>
          </a:prstGeom>
          <a:solidFill>
            <a:srgbClr val="241F1D"/>
          </a:solidFill>
          <a:ln/>
        </p:spPr>
      </p:sp>
      <p:sp>
        <p:nvSpPr>
          <p:cNvPr id="30" name="Text 28"/>
          <p:cNvSpPr txBox="1"/>
          <p:nvPr/>
        </p:nvSpPr>
        <p:spPr>
          <a:xfrm>
            <a:off x="822960" y="3840480"/>
            <a:ext cx="10545775" cy="1874520"/>
          </a:xfrm>
          <a:prstGeom prst="rect">
            <a:avLst/>
          </a:prstGeom>
          <a:noFill/>
          <a:ln/>
        </p:spPr>
        <p:txBody>
          <a:bodyPr wrap="square" lIns="0" tIns="0" rIns="0" bIns="0" rtlCol="0" anchor="ctr"/>
          <a:lstStyle/>
          <a:p>
            <a:pPr algn="ctr" indent="0" marL="0">
              <a:buNone/>
            </a:pPr>
            <a:r>
              <a:rPr lang="en-US" sz="3400" b="1" i="1" dirty="0">
                <a:solidFill>
                  <a:srgbClr val="F5E9E2"/>
                </a:solidFill>
                <a:latin typeface="Cormorant Garamond" pitchFamily="34" charset="0"/>
                <a:ea typeface="Cormorant Garamond" pitchFamily="34" charset="-122"/>
                <a:cs typeface="Cormorant Garamond" pitchFamily="34" charset="-120"/>
              </a:rPr>
              <a:t>"BlendPure no vende una máquina.</a:t>
            </a:r>
            <a:endParaRPr lang="en-US" sz="3400" dirty="0"/>
          </a:p>
          <a:p>
            <a:pPr algn="ctr" indent="0" marL="0">
              <a:buNone/>
            </a:pPr>
            <a:r>
              <a:rPr lang="en-US" sz="3400" b="1" i="1" dirty="0">
                <a:solidFill>
                  <a:srgbClr val="F5E9E2"/>
                </a:solidFill>
                <a:latin typeface="Cormorant Garamond" pitchFamily="34" charset="0"/>
                <a:ea typeface="Cormorant Garamond" pitchFamily="34" charset="-122"/>
                <a:cs typeface="Cormorant Garamond" pitchFamily="34" charset="-120"/>
              </a:rPr>
              <a:t>Vende tiempo y conveniencia."</a:t>
            </a:r>
            <a:endParaRPr lang="en-US" sz="3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5F1"/>
        </a:solidFill>
      </p:bgPr>
    </p:bg>
    <p:spTree>
      <p:nvGrpSpPr>
        <p:cNvPr id="1" name=""/>
        <p:cNvGrpSpPr/>
        <p:nvPr/>
      </p:nvGrpSpPr>
      <p:grpSpPr>
        <a:xfrm>
          <a:off x="0" y="0"/>
          <a:ext cx="0" cy="0"/>
          <a:chOff x="0" y="0"/>
          <a:chExt cx="0" cy="0"/>
        </a:xfrm>
      </p:grpSpPr>
      <p:sp>
        <p:nvSpPr>
          <p:cNvPr id="2" name="Text 0"/>
          <p:cNvSpPr txBox="1"/>
          <p:nvPr/>
        </p:nvSpPr>
        <p:spPr>
          <a:xfrm>
            <a:off x="548640" y="502920"/>
            <a:ext cx="11094415" cy="320040"/>
          </a:xfrm>
          <a:prstGeom prst="rect">
            <a:avLst/>
          </a:prstGeom>
          <a:noFill/>
          <a:ln/>
        </p:spPr>
        <p:txBody>
          <a:bodyPr wrap="square" lIns="0" tIns="0" rIns="0" bIns="0" rtlCol="0" anchor="ctr"/>
          <a:lstStyle/>
          <a:p>
            <a:pPr indent="0" marL="0">
              <a:buNone/>
            </a:pPr>
            <a:r>
              <a:rPr lang="en-US" sz="1300" b="1" spc="200" kern="0" dirty="0">
                <a:solidFill>
                  <a:srgbClr val="A87C45"/>
                </a:solidFill>
                <a:latin typeface="DM Sans" pitchFamily="34" charset="0"/>
                <a:ea typeface="DM Sans" pitchFamily="34" charset="-122"/>
                <a:cs typeface="DM Sans" pitchFamily="34" charset="-120"/>
              </a:rPr>
              <a:t>ANTECEDENTES</a:t>
            </a:r>
            <a:endParaRPr lang="en-US" sz="1300" dirty="0"/>
          </a:p>
        </p:txBody>
      </p:sp>
      <p:sp>
        <p:nvSpPr>
          <p:cNvPr id="3" name="Text 1"/>
          <p:cNvSpPr txBox="1"/>
          <p:nvPr/>
        </p:nvSpPr>
        <p:spPr>
          <a:xfrm>
            <a:off x="548640" y="822960"/>
            <a:ext cx="11094415" cy="822960"/>
          </a:xfrm>
          <a:prstGeom prst="rect">
            <a:avLst/>
          </a:prstGeom>
          <a:noFill/>
          <a:ln/>
        </p:spPr>
        <p:txBody>
          <a:bodyPr wrap="square" lIns="0" tIns="0" rIns="0" bIns="0" rtlCol="0" anchor="ctr"/>
          <a:lstStyle/>
          <a:p>
            <a:pPr algn="l" indent="0" marL="0">
              <a:buNone/>
            </a:pPr>
            <a:r>
              <a:rPr lang="en-US" sz="3400" b="1" dirty="0">
                <a:solidFill>
                  <a:srgbClr val="241F1D"/>
                </a:solidFill>
                <a:latin typeface="Cormorant Garamond" pitchFamily="34" charset="0"/>
                <a:ea typeface="Cormorant Garamond" pitchFamily="34" charset="-122"/>
                <a:cs typeface="Cormorant Garamond" pitchFamily="34" charset="-120"/>
              </a:rPr>
              <a:t>Tres casos de éxito</a:t>
            </a:r>
            <a:endParaRPr lang="en-US" sz="3400" dirty="0"/>
          </a:p>
        </p:txBody>
      </p:sp>
      <p:sp>
        <p:nvSpPr>
          <p:cNvPr id="4" name="Shape 2"/>
          <p:cNvSpPr/>
          <p:nvPr/>
        </p:nvSpPr>
        <p:spPr>
          <a:xfrm>
            <a:off x="548640" y="1737360"/>
            <a:ext cx="3545738" cy="3931920"/>
          </a:xfrm>
          <a:prstGeom prst="roundRect">
            <a:avLst>
              <a:gd name="adj" fmla="val 3095"/>
            </a:avLst>
          </a:prstGeom>
          <a:solidFill>
            <a:srgbClr val="FFFFFF"/>
          </a:solidFill>
          <a:ln w="12700">
            <a:solidFill>
              <a:srgbClr val="EDE1D9"/>
            </a:solidFill>
            <a:prstDash val="solid"/>
          </a:ln>
        </p:spPr>
      </p:sp>
      <p:sp>
        <p:nvSpPr>
          <p:cNvPr id="5" name="Text 3"/>
          <p:cNvSpPr txBox="1"/>
          <p:nvPr/>
        </p:nvSpPr>
        <p:spPr>
          <a:xfrm>
            <a:off x="777240" y="1965960"/>
            <a:ext cx="3088538" cy="320040"/>
          </a:xfrm>
          <a:prstGeom prst="rect">
            <a:avLst/>
          </a:prstGeom>
          <a:noFill/>
          <a:ln/>
        </p:spPr>
        <p:txBody>
          <a:bodyPr wrap="square" lIns="0" tIns="0" rIns="0" bIns="0" rtlCol="0" anchor="ctr"/>
          <a:lstStyle/>
          <a:p>
            <a:pPr indent="0" marL="0">
              <a:buNone/>
            </a:pPr>
            <a:r>
              <a:rPr lang="en-US" sz="1200" b="1" dirty="0">
                <a:solidFill>
                  <a:srgbClr val="A87C45"/>
                </a:solidFill>
                <a:latin typeface="DM Sans" pitchFamily="34" charset="0"/>
                <a:ea typeface="DM Sans" pitchFamily="34" charset="-122"/>
                <a:cs typeface="DM Sans" pitchFamily="34" charset="-120"/>
              </a:rPr>
              <a:t>DYSON AIRWRAP · 2018</a:t>
            </a:r>
            <a:endParaRPr lang="en-US" sz="1200" dirty="0"/>
          </a:p>
        </p:txBody>
      </p:sp>
      <p:sp>
        <p:nvSpPr>
          <p:cNvPr id="6" name="Text 4"/>
          <p:cNvSpPr txBox="1"/>
          <p:nvPr/>
        </p:nvSpPr>
        <p:spPr>
          <a:xfrm>
            <a:off x="777240" y="2331720"/>
            <a:ext cx="3088538" cy="868680"/>
          </a:xfrm>
          <a:prstGeom prst="rect">
            <a:avLst/>
          </a:prstGeom>
          <a:noFill/>
          <a:ln/>
        </p:spPr>
        <p:txBody>
          <a:bodyPr wrap="square" lIns="0" tIns="0" rIns="0" bIns="0" rtlCol="0" anchor="ctr"/>
          <a:lstStyle/>
          <a:p>
            <a:pPr indent="0" marL="0">
              <a:buNone/>
            </a:pPr>
            <a:r>
              <a:rPr lang="en-US" sz="1900" b="1" dirty="0">
                <a:solidFill>
                  <a:srgbClr val="241F1D"/>
                </a:solidFill>
                <a:latin typeface="Cormorant Garamond" pitchFamily="34" charset="0"/>
                <a:ea typeface="Cormorant Garamond" pitchFamily="34" charset="-122"/>
                <a:cs typeface="Cormorant Garamond" pitchFamily="34" charset="-120"/>
              </a:rPr>
              <a:t>El precio premium sí funciona en beauty-tech</a:t>
            </a:r>
            <a:endParaRPr lang="en-US" sz="1900" dirty="0"/>
          </a:p>
        </p:txBody>
      </p:sp>
      <p:sp>
        <p:nvSpPr>
          <p:cNvPr id="7" name="Text 5"/>
          <p:cNvSpPr txBox="1"/>
          <p:nvPr/>
        </p:nvSpPr>
        <p:spPr>
          <a:xfrm>
            <a:off x="777240" y="3246120"/>
            <a:ext cx="3088538" cy="1371600"/>
          </a:xfrm>
          <a:prstGeom prst="rect">
            <a:avLst/>
          </a:prstGeom>
          <a:noFill/>
          <a:ln/>
        </p:spPr>
        <p:txBody>
          <a:bodyPr wrap="square" lIns="0" tIns="0" rIns="0" bIns="0" rtlCol="0" anchor="ctr"/>
          <a:lstStyle/>
          <a:p>
            <a:pPr indent="0" marL="0">
              <a:buNone/>
            </a:pPr>
            <a:r>
              <a:rPr lang="en-US" sz="1300" dirty="0">
                <a:solidFill>
                  <a:srgbClr val="5B5250"/>
                </a:solidFill>
                <a:latin typeface="DM Sans" pitchFamily="34" charset="0"/>
                <a:ea typeface="DM Sans" pitchFamily="34" charset="-122"/>
                <a:cs typeface="DM Sans" pitchFamily="34" charset="-120"/>
              </a:rPr>
              <a:t>USD 500–600 · listas de espera de +100.000 personas · 4 unidades vendidas por minuto en 2021, viral sin publicidad tradicional.</a:t>
            </a:r>
            <a:endParaRPr lang="en-US" sz="1300" dirty="0"/>
          </a:p>
        </p:txBody>
      </p:sp>
      <p:sp>
        <p:nvSpPr>
          <p:cNvPr id="8" name="Shape 6"/>
          <p:cNvSpPr/>
          <p:nvPr/>
        </p:nvSpPr>
        <p:spPr>
          <a:xfrm>
            <a:off x="777240" y="4617720"/>
            <a:ext cx="3088538" cy="868680"/>
          </a:xfrm>
          <a:prstGeom prst="roundRect">
            <a:avLst>
              <a:gd name="adj" fmla="val 8421"/>
            </a:avLst>
          </a:prstGeom>
          <a:solidFill>
            <a:srgbClr val="F3DCD8"/>
          </a:solidFill>
          <a:ln/>
        </p:spPr>
      </p:sp>
      <p:sp>
        <p:nvSpPr>
          <p:cNvPr id="9" name="Text 7"/>
          <p:cNvSpPr txBox="1"/>
          <p:nvPr/>
        </p:nvSpPr>
        <p:spPr>
          <a:xfrm>
            <a:off x="914400" y="4663440"/>
            <a:ext cx="2814218" cy="777240"/>
          </a:xfrm>
          <a:prstGeom prst="rect">
            <a:avLst/>
          </a:prstGeom>
          <a:noFill/>
          <a:ln/>
        </p:spPr>
        <p:txBody>
          <a:bodyPr wrap="square" lIns="0" tIns="0" rIns="0" bIns="0" rtlCol="0" anchor="ctr"/>
          <a:lstStyle/>
          <a:p>
            <a:pPr indent="0" marL="0">
              <a:buNone/>
            </a:pPr>
            <a:r>
              <a:rPr lang="en-US" sz="1250" b="1" dirty="0">
                <a:solidFill>
                  <a:srgbClr val="6B4A43"/>
                </a:solidFill>
                <a:latin typeface="DM Sans" pitchFamily="34" charset="0"/>
                <a:ea typeface="DM Sans" pitchFamily="34" charset="-122"/>
                <a:cs typeface="DM Sans" pitchFamily="34" charset="-120"/>
              </a:rPr>
              <a:t>Lección: </a:t>
            </a:r>
            <a:pPr indent="0" marL="0">
              <a:buNone/>
            </a:pPr>
            <a:r>
              <a:rPr lang="en-US" sz="1250" dirty="0">
                <a:solidFill>
                  <a:srgbClr val="6B4A43"/>
                </a:solidFill>
                <a:latin typeface="DM Sans" pitchFamily="34" charset="0"/>
                <a:ea typeface="DM Sans" pitchFamily="34" charset="-122"/>
                <a:cs typeface="DM Sans" pitchFamily="34" charset="-120"/>
              </a:rPr>
              <a:t>Un precio alto no es barrera si el producto se demuestra bien en video.</a:t>
            </a:r>
            <a:endParaRPr lang="en-US" sz="1250" dirty="0"/>
          </a:p>
        </p:txBody>
      </p:sp>
      <p:sp>
        <p:nvSpPr>
          <p:cNvPr id="10" name="Shape 8"/>
          <p:cNvSpPr/>
          <p:nvPr/>
        </p:nvSpPr>
        <p:spPr>
          <a:xfrm>
            <a:off x="4322978" y="1737360"/>
            <a:ext cx="3545738" cy="3931920"/>
          </a:xfrm>
          <a:prstGeom prst="roundRect">
            <a:avLst>
              <a:gd name="adj" fmla="val 3095"/>
            </a:avLst>
          </a:prstGeom>
          <a:solidFill>
            <a:srgbClr val="FFFFFF"/>
          </a:solidFill>
          <a:ln w="12700">
            <a:solidFill>
              <a:srgbClr val="EDE1D9"/>
            </a:solidFill>
            <a:prstDash val="solid"/>
          </a:ln>
        </p:spPr>
      </p:sp>
      <p:sp>
        <p:nvSpPr>
          <p:cNvPr id="11" name="Text 9"/>
          <p:cNvSpPr txBox="1"/>
          <p:nvPr/>
        </p:nvSpPr>
        <p:spPr>
          <a:xfrm>
            <a:off x="4551578" y="1965960"/>
            <a:ext cx="3088538" cy="320040"/>
          </a:xfrm>
          <a:prstGeom prst="rect">
            <a:avLst/>
          </a:prstGeom>
          <a:noFill/>
          <a:ln/>
        </p:spPr>
        <p:txBody>
          <a:bodyPr wrap="square" lIns="0" tIns="0" rIns="0" bIns="0" rtlCol="0" anchor="ctr"/>
          <a:lstStyle/>
          <a:p>
            <a:pPr indent="0" marL="0">
              <a:buNone/>
            </a:pPr>
            <a:r>
              <a:rPr lang="en-US" sz="1200" b="1" dirty="0">
                <a:solidFill>
                  <a:srgbClr val="A87C45"/>
                </a:solidFill>
                <a:latin typeface="DM Sans" pitchFamily="34" charset="0"/>
                <a:ea typeface="DM Sans" pitchFamily="34" charset="-122"/>
                <a:cs typeface="DM Sans" pitchFamily="34" charset="-120"/>
              </a:rPr>
              <a:t>BEAUTYBLENDER · 2002</a:t>
            </a:r>
            <a:endParaRPr lang="en-US" sz="1200" dirty="0"/>
          </a:p>
        </p:txBody>
      </p:sp>
      <p:sp>
        <p:nvSpPr>
          <p:cNvPr id="12" name="Text 10"/>
          <p:cNvSpPr txBox="1"/>
          <p:nvPr/>
        </p:nvSpPr>
        <p:spPr>
          <a:xfrm>
            <a:off x="4551578" y="2331720"/>
            <a:ext cx="3088538" cy="868680"/>
          </a:xfrm>
          <a:prstGeom prst="rect">
            <a:avLst/>
          </a:prstGeom>
          <a:noFill/>
          <a:ln/>
        </p:spPr>
        <p:txBody>
          <a:bodyPr wrap="square" lIns="0" tIns="0" rIns="0" bIns="0" rtlCol="0" anchor="ctr"/>
          <a:lstStyle/>
          <a:p>
            <a:pPr indent="0" marL="0">
              <a:buNone/>
            </a:pPr>
            <a:r>
              <a:rPr lang="en-US" sz="1900" b="1" dirty="0">
                <a:solidFill>
                  <a:srgbClr val="241F1D"/>
                </a:solidFill>
                <a:latin typeface="Cormorant Garamond" pitchFamily="34" charset="0"/>
                <a:ea typeface="Cormorant Garamond" pitchFamily="34" charset="-122"/>
                <a:cs typeface="Cormorant Garamond" pitchFamily="34" charset="-120"/>
              </a:rPr>
              <a:t>Crear una categoría desde cero</a:t>
            </a:r>
            <a:endParaRPr lang="en-US" sz="1900" dirty="0"/>
          </a:p>
        </p:txBody>
      </p:sp>
      <p:sp>
        <p:nvSpPr>
          <p:cNvPr id="13" name="Text 11"/>
          <p:cNvSpPr txBox="1"/>
          <p:nvPr/>
        </p:nvSpPr>
        <p:spPr>
          <a:xfrm>
            <a:off x="4551578" y="3246120"/>
            <a:ext cx="3088538" cy="1371600"/>
          </a:xfrm>
          <a:prstGeom prst="rect">
            <a:avLst/>
          </a:prstGeom>
          <a:noFill/>
          <a:ln/>
        </p:spPr>
        <p:txBody>
          <a:bodyPr wrap="square" lIns="0" tIns="0" rIns="0" bIns="0" rtlCol="0" anchor="ctr"/>
          <a:lstStyle/>
          <a:p>
            <a:pPr indent="0" marL="0">
              <a:buNone/>
            </a:pPr>
            <a:r>
              <a:rPr lang="en-US" sz="1300" dirty="0">
                <a:solidFill>
                  <a:srgbClr val="5B5250"/>
                </a:solidFill>
                <a:latin typeface="DM Sans" pitchFamily="34" charset="0"/>
                <a:ea typeface="DM Sans" pitchFamily="34" charset="-122"/>
                <a:cs typeface="DM Sans" pitchFamily="34" charset="-120"/>
              </a:rPr>
              <a:t>+50 millones de unidades vendidas · una esponja cada 17 minutos en Sephora y Ulta (Forbes, 2021).</a:t>
            </a:r>
            <a:endParaRPr lang="en-US" sz="1300" dirty="0"/>
          </a:p>
        </p:txBody>
      </p:sp>
      <p:sp>
        <p:nvSpPr>
          <p:cNvPr id="14" name="Shape 12"/>
          <p:cNvSpPr/>
          <p:nvPr/>
        </p:nvSpPr>
        <p:spPr>
          <a:xfrm>
            <a:off x="4551578" y="4617720"/>
            <a:ext cx="3088538" cy="868680"/>
          </a:xfrm>
          <a:prstGeom prst="roundRect">
            <a:avLst>
              <a:gd name="adj" fmla="val 8421"/>
            </a:avLst>
          </a:prstGeom>
          <a:solidFill>
            <a:srgbClr val="F3DCD8"/>
          </a:solidFill>
          <a:ln/>
        </p:spPr>
      </p:sp>
      <p:sp>
        <p:nvSpPr>
          <p:cNvPr id="15" name="Text 13"/>
          <p:cNvSpPr txBox="1"/>
          <p:nvPr/>
        </p:nvSpPr>
        <p:spPr>
          <a:xfrm>
            <a:off x="4688738" y="4663440"/>
            <a:ext cx="2814218" cy="777240"/>
          </a:xfrm>
          <a:prstGeom prst="rect">
            <a:avLst/>
          </a:prstGeom>
          <a:noFill/>
          <a:ln/>
        </p:spPr>
        <p:txBody>
          <a:bodyPr wrap="square" lIns="0" tIns="0" rIns="0" bIns="0" rtlCol="0" anchor="ctr"/>
          <a:lstStyle/>
          <a:p>
            <a:pPr indent="0" marL="0">
              <a:buNone/>
            </a:pPr>
            <a:r>
              <a:rPr lang="en-US" sz="1250" b="1" dirty="0">
                <a:solidFill>
                  <a:srgbClr val="6B4A43"/>
                </a:solidFill>
                <a:latin typeface="DM Sans" pitchFamily="34" charset="0"/>
                <a:ea typeface="DM Sans" pitchFamily="34" charset="-122"/>
                <a:cs typeface="DM Sans" pitchFamily="34" charset="-120"/>
              </a:rPr>
              <a:t>Lección: </a:t>
            </a:r>
            <a:pPr indent="0" marL="0">
              <a:buNone/>
            </a:pPr>
            <a:r>
              <a:rPr lang="en-US" sz="1250" dirty="0">
                <a:solidFill>
                  <a:srgbClr val="6B4A43"/>
                </a:solidFill>
                <a:latin typeface="DM Sans" pitchFamily="34" charset="0"/>
                <a:ea typeface="DM Sans" pitchFamily="34" charset="-122"/>
                <a:cs typeface="DM Sans" pitchFamily="34" charset="-120"/>
              </a:rPr>
              <a:t>Un problema real y específico, bien resuelto, puede crear su propia categoría.</a:t>
            </a:r>
            <a:endParaRPr lang="en-US" sz="1250" dirty="0"/>
          </a:p>
        </p:txBody>
      </p:sp>
      <p:sp>
        <p:nvSpPr>
          <p:cNvPr id="16" name="Shape 14"/>
          <p:cNvSpPr/>
          <p:nvPr/>
        </p:nvSpPr>
        <p:spPr>
          <a:xfrm>
            <a:off x="8097317" y="1737360"/>
            <a:ext cx="3545738" cy="3931920"/>
          </a:xfrm>
          <a:prstGeom prst="roundRect">
            <a:avLst>
              <a:gd name="adj" fmla="val 3095"/>
            </a:avLst>
          </a:prstGeom>
          <a:solidFill>
            <a:srgbClr val="241F1D"/>
          </a:solidFill>
          <a:ln/>
        </p:spPr>
      </p:sp>
      <p:sp>
        <p:nvSpPr>
          <p:cNvPr id="17" name="Text 15"/>
          <p:cNvSpPr txBox="1"/>
          <p:nvPr/>
        </p:nvSpPr>
        <p:spPr>
          <a:xfrm>
            <a:off x="8325917" y="1965960"/>
            <a:ext cx="3088538" cy="320040"/>
          </a:xfrm>
          <a:prstGeom prst="rect">
            <a:avLst/>
          </a:prstGeom>
          <a:noFill/>
          <a:ln/>
        </p:spPr>
        <p:txBody>
          <a:bodyPr wrap="square" lIns="0" tIns="0" rIns="0" bIns="0" rtlCol="0" anchor="ctr"/>
          <a:lstStyle/>
          <a:p>
            <a:pPr indent="0" marL="0">
              <a:buNone/>
            </a:pPr>
            <a:r>
              <a:rPr lang="en-US" sz="1200" b="1" dirty="0">
                <a:solidFill>
                  <a:srgbClr val="D98C86"/>
                </a:solidFill>
                <a:latin typeface="DM Sans" pitchFamily="34" charset="0"/>
                <a:ea typeface="DM Sans" pitchFamily="34" charset="-122"/>
                <a:cs typeface="DM Sans" pitchFamily="34" charset="-120"/>
              </a:rPr>
              <a:t>FOREO LUNA · 2013</a:t>
            </a:r>
            <a:endParaRPr lang="en-US" sz="1200" dirty="0"/>
          </a:p>
        </p:txBody>
      </p:sp>
      <p:sp>
        <p:nvSpPr>
          <p:cNvPr id="18" name="Text 16"/>
          <p:cNvSpPr txBox="1"/>
          <p:nvPr/>
        </p:nvSpPr>
        <p:spPr>
          <a:xfrm>
            <a:off x="8325917" y="2331720"/>
            <a:ext cx="3088538" cy="868680"/>
          </a:xfrm>
          <a:prstGeom prst="rect">
            <a:avLst/>
          </a:prstGeom>
          <a:noFill/>
          <a:ln/>
        </p:spPr>
        <p:txBody>
          <a:bodyPr wrap="square" lIns="0" tIns="0" rIns="0" bIns="0" rtlCol="0" anchor="ctr"/>
          <a:lstStyle/>
          <a:p>
            <a:pPr indent="0" marL="0">
              <a:buNone/>
            </a:pPr>
            <a:r>
              <a:rPr lang="en-US" sz="1900" b="1" dirty="0">
                <a:solidFill>
                  <a:srgbClr val="FBF5F1"/>
                </a:solidFill>
                <a:latin typeface="Cormorant Garamond" pitchFamily="34" charset="0"/>
                <a:ea typeface="Cormorant Garamond" pitchFamily="34" charset="-122"/>
                <a:cs typeface="Cormorant Garamond" pitchFamily="34" charset="-120"/>
              </a:rPr>
              <a:t>Ganar por el argumento de higiene</a:t>
            </a:r>
            <a:endParaRPr lang="en-US" sz="1900" dirty="0"/>
          </a:p>
        </p:txBody>
      </p:sp>
      <p:sp>
        <p:nvSpPr>
          <p:cNvPr id="19" name="Text 17"/>
          <p:cNvSpPr txBox="1"/>
          <p:nvPr/>
        </p:nvSpPr>
        <p:spPr>
          <a:xfrm>
            <a:off x="8325917" y="3246120"/>
            <a:ext cx="3088538" cy="1371600"/>
          </a:xfrm>
          <a:prstGeom prst="rect">
            <a:avLst/>
          </a:prstGeom>
          <a:noFill/>
          <a:ln/>
        </p:spPr>
        <p:txBody>
          <a:bodyPr wrap="square" lIns="0" tIns="0" rIns="0" bIns="0" rtlCol="0" anchor="ctr"/>
          <a:lstStyle/>
          <a:p>
            <a:pPr indent="0" marL="0">
              <a:buNone/>
            </a:pPr>
            <a:r>
              <a:rPr lang="en-US" sz="1300" dirty="0">
                <a:solidFill>
                  <a:srgbClr val="C9B8B2"/>
                </a:solidFill>
                <a:latin typeface="DM Sans" pitchFamily="34" charset="0"/>
                <a:ea typeface="DM Sans" pitchFamily="34" charset="-122"/>
                <a:cs typeface="DM Sans" pitchFamily="34" charset="-120"/>
              </a:rPr>
              <a:t>Silicona médica no porosa vs. cerdas que acumulan bacteria · 1.500+ puntos de venta en meses, 4.000 tiendas a nivel global.</a:t>
            </a:r>
            <a:endParaRPr lang="en-US" sz="1300" dirty="0"/>
          </a:p>
        </p:txBody>
      </p:sp>
      <p:sp>
        <p:nvSpPr>
          <p:cNvPr id="20" name="Shape 18"/>
          <p:cNvSpPr/>
          <p:nvPr/>
        </p:nvSpPr>
        <p:spPr>
          <a:xfrm>
            <a:off x="8325917" y="4617720"/>
            <a:ext cx="3088538" cy="868680"/>
          </a:xfrm>
          <a:prstGeom prst="roundRect">
            <a:avLst>
              <a:gd name="adj" fmla="val 8421"/>
            </a:avLst>
          </a:prstGeom>
          <a:solidFill>
            <a:srgbClr val="3A332F"/>
          </a:solidFill>
          <a:ln/>
        </p:spPr>
      </p:sp>
      <p:sp>
        <p:nvSpPr>
          <p:cNvPr id="21" name="Text 19"/>
          <p:cNvSpPr txBox="1"/>
          <p:nvPr/>
        </p:nvSpPr>
        <p:spPr>
          <a:xfrm>
            <a:off x="8463077" y="4663440"/>
            <a:ext cx="2814218" cy="777240"/>
          </a:xfrm>
          <a:prstGeom prst="rect">
            <a:avLst/>
          </a:prstGeom>
          <a:noFill/>
          <a:ln/>
        </p:spPr>
        <p:txBody>
          <a:bodyPr wrap="square" lIns="0" tIns="0" rIns="0" bIns="0" rtlCol="0" anchor="ctr"/>
          <a:lstStyle/>
          <a:p>
            <a:pPr indent="0" marL="0">
              <a:buNone/>
            </a:pPr>
            <a:r>
              <a:rPr lang="en-US" sz="1250" b="1" dirty="0">
                <a:solidFill>
                  <a:srgbClr val="F5E9E2"/>
                </a:solidFill>
                <a:latin typeface="DM Sans" pitchFamily="34" charset="0"/>
                <a:ea typeface="DM Sans" pitchFamily="34" charset="-122"/>
                <a:cs typeface="DM Sans" pitchFamily="34" charset="-120"/>
              </a:rPr>
              <a:t>Lección: </a:t>
            </a:r>
            <a:pPr indent="0" marL="0">
              <a:buNone/>
            </a:pPr>
            <a:r>
              <a:rPr lang="en-US" sz="1250" dirty="0">
                <a:solidFill>
                  <a:srgbClr val="F5E9E2"/>
                </a:solidFill>
                <a:latin typeface="DM Sans" pitchFamily="34" charset="0"/>
                <a:ea typeface="DM Sans" pitchFamily="34" charset="-122"/>
                <a:cs typeface="DM Sans" pitchFamily="34" charset="-120"/>
              </a:rPr>
              <a:t>La higiene, bien comunicada, puede ser la base de la propuesta de valor — el caso más cercano a BlendPure.</a:t>
            </a:r>
            <a:endParaRPr lang="en-US" sz="1250" dirty="0"/>
          </a:p>
        </p:txBody>
      </p:sp>
      <p:sp>
        <p:nvSpPr>
          <p:cNvPr id="22" name="Text 20"/>
          <p:cNvSpPr txBox="1"/>
          <p:nvPr/>
        </p:nvSpPr>
        <p:spPr>
          <a:xfrm>
            <a:off x="548640" y="6355080"/>
            <a:ext cx="11094415" cy="365760"/>
          </a:xfrm>
          <a:prstGeom prst="rect">
            <a:avLst/>
          </a:prstGeom>
          <a:noFill/>
          <a:ln/>
        </p:spPr>
        <p:txBody>
          <a:bodyPr wrap="square" lIns="0" tIns="0" rIns="0" bIns="0" rtlCol="0" anchor="ctr"/>
          <a:lstStyle/>
          <a:p>
            <a:pPr indent="0" marL="0">
              <a:buNone/>
            </a:pPr>
            <a:r>
              <a:rPr lang="en-US" sz="1100" dirty="0">
                <a:solidFill>
                  <a:srgbClr val="8A7A73"/>
                </a:solidFill>
                <a:latin typeface="DM Sans" pitchFamily="34" charset="0"/>
                <a:ea typeface="DM Sans" pitchFamily="34" charset="-122"/>
                <a:cs typeface="DM Sans" pitchFamily="34" charset="-120"/>
              </a:rPr>
              <a:t>Fuentes: Forbes (2021, 2022); Perks With Pink (2026); Drug Store News (s.f.).</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5F1"/>
        </a:solidFill>
      </p:bgPr>
    </p:bg>
    <p:spTree>
      <p:nvGrpSpPr>
        <p:cNvPr id="1" name=""/>
        <p:cNvGrpSpPr/>
        <p:nvPr/>
      </p:nvGrpSpPr>
      <p:grpSpPr>
        <a:xfrm>
          <a:off x="0" y="0"/>
          <a:ext cx="0" cy="0"/>
          <a:chOff x="0" y="0"/>
          <a:chExt cx="0" cy="0"/>
        </a:xfrm>
      </p:grpSpPr>
      <p:sp>
        <p:nvSpPr>
          <p:cNvPr id="2" name="Text 0"/>
          <p:cNvSpPr txBox="1"/>
          <p:nvPr/>
        </p:nvSpPr>
        <p:spPr>
          <a:xfrm>
            <a:off x="548640" y="502920"/>
            <a:ext cx="11094415" cy="320040"/>
          </a:xfrm>
          <a:prstGeom prst="rect">
            <a:avLst/>
          </a:prstGeom>
          <a:noFill/>
          <a:ln/>
        </p:spPr>
        <p:txBody>
          <a:bodyPr wrap="square" lIns="0" tIns="0" rIns="0" bIns="0" rtlCol="0" anchor="ctr"/>
          <a:lstStyle/>
          <a:p>
            <a:pPr indent="0" marL="0">
              <a:buNone/>
            </a:pPr>
            <a:r>
              <a:rPr lang="en-US" sz="1300" b="1" spc="200" kern="0" dirty="0">
                <a:solidFill>
                  <a:srgbClr val="A87C45"/>
                </a:solidFill>
                <a:latin typeface="DM Sans" pitchFamily="34" charset="0"/>
                <a:ea typeface="DM Sans" pitchFamily="34" charset="-122"/>
                <a:cs typeface="DM Sans" pitchFamily="34" charset="-120"/>
              </a:rPr>
              <a:t>ANTECEDENTES</a:t>
            </a:r>
            <a:endParaRPr lang="en-US" sz="1300" dirty="0"/>
          </a:p>
        </p:txBody>
      </p:sp>
      <p:sp>
        <p:nvSpPr>
          <p:cNvPr id="3" name="Text 1"/>
          <p:cNvSpPr txBox="1"/>
          <p:nvPr/>
        </p:nvSpPr>
        <p:spPr>
          <a:xfrm>
            <a:off x="548640" y="822960"/>
            <a:ext cx="11094415" cy="822960"/>
          </a:xfrm>
          <a:prstGeom prst="rect">
            <a:avLst/>
          </a:prstGeom>
          <a:noFill/>
          <a:ln/>
        </p:spPr>
        <p:txBody>
          <a:bodyPr wrap="square" lIns="0" tIns="0" rIns="0" bIns="0" rtlCol="0" anchor="ctr"/>
          <a:lstStyle/>
          <a:p>
            <a:pPr algn="l" indent="0" marL="0">
              <a:buNone/>
            </a:pPr>
            <a:r>
              <a:rPr lang="en-US" sz="3400" b="1" dirty="0">
                <a:solidFill>
                  <a:srgbClr val="241F1D"/>
                </a:solidFill>
                <a:latin typeface="Cormorant Garamond" pitchFamily="34" charset="0"/>
                <a:ea typeface="Cormorant Garamond" pitchFamily="34" charset="-122"/>
                <a:cs typeface="Cormorant Garamond" pitchFamily="34" charset="-120"/>
              </a:rPr>
              <a:t>Tres casos de fracaso</a:t>
            </a:r>
            <a:endParaRPr lang="en-US" sz="3400" dirty="0"/>
          </a:p>
        </p:txBody>
      </p:sp>
      <p:sp>
        <p:nvSpPr>
          <p:cNvPr id="4" name="Shape 2"/>
          <p:cNvSpPr/>
          <p:nvPr/>
        </p:nvSpPr>
        <p:spPr>
          <a:xfrm>
            <a:off x="548640" y="1600200"/>
            <a:ext cx="3545738" cy="3429000"/>
          </a:xfrm>
          <a:prstGeom prst="roundRect">
            <a:avLst>
              <a:gd name="adj" fmla="val 3200"/>
            </a:avLst>
          </a:prstGeom>
          <a:solidFill>
            <a:srgbClr val="FFFFFF"/>
          </a:solidFill>
          <a:ln w="12700">
            <a:solidFill>
              <a:srgbClr val="EDE1D9"/>
            </a:solidFill>
            <a:prstDash val="solid"/>
          </a:ln>
        </p:spPr>
      </p:sp>
      <p:sp>
        <p:nvSpPr>
          <p:cNvPr id="5" name="Text 3"/>
          <p:cNvSpPr txBox="1"/>
          <p:nvPr/>
        </p:nvSpPr>
        <p:spPr>
          <a:xfrm>
            <a:off x="749808" y="1783080"/>
            <a:ext cx="3143402" cy="292608"/>
          </a:xfrm>
          <a:prstGeom prst="rect">
            <a:avLst/>
          </a:prstGeom>
          <a:noFill/>
          <a:ln/>
        </p:spPr>
        <p:txBody>
          <a:bodyPr wrap="square" lIns="0" tIns="0" rIns="0" bIns="0" rtlCol="0" anchor="ctr"/>
          <a:lstStyle/>
          <a:p>
            <a:pPr indent="0" marL="0">
              <a:buNone/>
            </a:pPr>
            <a:r>
              <a:rPr lang="en-US" sz="1150" b="1" dirty="0">
                <a:solidFill>
                  <a:srgbClr val="8A7A73"/>
                </a:solidFill>
                <a:latin typeface="DM Sans" pitchFamily="34" charset="0"/>
                <a:ea typeface="DM Sans" pitchFamily="34" charset="-122"/>
                <a:cs typeface="DM Sans" pitchFamily="34" charset="-120"/>
              </a:rPr>
              <a:t>JUICERO · 2017</a:t>
            </a:r>
            <a:endParaRPr lang="en-US" sz="1150" dirty="0"/>
          </a:p>
        </p:txBody>
      </p:sp>
      <p:sp>
        <p:nvSpPr>
          <p:cNvPr id="6" name="Text 4"/>
          <p:cNvSpPr txBox="1"/>
          <p:nvPr/>
        </p:nvSpPr>
        <p:spPr>
          <a:xfrm>
            <a:off x="749808" y="2103120"/>
            <a:ext cx="3143402" cy="777240"/>
          </a:xfrm>
          <a:prstGeom prst="rect">
            <a:avLst/>
          </a:prstGeom>
          <a:noFill/>
          <a:ln/>
        </p:spPr>
        <p:txBody>
          <a:bodyPr wrap="square" lIns="0" tIns="0" rIns="0" bIns="0" rtlCol="0" anchor="ctr"/>
          <a:lstStyle/>
          <a:p>
            <a:pPr indent="0" marL="0">
              <a:buNone/>
            </a:pPr>
            <a:r>
              <a:rPr lang="en-US" sz="1700" b="1" dirty="0">
                <a:solidFill>
                  <a:srgbClr val="241F1D"/>
                </a:solidFill>
                <a:latin typeface="Cormorant Garamond" pitchFamily="34" charset="0"/>
                <a:ea typeface="Cormorant Garamond" pitchFamily="34" charset="-122"/>
                <a:cs typeface="Cormorant Garamond" pitchFamily="34" charset="-120"/>
              </a:rPr>
              <a:t>Automatizó algo ya fácil de hacer a mano</a:t>
            </a:r>
            <a:endParaRPr lang="en-US" sz="1700" dirty="0"/>
          </a:p>
        </p:txBody>
      </p:sp>
      <p:sp>
        <p:nvSpPr>
          <p:cNvPr id="7" name="Text 5"/>
          <p:cNvSpPr txBox="1"/>
          <p:nvPr/>
        </p:nvSpPr>
        <p:spPr>
          <a:xfrm>
            <a:off x="749808" y="2880360"/>
            <a:ext cx="3143402" cy="1234440"/>
          </a:xfrm>
          <a:prstGeom prst="rect">
            <a:avLst/>
          </a:prstGeom>
          <a:noFill/>
          <a:ln/>
        </p:spPr>
        <p:txBody>
          <a:bodyPr wrap="square" lIns="0" tIns="0" rIns="0" bIns="0" rtlCol="0" anchor="ctr"/>
          <a:lstStyle/>
          <a:p>
            <a:pPr indent="0" marL="0">
              <a:buNone/>
            </a:pPr>
            <a:r>
              <a:rPr lang="en-US" sz="1200" dirty="0">
                <a:solidFill>
                  <a:srgbClr val="5B5250"/>
                </a:solidFill>
                <a:latin typeface="DM Sans" pitchFamily="34" charset="0"/>
                <a:ea typeface="DM Sans" pitchFamily="34" charset="-122"/>
                <a:cs typeface="DM Sans" pitchFamily="34" charset="-120"/>
              </a:rPr>
              <a:t>USD 120M levantados, exprimidor de USD 700; un reportaje mostró que las bolsitas se exprimían igual con las manos. Cerró 16 meses después.</a:t>
            </a:r>
            <a:endParaRPr lang="en-US" sz="1200" dirty="0"/>
          </a:p>
        </p:txBody>
      </p:sp>
      <p:sp>
        <p:nvSpPr>
          <p:cNvPr id="8" name="Shape 6"/>
          <p:cNvSpPr/>
          <p:nvPr/>
        </p:nvSpPr>
        <p:spPr>
          <a:xfrm>
            <a:off x="749808" y="4069080"/>
            <a:ext cx="3143402" cy="822960"/>
          </a:xfrm>
          <a:prstGeom prst="roundRect">
            <a:avLst>
              <a:gd name="adj" fmla="val 8889"/>
            </a:avLst>
          </a:prstGeom>
          <a:solidFill>
            <a:srgbClr val="F3DCD8"/>
          </a:solidFill>
          <a:ln/>
        </p:spPr>
      </p:sp>
      <p:sp>
        <p:nvSpPr>
          <p:cNvPr id="9" name="Text 7"/>
          <p:cNvSpPr txBox="1"/>
          <p:nvPr/>
        </p:nvSpPr>
        <p:spPr>
          <a:xfrm>
            <a:off x="886968" y="4114800"/>
            <a:ext cx="2869082" cy="731520"/>
          </a:xfrm>
          <a:prstGeom prst="rect">
            <a:avLst/>
          </a:prstGeom>
          <a:noFill/>
          <a:ln/>
        </p:spPr>
        <p:txBody>
          <a:bodyPr wrap="square" lIns="0" tIns="0" rIns="0" bIns="0" rtlCol="0" anchor="ctr"/>
          <a:lstStyle/>
          <a:p>
            <a:pPr indent="0" marL="0">
              <a:buNone/>
            </a:pPr>
            <a:r>
              <a:rPr lang="en-US" sz="1200" b="1" dirty="0">
                <a:solidFill>
                  <a:srgbClr val="6B4A43"/>
                </a:solidFill>
                <a:latin typeface="DM Sans" pitchFamily="34" charset="0"/>
                <a:ea typeface="DM Sans" pitchFamily="34" charset="-122"/>
                <a:cs typeface="DM Sans" pitchFamily="34" charset="-120"/>
              </a:rPr>
              <a:t>Lección: </a:t>
            </a:r>
            <a:pPr indent="0" marL="0">
              <a:buNone/>
            </a:pPr>
            <a:r>
              <a:rPr lang="en-US" sz="1200" dirty="0">
                <a:solidFill>
                  <a:srgbClr val="6B4A43"/>
                </a:solidFill>
                <a:latin typeface="DM Sans" pitchFamily="34" charset="0"/>
                <a:ea typeface="DM Sans" pitchFamily="34" charset="-122"/>
                <a:cs typeface="DM Sans" pitchFamily="34" charset="-120"/>
              </a:rPr>
              <a:t>Automatizar no da valor si el problema no es lo bastante doloroso de resolver a mano.</a:t>
            </a:r>
            <a:endParaRPr lang="en-US" sz="1200" dirty="0"/>
          </a:p>
        </p:txBody>
      </p:sp>
      <p:sp>
        <p:nvSpPr>
          <p:cNvPr id="10" name="Shape 8"/>
          <p:cNvSpPr/>
          <p:nvPr/>
        </p:nvSpPr>
        <p:spPr>
          <a:xfrm>
            <a:off x="4322978" y="1600200"/>
            <a:ext cx="3545738" cy="3429000"/>
          </a:xfrm>
          <a:prstGeom prst="roundRect">
            <a:avLst>
              <a:gd name="adj" fmla="val 3200"/>
            </a:avLst>
          </a:prstGeom>
          <a:solidFill>
            <a:srgbClr val="FFFFFF"/>
          </a:solidFill>
          <a:ln w="12700">
            <a:solidFill>
              <a:srgbClr val="EDE1D9"/>
            </a:solidFill>
            <a:prstDash val="solid"/>
          </a:ln>
        </p:spPr>
      </p:sp>
      <p:sp>
        <p:nvSpPr>
          <p:cNvPr id="11" name="Text 9"/>
          <p:cNvSpPr txBox="1"/>
          <p:nvPr/>
        </p:nvSpPr>
        <p:spPr>
          <a:xfrm>
            <a:off x="4524146" y="1783080"/>
            <a:ext cx="3143402" cy="292608"/>
          </a:xfrm>
          <a:prstGeom prst="rect">
            <a:avLst/>
          </a:prstGeom>
          <a:noFill/>
          <a:ln/>
        </p:spPr>
        <p:txBody>
          <a:bodyPr wrap="square" lIns="0" tIns="0" rIns="0" bIns="0" rtlCol="0" anchor="ctr"/>
          <a:lstStyle/>
          <a:p>
            <a:pPr indent="0" marL="0">
              <a:buNone/>
            </a:pPr>
            <a:r>
              <a:rPr lang="en-US" sz="1150" b="1" dirty="0">
                <a:solidFill>
                  <a:srgbClr val="8A7A73"/>
                </a:solidFill>
                <a:latin typeface="DM Sans" pitchFamily="34" charset="0"/>
                <a:ea typeface="DM Sans" pitchFamily="34" charset="-122"/>
                <a:cs typeface="DM Sans" pitchFamily="34" charset="-120"/>
              </a:rPr>
              <a:t>COLOR&amp;CO (L'ORÉAL) · 2019</a:t>
            </a:r>
            <a:endParaRPr lang="en-US" sz="1150" dirty="0"/>
          </a:p>
        </p:txBody>
      </p:sp>
      <p:sp>
        <p:nvSpPr>
          <p:cNvPr id="12" name="Text 10"/>
          <p:cNvSpPr txBox="1"/>
          <p:nvPr/>
        </p:nvSpPr>
        <p:spPr>
          <a:xfrm>
            <a:off x="4524146" y="2103120"/>
            <a:ext cx="3143402" cy="777240"/>
          </a:xfrm>
          <a:prstGeom prst="rect">
            <a:avLst/>
          </a:prstGeom>
          <a:noFill/>
          <a:ln/>
        </p:spPr>
        <p:txBody>
          <a:bodyPr wrap="square" lIns="0" tIns="0" rIns="0" bIns="0" rtlCol="0" anchor="ctr"/>
          <a:lstStyle/>
          <a:p>
            <a:pPr indent="0" marL="0">
              <a:buNone/>
            </a:pPr>
            <a:r>
              <a:rPr lang="en-US" sz="1700" b="1" dirty="0">
                <a:solidFill>
                  <a:srgbClr val="241F1D"/>
                </a:solidFill>
                <a:latin typeface="Cormorant Garamond" pitchFamily="34" charset="0"/>
                <a:ea typeface="Cormorant Garamond" pitchFamily="34" charset="-122"/>
                <a:cs typeface="Cormorant Garamond" pitchFamily="34" charset="-120"/>
              </a:rPr>
              <a:t>Buena recepción no garantiza recompra</a:t>
            </a:r>
            <a:endParaRPr lang="en-US" sz="1700" dirty="0"/>
          </a:p>
        </p:txBody>
      </p:sp>
      <p:sp>
        <p:nvSpPr>
          <p:cNvPr id="13" name="Text 11"/>
          <p:cNvSpPr txBox="1"/>
          <p:nvPr/>
        </p:nvSpPr>
        <p:spPr>
          <a:xfrm>
            <a:off x="4524146" y="2880360"/>
            <a:ext cx="3143402" cy="1234440"/>
          </a:xfrm>
          <a:prstGeom prst="rect">
            <a:avLst/>
          </a:prstGeom>
          <a:noFill/>
          <a:ln/>
        </p:spPr>
        <p:txBody>
          <a:bodyPr wrap="square" lIns="0" tIns="0" rIns="0" bIns="0" rtlCol="0" anchor="ctr"/>
          <a:lstStyle/>
          <a:p>
            <a:pPr indent="0" marL="0">
              <a:buNone/>
            </a:pPr>
            <a:r>
              <a:rPr lang="en-US" sz="1200" dirty="0">
                <a:solidFill>
                  <a:srgbClr val="5B5250"/>
                </a:solidFill>
                <a:latin typeface="DM Sans" pitchFamily="34" charset="0"/>
                <a:ea typeface="DM Sans" pitchFamily="34" charset="-122"/>
                <a:cs typeface="DM Sans" pitchFamily="34" charset="-120"/>
              </a:rPr>
              <a:t>Coloración capilar personalizada con videoconsulta; buena crítica y premios, pero L'Oréal la cerró abruptamente en 2022.</a:t>
            </a:r>
            <a:endParaRPr lang="en-US" sz="1200" dirty="0"/>
          </a:p>
        </p:txBody>
      </p:sp>
      <p:sp>
        <p:nvSpPr>
          <p:cNvPr id="14" name="Shape 12"/>
          <p:cNvSpPr/>
          <p:nvPr/>
        </p:nvSpPr>
        <p:spPr>
          <a:xfrm>
            <a:off x="4524146" y="4069080"/>
            <a:ext cx="3143402" cy="822960"/>
          </a:xfrm>
          <a:prstGeom prst="roundRect">
            <a:avLst>
              <a:gd name="adj" fmla="val 8889"/>
            </a:avLst>
          </a:prstGeom>
          <a:solidFill>
            <a:srgbClr val="F3DCD8"/>
          </a:solidFill>
          <a:ln/>
        </p:spPr>
      </p:sp>
      <p:sp>
        <p:nvSpPr>
          <p:cNvPr id="15" name="Text 13"/>
          <p:cNvSpPr txBox="1"/>
          <p:nvPr/>
        </p:nvSpPr>
        <p:spPr>
          <a:xfrm>
            <a:off x="4661306" y="4114800"/>
            <a:ext cx="2869082" cy="731520"/>
          </a:xfrm>
          <a:prstGeom prst="rect">
            <a:avLst/>
          </a:prstGeom>
          <a:noFill/>
          <a:ln/>
        </p:spPr>
        <p:txBody>
          <a:bodyPr wrap="square" lIns="0" tIns="0" rIns="0" bIns="0" rtlCol="0" anchor="ctr"/>
          <a:lstStyle/>
          <a:p>
            <a:pPr indent="0" marL="0">
              <a:buNone/>
            </a:pPr>
            <a:r>
              <a:rPr lang="en-US" sz="1200" b="1" dirty="0">
                <a:solidFill>
                  <a:srgbClr val="6B4A43"/>
                </a:solidFill>
                <a:latin typeface="DM Sans" pitchFamily="34" charset="0"/>
                <a:ea typeface="DM Sans" pitchFamily="34" charset="-122"/>
                <a:cs typeface="DM Sans" pitchFamily="34" charset="-120"/>
              </a:rPr>
              <a:t>Lección: </a:t>
            </a:r>
            <a:pPr indent="0" marL="0">
              <a:buNone/>
            </a:pPr>
            <a:r>
              <a:rPr lang="en-US" sz="1200" dirty="0">
                <a:solidFill>
                  <a:srgbClr val="6B4A43"/>
                </a:solidFill>
                <a:latin typeface="DM Sans" pitchFamily="34" charset="0"/>
                <a:ea typeface="DM Sans" pitchFamily="34" charset="-122"/>
                <a:cs typeface="DM Sans" pitchFamily="34" charset="-120"/>
              </a:rPr>
              <a:t>BlendPure necesita un modelo de ingresos recurrentes validado, no solo una buena primera compra.</a:t>
            </a:r>
            <a:endParaRPr lang="en-US" sz="1200" dirty="0"/>
          </a:p>
        </p:txBody>
      </p:sp>
      <p:sp>
        <p:nvSpPr>
          <p:cNvPr id="16" name="Shape 14"/>
          <p:cNvSpPr/>
          <p:nvPr/>
        </p:nvSpPr>
        <p:spPr>
          <a:xfrm>
            <a:off x="8097317" y="1600200"/>
            <a:ext cx="3545738" cy="3429000"/>
          </a:xfrm>
          <a:prstGeom prst="roundRect">
            <a:avLst>
              <a:gd name="adj" fmla="val 3200"/>
            </a:avLst>
          </a:prstGeom>
          <a:solidFill>
            <a:srgbClr val="241F1D"/>
          </a:solidFill>
          <a:ln/>
        </p:spPr>
      </p:sp>
      <p:sp>
        <p:nvSpPr>
          <p:cNvPr id="17" name="Text 15"/>
          <p:cNvSpPr txBox="1"/>
          <p:nvPr/>
        </p:nvSpPr>
        <p:spPr>
          <a:xfrm>
            <a:off x="8298485" y="1783080"/>
            <a:ext cx="3143402" cy="292608"/>
          </a:xfrm>
          <a:prstGeom prst="rect">
            <a:avLst/>
          </a:prstGeom>
          <a:noFill/>
          <a:ln/>
        </p:spPr>
        <p:txBody>
          <a:bodyPr wrap="square" lIns="0" tIns="0" rIns="0" bIns="0" rtlCol="0" anchor="ctr"/>
          <a:lstStyle/>
          <a:p>
            <a:pPr indent="0" marL="0">
              <a:buNone/>
            </a:pPr>
            <a:r>
              <a:rPr lang="en-US" sz="1150" b="1" dirty="0">
                <a:solidFill>
                  <a:srgbClr val="D98C86"/>
                </a:solidFill>
                <a:latin typeface="DM Sans" pitchFamily="34" charset="0"/>
                <a:ea typeface="DM Sans" pitchFamily="34" charset="-122"/>
                <a:cs typeface="DM Sans" pitchFamily="34" charset="-120"/>
              </a:rPr>
              <a:t>CLARISONIC · cerró en 2020</a:t>
            </a:r>
            <a:endParaRPr lang="en-US" sz="1150" dirty="0"/>
          </a:p>
        </p:txBody>
      </p:sp>
      <p:sp>
        <p:nvSpPr>
          <p:cNvPr id="18" name="Text 16"/>
          <p:cNvSpPr txBox="1"/>
          <p:nvPr/>
        </p:nvSpPr>
        <p:spPr>
          <a:xfrm>
            <a:off x="8298485" y="2103120"/>
            <a:ext cx="3143402" cy="777240"/>
          </a:xfrm>
          <a:prstGeom prst="rect">
            <a:avLst/>
          </a:prstGeom>
          <a:noFill/>
          <a:ln/>
        </p:spPr>
        <p:txBody>
          <a:bodyPr wrap="square" lIns="0" tIns="0" rIns="0" bIns="0" rtlCol="0" anchor="ctr"/>
          <a:lstStyle/>
          <a:p>
            <a:pPr indent="0" marL="0">
              <a:buNone/>
            </a:pPr>
            <a:r>
              <a:rPr lang="en-US" sz="1700" b="1" dirty="0">
                <a:solidFill>
                  <a:srgbClr val="FBF5F1"/>
                </a:solidFill>
                <a:latin typeface="Cormorant Garamond" pitchFamily="34" charset="0"/>
                <a:ea typeface="Cormorant Garamond" pitchFamily="34" charset="-122"/>
                <a:cs typeface="Cormorant Garamond" pitchFamily="34" charset="-120"/>
              </a:rPr>
              <a:t>Un producto estrella no basta para siempre</a:t>
            </a:r>
            <a:endParaRPr lang="en-US" sz="1700" dirty="0"/>
          </a:p>
        </p:txBody>
      </p:sp>
      <p:sp>
        <p:nvSpPr>
          <p:cNvPr id="19" name="Text 17"/>
          <p:cNvSpPr txBox="1"/>
          <p:nvPr/>
        </p:nvSpPr>
        <p:spPr>
          <a:xfrm>
            <a:off x="8298485" y="2880360"/>
            <a:ext cx="3143402" cy="1234440"/>
          </a:xfrm>
          <a:prstGeom prst="rect">
            <a:avLst/>
          </a:prstGeom>
          <a:noFill/>
          <a:ln/>
        </p:spPr>
        <p:txBody>
          <a:bodyPr wrap="square" lIns="0" tIns="0" rIns="0" bIns="0" rtlCol="0" anchor="ctr"/>
          <a:lstStyle/>
          <a:p>
            <a:pPr indent="0" marL="0">
              <a:buNone/>
            </a:pPr>
            <a:r>
              <a:rPr lang="en-US" sz="1200" dirty="0">
                <a:solidFill>
                  <a:srgbClr val="C9B8B2"/>
                </a:solidFill>
                <a:latin typeface="DM Sans" pitchFamily="34" charset="0"/>
                <a:ea typeface="DM Sans" pitchFamily="34" charset="-122"/>
                <a:cs typeface="DM Sans" pitchFamily="34" charset="-120"/>
              </a:rPr>
              <a:t>Líder de cepillos sónicos (+USD 100M en 2010); comprado por L'Oréal en 2011. Saturación, dependencia de un solo producto y desconexión con jóvenes.</a:t>
            </a:r>
            <a:endParaRPr lang="en-US" sz="1200" dirty="0"/>
          </a:p>
        </p:txBody>
      </p:sp>
      <p:sp>
        <p:nvSpPr>
          <p:cNvPr id="20" name="Shape 18"/>
          <p:cNvSpPr/>
          <p:nvPr/>
        </p:nvSpPr>
        <p:spPr>
          <a:xfrm>
            <a:off x="8298485" y="4069080"/>
            <a:ext cx="3143402" cy="822960"/>
          </a:xfrm>
          <a:prstGeom prst="roundRect">
            <a:avLst>
              <a:gd name="adj" fmla="val 8889"/>
            </a:avLst>
          </a:prstGeom>
          <a:solidFill>
            <a:srgbClr val="3A332F"/>
          </a:solidFill>
          <a:ln/>
        </p:spPr>
      </p:sp>
      <p:sp>
        <p:nvSpPr>
          <p:cNvPr id="21" name="Text 19"/>
          <p:cNvSpPr txBox="1"/>
          <p:nvPr/>
        </p:nvSpPr>
        <p:spPr>
          <a:xfrm>
            <a:off x="8435645" y="4114800"/>
            <a:ext cx="2869082" cy="731520"/>
          </a:xfrm>
          <a:prstGeom prst="rect">
            <a:avLst/>
          </a:prstGeom>
          <a:noFill/>
          <a:ln/>
        </p:spPr>
        <p:txBody>
          <a:bodyPr wrap="square" lIns="0" tIns="0" rIns="0" bIns="0" rtlCol="0" anchor="ctr"/>
          <a:lstStyle/>
          <a:p>
            <a:pPr indent="0" marL="0">
              <a:buNone/>
            </a:pPr>
            <a:r>
              <a:rPr lang="en-US" sz="1200" b="1" dirty="0">
                <a:solidFill>
                  <a:srgbClr val="F5E9E2"/>
                </a:solidFill>
                <a:latin typeface="DM Sans" pitchFamily="34" charset="0"/>
                <a:ea typeface="DM Sans" pitchFamily="34" charset="-122"/>
                <a:cs typeface="DM Sans" pitchFamily="34" charset="-120"/>
              </a:rPr>
              <a:t>Lección: </a:t>
            </a:r>
            <a:pPr indent="0" marL="0">
              <a:buNone/>
            </a:pPr>
            <a:r>
              <a:rPr lang="en-US" sz="1200" dirty="0">
                <a:solidFill>
                  <a:srgbClr val="F5E9E2"/>
                </a:solidFill>
                <a:latin typeface="DM Sans" pitchFamily="34" charset="0"/>
                <a:ea typeface="DM Sans" pitchFamily="34" charset="-122"/>
                <a:cs typeface="DM Sans" pitchFamily="34" charset="-120"/>
              </a:rPr>
              <a:t>Innovar de forma continua y construir un motivo real de recompra (las cápsulas).</a:t>
            </a:r>
            <a:endParaRPr lang="en-US" sz="1200" dirty="0"/>
          </a:p>
        </p:txBody>
      </p:sp>
      <p:sp>
        <p:nvSpPr>
          <p:cNvPr id="22" name="Shape 20"/>
          <p:cNvSpPr/>
          <p:nvPr/>
        </p:nvSpPr>
        <p:spPr>
          <a:xfrm>
            <a:off x="548640" y="5257800"/>
            <a:ext cx="11094415" cy="868680"/>
          </a:xfrm>
          <a:prstGeom prst="roundRect">
            <a:avLst>
              <a:gd name="adj" fmla="val 10526"/>
            </a:avLst>
          </a:prstGeom>
          <a:solidFill>
            <a:srgbClr val="F3DCD8"/>
          </a:solidFill>
          <a:ln/>
        </p:spPr>
      </p:sp>
      <p:sp>
        <p:nvSpPr>
          <p:cNvPr id="23" name="Text 21"/>
          <p:cNvSpPr txBox="1"/>
          <p:nvPr/>
        </p:nvSpPr>
        <p:spPr>
          <a:xfrm>
            <a:off x="822960" y="5257800"/>
            <a:ext cx="10545775" cy="868680"/>
          </a:xfrm>
          <a:prstGeom prst="rect">
            <a:avLst/>
          </a:prstGeom>
          <a:noFill/>
          <a:ln/>
        </p:spPr>
        <p:txBody>
          <a:bodyPr wrap="square" lIns="0" tIns="0" rIns="0" bIns="0" rtlCol="0" anchor="ctr"/>
          <a:lstStyle/>
          <a:p>
            <a:pPr algn="ctr" indent="0" marL="0">
              <a:buNone/>
            </a:pPr>
            <a:r>
              <a:rPr lang="en-US" sz="1700" i="1" dirty="0">
                <a:solidFill>
                  <a:srgbClr val="6B4A43"/>
                </a:solidFill>
                <a:latin typeface="Cormorant Garamond" pitchFamily="34" charset="0"/>
                <a:ea typeface="Cormorant Garamond" pitchFamily="34" charset="-122"/>
                <a:cs typeface="Cormorant Garamond" pitchFamily="34" charset="-120"/>
              </a:rPr>
              <a:t>"Un producto innovador no basta: debe resolver un problema suficientemente importante y construir un modelo sostenible."</a:t>
            </a:r>
            <a:endParaRPr lang="en-US" sz="1700" dirty="0"/>
          </a:p>
        </p:txBody>
      </p:sp>
      <p:sp>
        <p:nvSpPr>
          <p:cNvPr id="24" name="Text 22"/>
          <p:cNvSpPr txBox="1"/>
          <p:nvPr/>
        </p:nvSpPr>
        <p:spPr>
          <a:xfrm>
            <a:off x="548640" y="6355080"/>
            <a:ext cx="11094415" cy="365760"/>
          </a:xfrm>
          <a:prstGeom prst="rect">
            <a:avLst/>
          </a:prstGeom>
          <a:noFill/>
          <a:ln/>
        </p:spPr>
        <p:txBody>
          <a:bodyPr wrap="square" lIns="0" tIns="0" rIns="0" bIns="0" rtlCol="0" anchor="ctr"/>
          <a:lstStyle/>
          <a:p>
            <a:pPr indent="0" marL="0">
              <a:buNone/>
            </a:pPr>
            <a:r>
              <a:rPr lang="en-US" sz="1100" dirty="0">
                <a:solidFill>
                  <a:srgbClr val="8A7A73"/>
                </a:solidFill>
                <a:latin typeface="DM Sans" pitchFamily="34" charset="0"/>
                <a:ea typeface="DM Sans" pitchFamily="34" charset="-122"/>
                <a:cs typeface="DM Sans" pitchFamily="34" charset="-120"/>
              </a:rPr>
              <a:t>Fuentes: Fortune (2017); Wikipedia (s.f.); WWD (2020); Business of Business (2020).</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5F1"/>
        </a:solidFill>
      </p:bgPr>
    </p:bg>
    <p:spTree>
      <p:nvGrpSpPr>
        <p:cNvPr id="1" name=""/>
        <p:cNvGrpSpPr/>
        <p:nvPr/>
      </p:nvGrpSpPr>
      <p:grpSpPr>
        <a:xfrm>
          <a:off x="0" y="0"/>
          <a:ext cx="0" cy="0"/>
          <a:chOff x="0" y="0"/>
          <a:chExt cx="0" cy="0"/>
        </a:xfrm>
      </p:grpSpPr>
      <p:sp>
        <p:nvSpPr>
          <p:cNvPr id="2" name="Text 0"/>
          <p:cNvSpPr txBox="1"/>
          <p:nvPr/>
        </p:nvSpPr>
        <p:spPr>
          <a:xfrm>
            <a:off x="548640" y="502920"/>
            <a:ext cx="11094415" cy="320040"/>
          </a:xfrm>
          <a:prstGeom prst="rect">
            <a:avLst/>
          </a:prstGeom>
          <a:noFill/>
          <a:ln/>
        </p:spPr>
        <p:txBody>
          <a:bodyPr wrap="square" lIns="0" tIns="0" rIns="0" bIns="0" rtlCol="0" anchor="ctr"/>
          <a:lstStyle/>
          <a:p>
            <a:pPr indent="0" marL="0">
              <a:buNone/>
            </a:pPr>
            <a:r>
              <a:rPr lang="en-US" sz="1300" b="1" spc="200" kern="0" dirty="0">
                <a:solidFill>
                  <a:srgbClr val="A87C45"/>
                </a:solidFill>
                <a:latin typeface="DM Sans" pitchFamily="34" charset="0"/>
                <a:ea typeface="DM Sans" pitchFamily="34" charset="-122"/>
                <a:cs typeface="DM Sans" pitchFamily="34" charset="-120"/>
              </a:rPr>
              <a:t>COMPETENCIA</a:t>
            </a:r>
            <a:endParaRPr lang="en-US" sz="1300" dirty="0"/>
          </a:p>
        </p:txBody>
      </p:sp>
      <p:sp>
        <p:nvSpPr>
          <p:cNvPr id="3" name="Text 1"/>
          <p:cNvSpPr txBox="1"/>
          <p:nvPr/>
        </p:nvSpPr>
        <p:spPr>
          <a:xfrm>
            <a:off x="548640" y="822960"/>
            <a:ext cx="11094415" cy="822960"/>
          </a:xfrm>
          <a:prstGeom prst="rect">
            <a:avLst/>
          </a:prstGeom>
          <a:noFill/>
          <a:ln/>
        </p:spPr>
        <p:txBody>
          <a:bodyPr wrap="square" lIns="0" tIns="0" rIns="0" bIns="0" rtlCol="0" anchor="ctr"/>
          <a:lstStyle/>
          <a:p>
            <a:pPr algn="l" indent="0" marL="0">
              <a:buNone/>
            </a:pPr>
            <a:r>
              <a:rPr lang="en-US" sz="3400" b="1" dirty="0">
                <a:solidFill>
                  <a:srgbClr val="241F1D"/>
                </a:solidFill>
                <a:latin typeface="Cormorant Garamond" pitchFamily="34" charset="0"/>
                <a:ea typeface="Cormorant Garamond" pitchFamily="34" charset="-122"/>
                <a:cs typeface="Cormorant Garamond" pitchFamily="34" charset="-120"/>
              </a:rPr>
              <a:t>Competencia y diferenciación</a:t>
            </a:r>
            <a:endParaRPr lang="en-US" sz="34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2834640"/>
        </p:xfrm>
        <a:graphic>
          <a:graphicData uri="http://schemas.openxmlformats.org/drawingml/2006/table">
            <a:tbl>
              <a:tblPr/>
              <a:tblGrid>
                <a:gridCol w="3657600"/>
                <a:gridCol w="2130552"/>
                <a:gridCol w="2130552"/>
                <a:gridCol w="2130552"/>
                <a:gridCol w="2130552"/>
              </a:tblGrid>
              <a:tr h="472440">
                <a:tc>
                  <a:txBody>
                    <a:bodyPr/>
                    <a:lstStyle/>
                    <a:p>
                      <a:pPr algn="l" indent="0" marL="0">
                        <a:buNone/>
                      </a:pPr>
                      <a:r>
                        <a:rPr lang="en-US" sz="1300" b="1" dirty="0">
                          <a:solidFill>
                            <a:srgbClr val="F5E9E2"/>
                          </a:solidFill>
                          <a:latin typeface="DM Sans" pitchFamily="34" charset="0"/>
                          <a:ea typeface="DM Sans" pitchFamily="34" charset="-122"/>
                          <a:cs typeface="DM Sans" pitchFamily="34" charset="-120"/>
                        </a:rPr>
                        <a:t>Producto</a:t>
                      </a:r>
                      <a:endParaRPr lang="en-US" sz="1300" dirty="0">
                        <a:latin typeface="DM Sans" charset="0"/>
                        <a:ea typeface="DM Sans" charset="0"/>
                        <a:cs typeface="DM Sans"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41F1D"/>
                    </a:solidFill>
                  </a:tcPr>
                </a:tc>
                <a:tc>
                  <a:txBody>
                    <a:bodyPr/>
                    <a:lstStyle/>
                    <a:p>
                      <a:pPr algn="ctr" indent="0" marL="0">
                        <a:buNone/>
                      </a:pPr>
                      <a:r>
                        <a:rPr lang="en-US" sz="1300" b="1" dirty="0">
                          <a:solidFill>
                            <a:srgbClr val="F5E9E2"/>
                          </a:solidFill>
                          <a:latin typeface="DM Sans" pitchFamily="34" charset="0"/>
                          <a:ea typeface="DM Sans" pitchFamily="34" charset="-122"/>
                          <a:cs typeface="DM Sans" pitchFamily="34" charset="-120"/>
                        </a:rPr>
                        <a:t>Limpieza</a:t>
                      </a:r>
                      <a:endParaRPr lang="en-US" sz="1300" dirty="0">
                        <a:latin typeface="DM Sans" charset="0"/>
                        <a:ea typeface="DM Sans" charset="0"/>
                        <a:cs typeface="DM Sans"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41F1D"/>
                    </a:solidFill>
                  </a:tcPr>
                </a:tc>
                <a:tc>
                  <a:txBody>
                    <a:bodyPr/>
                    <a:lstStyle/>
                    <a:p>
                      <a:pPr algn="ctr" indent="0" marL="0">
                        <a:buNone/>
                      </a:pPr>
                      <a:r>
                        <a:rPr lang="en-US" sz="1300" b="1" dirty="0">
                          <a:solidFill>
                            <a:srgbClr val="F5E9E2"/>
                          </a:solidFill>
                          <a:latin typeface="DM Sans" pitchFamily="34" charset="0"/>
                          <a:ea typeface="DM Sans" pitchFamily="34" charset="-122"/>
                          <a:cs typeface="DM Sans" pitchFamily="34" charset="-120"/>
                        </a:rPr>
                        <a:t>Enjuague</a:t>
                      </a:r>
                      <a:endParaRPr lang="en-US" sz="1300" dirty="0">
                        <a:latin typeface="DM Sans" charset="0"/>
                        <a:ea typeface="DM Sans" charset="0"/>
                        <a:cs typeface="DM Sans"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41F1D"/>
                    </a:solidFill>
                  </a:tcPr>
                </a:tc>
                <a:tc>
                  <a:txBody>
                    <a:bodyPr/>
                    <a:lstStyle/>
                    <a:p>
                      <a:pPr algn="ctr" indent="0" marL="0">
                        <a:buNone/>
                      </a:pPr>
                      <a:r>
                        <a:rPr lang="en-US" sz="1300" b="1" dirty="0">
                          <a:solidFill>
                            <a:srgbClr val="F5E9E2"/>
                          </a:solidFill>
                          <a:latin typeface="DM Sans" pitchFamily="34" charset="0"/>
                          <a:ea typeface="DM Sans" pitchFamily="34" charset="-122"/>
                          <a:cs typeface="DM Sans" pitchFamily="34" charset="-120"/>
                        </a:rPr>
                        <a:t>Desinfección</a:t>
                      </a:r>
                      <a:endParaRPr lang="en-US" sz="1300" dirty="0">
                        <a:latin typeface="DM Sans" charset="0"/>
                        <a:ea typeface="DM Sans" charset="0"/>
                        <a:cs typeface="DM Sans"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41F1D"/>
                    </a:solidFill>
                  </a:tcPr>
                </a:tc>
                <a:tc>
                  <a:txBody>
                    <a:bodyPr/>
                    <a:lstStyle/>
                    <a:p>
                      <a:pPr algn="ctr" indent="0" marL="0">
                        <a:buNone/>
                      </a:pPr>
                      <a:r>
                        <a:rPr lang="en-US" sz="1300" b="1" dirty="0">
                          <a:solidFill>
                            <a:srgbClr val="F5E9E2"/>
                          </a:solidFill>
                          <a:latin typeface="DM Sans" pitchFamily="34" charset="0"/>
                          <a:ea typeface="DM Sans" pitchFamily="34" charset="-122"/>
                          <a:cs typeface="DM Sans" pitchFamily="34" charset="-120"/>
                        </a:rPr>
                        <a:t>Secado</a:t>
                      </a:r>
                      <a:endParaRPr lang="en-US" sz="1300" dirty="0">
                        <a:latin typeface="DM Sans" charset="0"/>
                        <a:ea typeface="DM Sans" charset="0"/>
                        <a:cs typeface="DM Sans"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41F1D"/>
                    </a:solidFill>
                  </a:tcPr>
                </a:tc>
              </a:tr>
              <a:tr h="472440">
                <a:tc>
                  <a:txBody>
                    <a:bodyPr/>
                    <a:lstStyle/>
                    <a:p>
                      <a:pPr algn="l" indent="0" marL="0">
                        <a:buNone/>
                      </a:pPr>
                      <a:r>
                        <a:rPr lang="en-US" sz="1300" dirty="0">
                          <a:solidFill>
                            <a:srgbClr val="2B2420"/>
                          </a:solidFill>
                          <a:latin typeface="DM Sans" pitchFamily="34" charset="0"/>
                          <a:ea typeface="DM Sans" pitchFamily="34" charset="-122"/>
                          <a:cs typeface="DM Sans" pitchFamily="34" charset="-120"/>
                        </a:rPr>
                        <a:t>Lavado manual</a:t>
                      </a:r>
                      <a:endParaRPr lang="en-US" sz="1300" dirty="0">
                        <a:latin typeface="DM Sans" charset="0"/>
                        <a:ea typeface="DM Sans" charset="0"/>
                        <a:cs typeface="DM Sans"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300" dirty="0">
                          <a:solidFill>
                            <a:srgbClr val="2B2420"/>
                          </a:solidFill>
                          <a:latin typeface="DM Sans" pitchFamily="34" charset="0"/>
                          <a:ea typeface="DM Sans" pitchFamily="34" charset="-122"/>
                          <a:cs typeface="DM Sans" pitchFamily="34" charset="-120"/>
                        </a:rPr>
                        <a:t>Sí</a:t>
                      </a:r>
                      <a:endParaRPr lang="en-US" sz="1300" dirty="0">
                        <a:latin typeface="DM Sans" charset="0"/>
                        <a:ea typeface="DM Sans" charset="0"/>
                        <a:cs typeface="DM Sans"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300" dirty="0">
                          <a:solidFill>
                            <a:srgbClr val="2B2420"/>
                          </a:solidFill>
                          <a:latin typeface="DM Sans" pitchFamily="34" charset="0"/>
                          <a:ea typeface="DM Sans" pitchFamily="34" charset="-122"/>
                          <a:cs typeface="DM Sans" pitchFamily="34" charset="-120"/>
                        </a:rPr>
                        <a:t>Parcial</a:t>
                      </a:r>
                      <a:endParaRPr lang="en-US" sz="1300" dirty="0">
                        <a:latin typeface="DM Sans" charset="0"/>
                        <a:ea typeface="DM Sans" charset="0"/>
                        <a:cs typeface="DM Sans"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300" dirty="0">
                          <a:solidFill>
                            <a:srgbClr val="2B2420"/>
                          </a:solidFill>
                          <a:latin typeface="DM Sans" pitchFamily="34" charset="0"/>
                          <a:ea typeface="DM Sans" pitchFamily="34" charset="-122"/>
                          <a:cs typeface="DM Sans" pitchFamily="34" charset="-120"/>
                        </a:rPr>
                        <a:t>No</a:t>
                      </a:r>
                      <a:endParaRPr lang="en-US" sz="1300" dirty="0">
                        <a:latin typeface="DM Sans" charset="0"/>
                        <a:ea typeface="DM Sans" charset="0"/>
                        <a:cs typeface="DM Sans"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300" dirty="0">
                          <a:solidFill>
                            <a:srgbClr val="2B2420"/>
                          </a:solidFill>
                          <a:latin typeface="DM Sans" pitchFamily="34" charset="0"/>
                          <a:ea typeface="DM Sans" pitchFamily="34" charset="-122"/>
                          <a:cs typeface="DM Sans" pitchFamily="34" charset="-120"/>
                        </a:rPr>
                        <a:t>No (horas)</a:t>
                      </a:r>
                      <a:endParaRPr lang="en-US" sz="1300" dirty="0">
                        <a:latin typeface="DM Sans" charset="0"/>
                        <a:ea typeface="DM Sans" charset="0"/>
                        <a:cs typeface="DM Sans"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r>
              <a:tr h="472440">
                <a:tc>
                  <a:txBody>
                    <a:bodyPr/>
                    <a:lstStyle/>
                    <a:p>
                      <a:pPr algn="l" indent="0" marL="0">
                        <a:buNone/>
                      </a:pPr>
                      <a:r>
                        <a:rPr lang="en-US" sz="1300" dirty="0">
                          <a:solidFill>
                            <a:srgbClr val="2B2420"/>
                          </a:solidFill>
                          <a:latin typeface="DM Sans" pitchFamily="34" charset="0"/>
                          <a:ea typeface="DM Sans" pitchFamily="34" charset="-122"/>
                          <a:cs typeface="DM Sans" pitchFamily="34" charset="-120"/>
                        </a:rPr>
                        <a:t>Blendercleanser (Beautyblender)</a:t>
                      </a:r>
                      <a:endParaRPr lang="en-US" sz="1300" dirty="0">
                        <a:latin typeface="DM Sans" charset="0"/>
                        <a:ea typeface="DM Sans" charset="0"/>
                        <a:cs typeface="DM Sans"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7EFEA"/>
                    </a:solidFill>
                  </a:tcPr>
                </a:tc>
                <a:tc>
                  <a:txBody>
                    <a:bodyPr/>
                    <a:lstStyle/>
                    <a:p>
                      <a:pPr algn="ctr" indent="0" marL="0">
                        <a:buNone/>
                      </a:pPr>
                      <a:r>
                        <a:rPr lang="en-US" sz="1300" dirty="0">
                          <a:solidFill>
                            <a:srgbClr val="2B2420"/>
                          </a:solidFill>
                          <a:latin typeface="DM Sans" pitchFamily="34" charset="0"/>
                          <a:ea typeface="DM Sans" pitchFamily="34" charset="-122"/>
                          <a:cs typeface="DM Sans" pitchFamily="34" charset="-120"/>
                        </a:rPr>
                        <a:t>Sí</a:t>
                      </a:r>
                      <a:endParaRPr lang="en-US" sz="1300" dirty="0">
                        <a:latin typeface="DM Sans" charset="0"/>
                        <a:ea typeface="DM Sans" charset="0"/>
                        <a:cs typeface="DM Sans"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7EFEA"/>
                    </a:solidFill>
                  </a:tcPr>
                </a:tc>
                <a:tc>
                  <a:txBody>
                    <a:bodyPr/>
                    <a:lstStyle/>
                    <a:p>
                      <a:pPr algn="ctr" indent="0" marL="0">
                        <a:buNone/>
                      </a:pPr>
                      <a:r>
                        <a:rPr lang="en-US" sz="1300" dirty="0">
                          <a:solidFill>
                            <a:srgbClr val="2B2420"/>
                          </a:solidFill>
                          <a:latin typeface="DM Sans" pitchFamily="34" charset="0"/>
                          <a:ea typeface="DM Sans" pitchFamily="34" charset="-122"/>
                          <a:cs typeface="DM Sans" pitchFamily="34" charset="-120"/>
                        </a:rPr>
                        <a:t>Manual</a:t>
                      </a:r>
                      <a:endParaRPr lang="en-US" sz="1300" dirty="0">
                        <a:latin typeface="DM Sans" charset="0"/>
                        <a:ea typeface="DM Sans" charset="0"/>
                        <a:cs typeface="DM Sans"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7EFEA"/>
                    </a:solidFill>
                  </a:tcPr>
                </a:tc>
                <a:tc>
                  <a:txBody>
                    <a:bodyPr/>
                    <a:lstStyle/>
                    <a:p>
                      <a:pPr algn="ctr" indent="0" marL="0">
                        <a:buNone/>
                      </a:pPr>
                      <a:r>
                        <a:rPr lang="en-US" sz="1300" dirty="0">
                          <a:solidFill>
                            <a:srgbClr val="2B2420"/>
                          </a:solidFill>
                          <a:latin typeface="DM Sans" pitchFamily="34" charset="0"/>
                          <a:ea typeface="DM Sans" pitchFamily="34" charset="-122"/>
                          <a:cs typeface="DM Sans" pitchFamily="34" charset="-120"/>
                        </a:rPr>
                        <a:t>No</a:t>
                      </a:r>
                      <a:endParaRPr lang="en-US" sz="1300" dirty="0">
                        <a:latin typeface="DM Sans" charset="0"/>
                        <a:ea typeface="DM Sans" charset="0"/>
                        <a:cs typeface="DM Sans"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7EFEA"/>
                    </a:solidFill>
                  </a:tcPr>
                </a:tc>
                <a:tc>
                  <a:txBody>
                    <a:bodyPr/>
                    <a:lstStyle/>
                    <a:p>
                      <a:pPr algn="ctr" indent="0" marL="0">
                        <a:buNone/>
                      </a:pPr>
                      <a:r>
                        <a:rPr lang="en-US" sz="1300" dirty="0">
                          <a:solidFill>
                            <a:srgbClr val="2B2420"/>
                          </a:solidFill>
                          <a:latin typeface="DM Sans" pitchFamily="34" charset="0"/>
                          <a:ea typeface="DM Sans" pitchFamily="34" charset="-122"/>
                          <a:cs typeface="DM Sans" pitchFamily="34" charset="-120"/>
                        </a:rPr>
                        <a:t>No</a:t>
                      </a:r>
                      <a:endParaRPr lang="en-US" sz="1300" dirty="0">
                        <a:latin typeface="DM Sans" charset="0"/>
                        <a:ea typeface="DM Sans" charset="0"/>
                        <a:cs typeface="DM Sans"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7EFEA"/>
                    </a:solidFill>
                  </a:tcPr>
                </a:tc>
              </a:tr>
              <a:tr h="472440">
                <a:tc>
                  <a:txBody>
                    <a:bodyPr/>
                    <a:lstStyle/>
                    <a:p>
                      <a:pPr algn="l" indent="0" marL="0">
                        <a:buNone/>
                      </a:pPr>
                      <a:r>
                        <a:rPr lang="en-US" sz="1300" dirty="0">
                          <a:solidFill>
                            <a:srgbClr val="2B2420"/>
                          </a:solidFill>
                          <a:latin typeface="DM Sans" pitchFamily="34" charset="0"/>
                          <a:ea typeface="DM Sans" pitchFamily="34" charset="-122"/>
                          <a:cs typeface="DM Sans" pitchFamily="34" charset="-120"/>
                        </a:rPr>
                        <a:t>Dispositivos genéricos</a:t>
                      </a:r>
                      <a:endParaRPr lang="en-US" sz="1300" dirty="0">
                        <a:latin typeface="DM Sans" charset="0"/>
                        <a:ea typeface="DM Sans" charset="0"/>
                        <a:cs typeface="DM Sans"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300" dirty="0">
                          <a:solidFill>
                            <a:srgbClr val="2B2420"/>
                          </a:solidFill>
                          <a:latin typeface="DM Sans" pitchFamily="34" charset="0"/>
                          <a:ea typeface="DM Sans" pitchFamily="34" charset="-122"/>
                          <a:cs typeface="DM Sans" pitchFamily="34" charset="-120"/>
                        </a:rPr>
                        <a:t>Sí</a:t>
                      </a:r>
                      <a:endParaRPr lang="en-US" sz="1300" dirty="0">
                        <a:latin typeface="DM Sans" charset="0"/>
                        <a:ea typeface="DM Sans" charset="0"/>
                        <a:cs typeface="DM Sans"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300" dirty="0">
                          <a:solidFill>
                            <a:srgbClr val="2B2420"/>
                          </a:solidFill>
                          <a:latin typeface="DM Sans" pitchFamily="34" charset="0"/>
                          <a:ea typeface="DM Sans" pitchFamily="34" charset="-122"/>
                          <a:cs typeface="DM Sans" pitchFamily="34" charset="-120"/>
                        </a:rPr>
                        <a:t>Parcial</a:t>
                      </a:r>
                      <a:endParaRPr lang="en-US" sz="1300" dirty="0">
                        <a:latin typeface="DM Sans" charset="0"/>
                        <a:ea typeface="DM Sans" charset="0"/>
                        <a:cs typeface="DM Sans"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300" dirty="0">
                          <a:solidFill>
                            <a:srgbClr val="2B2420"/>
                          </a:solidFill>
                          <a:latin typeface="DM Sans" pitchFamily="34" charset="0"/>
                          <a:ea typeface="DM Sans" pitchFamily="34" charset="-122"/>
                          <a:cs typeface="DM Sans" pitchFamily="34" charset="-120"/>
                        </a:rPr>
                        <a:t>No</a:t>
                      </a:r>
                      <a:endParaRPr lang="en-US" sz="1300" dirty="0">
                        <a:latin typeface="DM Sans" charset="0"/>
                        <a:ea typeface="DM Sans" charset="0"/>
                        <a:cs typeface="DM Sans"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300" dirty="0">
                          <a:solidFill>
                            <a:srgbClr val="2B2420"/>
                          </a:solidFill>
                          <a:latin typeface="DM Sans" pitchFamily="34" charset="0"/>
                          <a:ea typeface="DM Sans" pitchFamily="34" charset="-122"/>
                          <a:cs typeface="DM Sans" pitchFamily="34" charset="-120"/>
                        </a:rPr>
                        <a:t>No</a:t>
                      </a:r>
                      <a:endParaRPr lang="en-US" sz="1300" dirty="0">
                        <a:latin typeface="DM Sans" charset="0"/>
                        <a:ea typeface="DM Sans" charset="0"/>
                        <a:cs typeface="DM Sans"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r>
              <a:tr h="472440">
                <a:tc>
                  <a:txBody>
                    <a:bodyPr/>
                    <a:lstStyle/>
                    <a:p>
                      <a:pPr algn="l" indent="0" marL="0">
                        <a:buNone/>
                      </a:pPr>
                      <a:r>
                        <a:rPr lang="en-US" sz="1300" dirty="0">
                          <a:solidFill>
                            <a:srgbClr val="2B2420"/>
                          </a:solidFill>
                          <a:latin typeface="DM Sans" pitchFamily="34" charset="0"/>
                          <a:ea typeface="DM Sans" pitchFamily="34" charset="-122"/>
                          <a:cs typeface="DM Sans" pitchFamily="34" charset="-120"/>
                        </a:rPr>
                        <a:t>STYLPRO Squeeze Sponge Cleaner</a:t>
                      </a:r>
                      <a:endParaRPr lang="en-US" sz="1300" dirty="0">
                        <a:latin typeface="DM Sans" charset="0"/>
                        <a:ea typeface="DM Sans" charset="0"/>
                        <a:cs typeface="DM Sans"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7EFEA"/>
                    </a:solidFill>
                  </a:tcPr>
                </a:tc>
                <a:tc>
                  <a:txBody>
                    <a:bodyPr/>
                    <a:lstStyle/>
                    <a:p>
                      <a:pPr algn="ctr" indent="0" marL="0">
                        <a:buNone/>
                      </a:pPr>
                      <a:r>
                        <a:rPr lang="en-US" sz="1300" dirty="0">
                          <a:solidFill>
                            <a:srgbClr val="2B2420"/>
                          </a:solidFill>
                          <a:latin typeface="DM Sans" pitchFamily="34" charset="0"/>
                          <a:ea typeface="DM Sans" pitchFamily="34" charset="-122"/>
                          <a:cs typeface="DM Sans" pitchFamily="34" charset="-120"/>
                        </a:rPr>
                        <a:t>Sí</a:t>
                      </a:r>
                      <a:endParaRPr lang="en-US" sz="1300" dirty="0">
                        <a:latin typeface="DM Sans" charset="0"/>
                        <a:ea typeface="DM Sans" charset="0"/>
                        <a:cs typeface="DM Sans"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7EFEA"/>
                    </a:solidFill>
                  </a:tcPr>
                </a:tc>
                <a:tc>
                  <a:txBody>
                    <a:bodyPr/>
                    <a:lstStyle/>
                    <a:p>
                      <a:pPr algn="ctr" indent="0" marL="0">
                        <a:buNone/>
                      </a:pPr>
                      <a:r>
                        <a:rPr lang="en-US" sz="1300" dirty="0">
                          <a:solidFill>
                            <a:srgbClr val="2B2420"/>
                          </a:solidFill>
                          <a:latin typeface="DM Sans" pitchFamily="34" charset="0"/>
                          <a:ea typeface="DM Sans" pitchFamily="34" charset="-122"/>
                          <a:cs typeface="DM Sans" pitchFamily="34" charset="-120"/>
                        </a:rPr>
                        <a:t>Sí</a:t>
                      </a:r>
                      <a:endParaRPr lang="en-US" sz="1300" dirty="0">
                        <a:latin typeface="DM Sans" charset="0"/>
                        <a:ea typeface="DM Sans" charset="0"/>
                        <a:cs typeface="DM Sans"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7EFEA"/>
                    </a:solidFill>
                  </a:tcPr>
                </a:tc>
                <a:tc>
                  <a:txBody>
                    <a:bodyPr/>
                    <a:lstStyle/>
                    <a:p>
                      <a:pPr algn="ctr" indent="0" marL="0">
                        <a:buNone/>
                      </a:pPr>
                      <a:r>
                        <a:rPr lang="en-US" sz="1300" dirty="0">
                          <a:solidFill>
                            <a:srgbClr val="2B2420"/>
                          </a:solidFill>
                          <a:latin typeface="DM Sans" pitchFamily="34" charset="0"/>
                          <a:ea typeface="DM Sans" pitchFamily="34" charset="-122"/>
                          <a:cs typeface="DM Sans" pitchFamily="34" charset="-120"/>
                        </a:rPr>
                        <a:t>No</a:t>
                      </a:r>
                      <a:endParaRPr lang="en-US" sz="1300" dirty="0">
                        <a:latin typeface="DM Sans" charset="0"/>
                        <a:ea typeface="DM Sans" charset="0"/>
                        <a:cs typeface="DM Sans"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7EFEA"/>
                    </a:solidFill>
                  </a:tcPr>
                </a:tc>
                <a:tc>
                  <a:txBody>
                    <a:bodyPr/>
                    <a:lstStyle/>
                    <a:p>
                      <a:pPr algn="ctr" indent="0" marL="0">
                        <a:buNone/>
                      </a:pPr>
                      <a:r>
                        <a:rPr lang="en-US" sz="1300" dirty="0">
                          <a:solidFill>
                            <a:srgbClr val="2B2420"/>
                          </a:solidFill>
                          <a:latin typeface="DM Sans" pitchFamily="34" charset="0"/>
                          <a:ea typeface="DM Sans" pitchFamily="34" charset="-122"/>
                          <a:cs typeface="DM Sans" pitchFamily="34" charset="-120"/>
                        </a:rPr>
                        <a:t>No automático</a:t>
                      </a:r>
                      <a:endParaRPr lang="en-US" sz="1300" dirty="0">
                        <a:latin typeface="DM Sans" charset="0"/>
                        <a:ea typeface="DM Sans" charset="0"/>
                        <a:cs typeface="DM Sans"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7EFEA"/>
                    </a:solidFill>
                  </a:tcPr>
                </a:tc>
              </a:tr>
              <a:tr h="472440">
                <a:tc>
                  <a:txBody>
                    <a:bodyPr/>
                    <a:lstStyle/>
                    <a:p>
                      <a:pPr algn="l" indent="0" marL="0">
                        <a:buNone/>
                      </a:pPr>
                      <a:r>
                        <a:rPr lang="en-US" sz="1300" b="1" dirty="0">
                          <a:solidFill>
                            <a:srgbClr val="2B1715"/>
                          </a:solidFill>
                          <a:latin typeface="DM Sans" pitchFamily="34" charset="0"/>
                          <a:ea typeface="DM Sans" pitchFamily="34" charset="-122"/>
                          <a:cs typeface="DM Sans" pitchFamily="34" charset="-120"/>
                        </a:rPr>
                        <a:t>BLENDPURE</a:t>
                      </a:r>
                      <a:endParaRPr lang="en-US" sz="1300" dirty="0">
                        <a:latin typeface="DM Sans" charset="0"/>
                        <a:ea typeface="DM Sans" charset="0"/>
                        <a:cs typeface="DM Sans"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D98C86"/>
                    </a:solidFill>
                  </a:tcPr>
                </a:tc>
                <a:tc>
                  <a:txBody>
                    <a:bodyPr/>
                    <a:lstStyle/>
                    <a:p>
                      <a:pPr algn="ctr" indent="0" marL="0">
                        <a:buNone/>
                      </a:pPr>
                      <a:r>
                        <a:rPr lang="en-US" sz="1300" b="1" dirty="0">
                          <a:solidFill>
                            <a:srgbClr val="2B1715"/>
                          </a:solidFill>
                          <a:latin typeface="DM Sans" pitchFamily="34" charset="0"/>
                          <a:ea typeface="DM Sans" pitchFamily="34" charset="-122"/>
                          <a:cs typeface="DM Sans" pitchFamily="34" charset="-120"/>
                        </a:rPr>
                        <a:t>Sí</a:t>
                      </a:r>
                      <a:endParaRPr lang="en-US" sz="1300" dirty="0">
                        <a:latin typeface="DM Sans" charset="0"/>
                        <a:ea typeface="DM Sans" charset="0"/>
                        <a:cs typeface="DM Sans"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D98C86"/>
                    </a:solidFill>
                  </a:tcPr>
                </a:tc>
                <a:tc>
                  <a:txBody>
                    <a:bodyPr/>
                    <a:lstStyle/>
                    <a:p>
                      <a:pPr algn="ctr" indent="0" marL="0">
                        <a:buNone/>
                      </a:pPr>
                      <a:r>
                        <a:rPr lang="en-US" sz="1300" b="1" dirty="0">
                          <a:solidFill>
                            <a:srgbClr val="2B1715"/>
                          </a:solidFill>
                          <a:latin typeface="DM Sans" pitchFamily="34" charset="0"/>
                          <a:ea typeface="DM Sans" pitchFamily="34" charset="-122"/>
                          <a:cs typeface="DM Sans" pitchFamily="34" charset="-120"/>
                        </a:rPr>
                        <a:t>Sí</a:t>
                      </a:r>
                      <a:endParaRPr lang="en-US" sz="1300" dirty="0">
                        <a:latin typeface="DM Sans" charset="0"/>
                        <a:ea typeface="DM Sans" charset="0"/>
                        <a:cs typeface="DM Sans"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D98C86"/>
                    </a:solidFill>
                  </a:tcPr>
                </a:tc>
                <a:tc>
                  <a:txBody>
                    <a:bodyPr/>
                    <a:lstStyle/>
                    <a:p>
                      <a:pPr algn="ctr" indent="0" marL="0">
                        <a:buNone/>
                      </a:pPr>
                      <a:r>
                        <a:rPr lang="en-US" sz="1300" b="1" dirty="0">
                          <a:solidFill>
                            <a:srgbClr val="2B1715"/>
                          </a:solidFill>
                          <a:latin typeface="DM Sans" pitchFamily="34" charset="0"/>
                          <a:ea typeface="DM Sans" pitchFamily="34" charset="-122"/>
                          <a:cs typeface="DM Sans" pitchFamily="34" charset="-120"/>
                        </a:rPr>
                        <a:t>Sí (UV-C)</a:t>
                      </a:r>
                      <a:endParaRPr lang="en-US" sz="1300" dirty="0">
                        <a:latin typeface="DM Sans" charset="0"/>
                        <a:ea typeface="DM Sans" charset="0"/>
                        <a:cs typeface="DM Sans"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D98C86"/>
                    </a:solidFill>
                  </a:tcPr>
                </a:tc>
                <a:tc>
                  <a:txBody>
                    <a:bodyPr/>
                    <a:lstStyle/>
                    <a:p>
                      <a:pPr algn="ctr" indent="0" marL="0">
                        <a:buNone/>
                      </a:pPr>
                      <a:r>
                        <a:rPr lang="en-US" sz="1300" b="1" dirty="0">
                          <a:solidFill>
                            <a:srgbClr val="2B1715"/>
                          </a:solidFill>
                          <a:latin typeface="DM Sans" pitchFamily="34" charset="0"/>
                          <a:ea typeface="DM Sans" pitchFamily="34" charset="-122"/>
                          <a:cs typeface="DM Sans" pitchFamily="34" charset="-120"/>
                        </a:rPr>
                        <a:t>Sí (aire frío)</a:t>
                      </a:r>
                      <a:endParaRPr lang="en-US" sz="1300" dirty="0">
                        <a:latin typeface="DM Sans" charset="0"/>
                        <a:ea typeface="DM Sans" charset="0"/>
                        <a:cs typeface="DM Sans"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D98C86"/>
                    </a:solidFill>
                  </a:tcPr>
                </a:tc>
              </a:tr>
            </a:tbl>
          </a:graphicData>
        </a:graphic>
      </p:graphicFrame>
      <p:sp>
        <p:nvSpPr>
          <p:cNvPr id="5" name="Shape 2"/>
          <p:cNvSpPr/>
          <p:nvPr/>
        </p:nvSpPr>
        <p:spPr>
          <a:xfrm>
            <a:off x="548640" y="4846320"/>
            <a:ext cx="11094415" cy="1005840"/>
          </a:xfrm>
          <a:prstGeom prst="roundRect">
            <a:avLst>
              <a:gd name="adj" fmla="val 9091"/>
            </a:avLst>
          </a:prstGeom>
          <a:solidFill>
            <a:srgbClr val="241F1D"/>
          </a:solidFill>
          <a:ln/>
        </p:spPr>
      </p:sp>
      <p:sp>
        <p:nvSpPr>
          <p:cNvPr id="6" name="Text 3"/>
          <p:cNvSpPr txBox="1"/>
          <p:nvPr/>
        </p:nvSpPr>
        <p:spPr>
          <a:xfrm>
            <a:off x="868680" y="4846320"/>
            <a:ext cx="10454335" cy="1005840"/>
          </a:xfrm>
          <a:prstGeom prst="rect">
            <a:avLst/>
          </a:prstGeom>
          <a:noFill/>
          <a:ln/>
        </p:spPr>
        <p:txBody>
          <a:bodyPr wrap="square" lIns="0" tIns="0" rIns="0" bIns="0" rtlCol="0" anchor="ctr"/>
          <a:lstStyle/>
          <a:p>
            <a:pPr algn="l" indent="0" marL="0">
              <a:buNone/>
            </a:pPr>
            <a:r>
              <a:rPr lang="en-US" sz="1500" dirty="0">
                <a:solidFill>
                  <a:srgbClr val="F5E9E2"/>
                </a:solidFill>
                <a:latin typeface="DM Sans" pitchFamily="34" charset="0"/>
                <a:ea typeface="DM Sans" pitchFamily="34" charset="-122"/>
                <a:cs typeface="DM Sans" pitchFamily="34" charset="-120"/>
              </a:rPr>
              <a:t>Actualmente </a:t>
            </a:r>
            <a:pPr algn="l" indent="0" marL="0">
              <a:buNone/>
            </a:pPr>
            <a:r>
              <a:rPr lang="en-US" sz="1500" b="1" dirty="0">
                <a:solidFill>
                  <a:srgbClr val="F5E9E2"/>
                </a:solidFill>
                <a:latin typeface="DM Sans" pitchFamily="34" charset="0"/>
                <a:ea typeface="DM Sans" pitchFamily="34" charset="-122"/>
                <a:cs typeface="DM Sans" pitchFamily="34" charset="-120"/>
              </a:rPr>
              <a:t>no encontramos un competidor directo</a:t>
            </a:r>
            <a:pPr algn="l" indent="0" marL="0">
              <a:buNone/>
            </a:pPr>
            <a:r>
              <a:rPr lang="en-US" sz="1500" dirty="0">
                <a:solidFill>
                  <a:srgbClr val="F5E9E2"/>
                </a:solidFill>
                <a:latin typeface="DM Sans" pitchFamily="34" charset="0"/>
                <a:ea typeface="DM Sans" pitchFamily="34" charset="-122"/>
                <a:cs typeface="DM Sans" pitchFamily="34" charset="-120"/>
              </a:rPr>
              <a:t> que integre las cuatro etapas en un solo ciclo, específicamente diseñado para esponjas.</a:t>
            </a:r>
            <a:endParaRPr lang="en-US" sz="1500" dirty="0"/>
          </a:p>
        </p:txBody>
      </p:sp>
      <p:sp>
        <p:nvSpPr>
          <p:cNvPr id="7" name="Text 4"/>
          <p:cNvSpPr txBox="1"/>
          <p:nvPr/>
        </p:nvSpPr>
        <p:spPr>
          <a:xfrm>
            <a:off x="548640" y="6355080"/>
            <a:ext cx="11094415" cy="365760"/>
          </a:xfrm>
          <a:prstGeom prst="rect">
            <a:avLst/>
          </a:prstGeom>
          <a:noFill/>
          <a:ln/>
        </p:spPr>
        <p:txBody>
          <a:bodyPr wrap="square" lIns="0" tIns="0" rIns="0" bIns="0" rtlCol="0" anchor="ctr"/>
          <a:lstStyle/>
          <a:p>
            <a:pPr indent="0" marL="0">
              <a:buNone/>
            </a:pPr>
            <a:r>
              <a:rPr lang="en-US" sz="1100" dirty="0">
                <a:solidFill>
                  <a:srgbClr val="8A7A73"/>
                </a:solidFill>
                <a:latin typeface="DM Sans" pitchFamily="34" charset="0"/>
                <a:ea typeface="DM Sans" pitchFamily="34" charset="-122"/>
                <a:cs typeface="DM Sans" pitchFamily="34" charset="-120"/>
              </a:rPr>
              <a:t>Fuentes: Stylideas (s.f.); Boots (s.f.); Beautyblender (s.f.); Salon Services (s.f.); comparativa completa en Anexo 5.</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5F1"/>
        </a:solidFill>
      </p:bgPr>
    </p:bg>
    <p:spTree>
      <p:nvGrpSpPr>
        <p:cNvPr id="1" name=""/>
        <p:cNvGrpSpPr/>
        <p:nvPr/>
      </p:nvGrpSpPr>
      <p:grpSpPr>
        <a:xfrm>
          <a:off x="0" y="0"/>
          <a:ext cx="0" cy="0"/>
          <a:chOff x="0" y="0"/>
          <a:chExt cx="0" cy="0"/>
        </a:xfrm>
      </p:grpSpPr>
      <p:sp>
        <p:nvSpPr>
          <p:cNvPr id="2" name="Text 0"/>
          <p:cNvSpPr txBox="1"/>
          <p:nvPr/>
        </p:nvSpPr>
        <p:spPr>
          <a:xfrm>
            <a:off x="548640" y="502920"/>
            <a:ext cx="11094415" cy="320040"/>
          </a:xfrm>
          <a:prstGeom prst="rect">
            <a:avLst/>
          </a:prstGeom>
          <a:noFill/>
          <a:ln/>
        </p:spPr>
        <p:txBody>
          <a:bodyPr wrap="square" lIns="0" tIns="0" rIns="0" bIns="0" rtlCol="0" anchor="ctr"/>
          <a:lstStyle/>
          <a:p>
            <a:pPr indent="0" marL="0">
              <a:buNone/>
            </a:pPr>
            <a:r>
              <a:rPr lang="en-US" sz="1300" b="1" spc="200" kern="0" dirty="0">
                <a:solidFill>
                  <a:srgbClr val="A87C45"/>
                </a:solidFill>
                <a:latin typeface="DM Sans" pitchFamily="34" charset="0"/>
                <a:ea typeface="DM Sans" pitchFamily="34" charset="-122"/>
                <a:cs typeface="DM Sans" pitchFamily="34" charset="-120"/>
              </a:rPr>
              <a:t>COMPETENCIA Y SUSTITUTOS</a:t>
            </a:r>
            <a:endParaRPr lang="en-US" sz="1300" dirty="0"/>
          </a:p>
        </p:txBody>
      </p:sp>
      <p:sp>
        <p:nvSpPr>
          <p:cNvPr id="3" name="Text 1"/>
          <p:cNvSpPr txBox="1"/>
          <p:nvPr/>
        </p:nvSpPr>
        <p:spPr>
          <a:xfrm>
            <a:off x="548640" y="822960"/>
            <a:ext cx="11094415" cy="822960"/>
          </a:xfrm>
          <a:prstGeom prst="rect">
            <a:avLst/>
          </a:prstGeom>
          <a:noFill/>
          <a:ln/>
        </p:spPr>
        <p:txBody>
          <a:bodyPr wrap="square" lIns="0" tIns="0" rIns="0" bIns="0" rtlCol="0" anchor="ctr"/>
          <a:lstStyle/>
          <a:p>
            <a:pPr algn="l" indent="0" marL="0">
              <a:buNone/>
            </a:pPr>
            <a:r>
              <a:rPr lang="en-US" sz="3000" b="1" dirty="0">
                <a:solidFill>
                  <a:srgbClr val="241F1D"/>
                </a:solidFill>
                <a:latin typeface="Cormorant Garamond" pitchFamily="34" charset="0"/>
                <a:ea typeface="Cormorant Garamond" pitchFamily="34" charset="-122"/>
                <a:cs typeface="Cormorant Garamond" pitchFamily="34" charset="-120"/>
              </a:rPr>
              <a:t>¿Cuánto cuestan hoy las alternativas?</a:t>
            </a:r>
            <a:endParaRPr lang="en-US" sz="3000" dirty="0"/>
          </a:p>
        </p:txBody>
      </p:sp>
      <p:sp>
        <p:nvSpPr>
          <p:cNvPr id="4" name="Shape 2"/>
          <p:cNvSpPr/>
          <p:nvPr/>
        </p:nvSpPr>
        <p:spPr>
          <a:xfrm>
            <a:off x="548640" y="1691640"/>
            <a:ext cx="6035040" cy="3429000"/>
          </a:xfrm>
          <a:prstGeom prst="roundRect">
            <a:avLst>
              <a:gd name="adj" fmla="val 3200"/>
            </a:avLst>
          </a:prstGeom>
          <a:solidFill>
            <a:srgbClr val="FFFFFF"/>
          </a:solidFill>
          <a:ln w="12700">
            <a:solidFill>
              <a:srgbClr val="EDE1D9"/>
            </a:solidFill>
            <a:prstDash val="solid"/>
          </a:ln>
        </p:spPr>
      </p:sp>
      <p:sp>
        <p:nvSpPr>
          <p:cNvPr id="5" name="Text 3"/>
          <p:cNvSpPr txBox="1"/>
          <p:nvPr/>
        </p:nvSpPr>
        <p:spPr>
          <a:xfrm>
            <a:off x="777240" y="1810512"/>
            <a:ext cx="5577840" cy="320040"/>
          </a:xfrm>
          <a:prstGeom prst="rect">
            <a:avLst/>
          </a:prstGeom>
          <a:noFill/>
          <a:ln/>
        </p:spPr>
        <p:txBody>
          <a:bodyPr wrap="square" lIns="0" tIns="0" rIns="0" bIns="0" rtlCol="0" anchor="ctr"/>
          <a:lstStyle/>
          <a:p>
            <a:pPr indent="0" marL="0">
              <a:buNone/>
            </a:pPr>
            <a:r>
              <a:rPr lang="en-US" sz="1300" b="1" dirty="0">
                <a:solidFill>
                  <a:srgbClr val="241F1D"/>
                </a:solidFill>
                <a:latin typeface="DM Sans" pitchFamily="34" charset="0"/>
                <a:ea typeface="DM Sans" pitchFamily="34" charset="-122"/>
                <a:cs typeface="DM Sans" pitchFamily="34" charset="-120"/>
              </a:rPr>
              <a:t>Costo promedio en COP (punto medio del rango)</a:t>
            </a:r>
            <a:endParaRPr lang="en-US" sz="1300" dirty="0"/>
          </a:p>
        </p:txBody>
      </p:sp>
      <p:graphicFrame>
        <p:nvGraphicFramePr>
          <p:cNvPr id="6" name="Chart 0" descr=""/>
          <p:cNvGraphicFramePr/>
          <p:nvPr/>
        </p:nvGraphicFramePr>
        <p:xfrm>
          <a:off x="640080" y="2194560"/>
          <a:ext cx="5852160" cy="283464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6766560" y="1691640"/>
            <a:ext cx="4873752" cy="777240"/>
          </a:xfrm>
          <a:prstGeom prst="roundRect">
            <a:avLst>
              <a:gd name="adj" fmla="val 11765"/>
            </a:avLst>
          </a:prstGeom>
          <a:solidFill>
            <a:srgbClr val="FFFFFF"/>
          </a:solidFill>
          <a:ln w="12700">
            <a:solidFill>
              <a:srgbClr val="EDE1D9"/>
            </a:solidFill>
            <a:prstDash val="solid"/>
          </a:ln>
        </p:spPr>
      </p:sp>
      <p:sp>
        <p:nvSpPr>
          <p:cNvPr id="8" name="Text 5"/>
          <p:cNvSpPr txBox="1"/>
          <p:nvPr/>
        </p:nvSpPr>
        <p:spPr>
          <a:xfrm>
            <a:off x="6949440" y="1746504"/>
            <a:ext cx="4526280" cy="274320"/>
          </a:xfrm>
          <a:prstGeom prst="rect">
            <a:avLst/>
          </a:prstGeom>
          <a:noFill/>
          <a:ln/>
        </p:spPr>
        <p:txBody>
          <a:bodyPr wrap="square" lIns="0" tIns="0" rIns="0" bIns="0" rtlCol="0" anchor="ctr"/>
          <a:lstStyle/>
          <a:p>
            <a:pPr indent="0" marL="0">
              <a:buNone/>
            </a:pPr>
            <a:r>
              <a:rPr lang="en-US" sz="1150" b="1" dirty="0">
                <a:solidFill>
                  <a:srgbClr val="241F1D"/>
                </a:solidFill>
                <a:latin typeface="DM Sans" pitchFamily="34" charset="0"/>
                <a:ea typeface="DM Sans" pitchFamily="34" charset="-122"/>
                <a:cs typeface="DM Sans" pitchFamily="34" charset="-120"/>
              </a:rPr>
              <a:t>Lavado manual (jabón y agua)</a:t>
            </a:r>
            <a:endParaRPr lang="en-US" sz="1150" dirty="0"/>
          </a:p>
        </p:txBody>
      </p:sp>
      <p:sp>
        <p:nvSpPr>
          <p:cNvPr id="9" name="Text 6"/>
          <p:cNvSpPr txBox="1"/>
          <p:nvPr/>
        </p:nvSpPr>
        <p:spPr>
          <a:xfrm>
            <a:off x="6949440" y="2020824"/>
            <a:ext cx="4526280" cy="411480"/>
          </a:xfrm>
          <a:prstGeom prst="rect">
            <a:avLst/>
          </a:prstGeom>
          <a:noFill/>
          <a:ln/>
        </p:spPr>
        <p:txBody>
          <a:bodyPr wrap="square" lIns="0" tIns="0" rIns="0" bIns="0" rtlCol="0" anchor="ctr"/>
          <a:lstStyle/>
          <a:p>
            <a:pPr indent="0" marL="0">
              <a:buNone/>
            </a:pPr>
            <a:r>
              <a:rPr lang="en-US" sz="1000" dirty="0">
                <a:solidFill>
                  <a:srgbClr val="5B5250"/>
                </a:solidFill>
                <a:latin typeface="DM Sans" pitchFamily="34" charset="0"/>
                <a:ea typeface="DM Sans" pitchFamily="34" charset="-122"/>
                <a:cs typeface="DM Sans" pitchFamily="34" charset="-120"/>
              </a:rPr>
              <a:t>Costo prácticamente nulo; es el sustituto dominante en la encuesta (46,9 % jabón; 9,5 % solo agua)</a:t>
            </a:r>
            <a:endParaRPr lang="en-US" sz="1000" dirty="0"/>
          </a:p>
        </p:txBody>
      </p:sp>
      <p:sp>
        <p:nvSpPr>
          <p:cNvPr id="10" name="Shape 7"/>
          <p:cNvSpPr/>
          <p:nvPr/>
        </p:nvSpPr>
        <p:spPr>
          <a:xfrm>
            <a:off x="6766560" y="2560320"/>
            <a:ext cx="4873752" cy="777240"/>
          </a:xfrm>
          <a:prstGeom prst="roundRect">
            <a:avLst>
              <a:gd name="adj" fmla="val 11765"/>
            </a:avLst>
          </a:prstGeom>
          <a:solidFill>
            <a:srgbClr val="FFFFFF"/>
          </a:solidFill>
          <a:ln w="12700">
            <a:solidFill>
              <a:srgbClr val="EDE1D9"/>
            </a:solidFill>
            <a:prstDash val="solid"/>
          </a:ln>
        </p:spPr>
      </p:sp>
      <p:sp>
        <p:nvSpPr>
          <p:cNvPr id="11" name="Text 8"/>
          <p:cNvSpPr txBox="1"/>
          <p:nvPr/>
        </p:nvSpPr>
        <p:spPr>
          <a:xfrm>
            <a:off x="6949440" y="2615184"/>
            <a:ext cx="4526280" cy="274320"/>
          </a:xfrm>
          <a:prstGeom prst="rect">
            <a:avLst/>
          </a:prstGeom>
          <a:noFill/>
          <a:ln/>
        </p:spPr>
        <p:txBody>
          <a:bodyPr wrap="square" lIns="0" tIns="0" rIns="0" bIns="0" rtlCol="0" anchor="ctr"/>
          <a:lstStyle/>
          <a:p>
            <a:pPr indent="0" marL="0">
              <a:buNone/>
            </a:pPr>
            <a:r>
              <a:rPr lang="en-US" sz="1150" b="1" dirty="0">
                <a:solidFill>
                  <a:srgbClr val="241F1D"/>
                </a:solidFill>
                <a:latin typeface="DM Sans" pitchFamily="34" charset="0"/>
                <a:ea typeface="DM Sans" pitchFamily="34" charset="-122"/>
                <a:cs typeface="DM Sans" pitchFamily="34" charset="-120"/>
              </a:rPr>
              <a:t>Limpiador Beautyblender Blendercleanser</a:t>
            </a:r>
            <a:endParaRPr lang="en-US" sz="1150" dirty="0"/>
          </a:p>
        </p:txBody>
      </p:sp>
      <p:sp>
        <p:nvSpPr>
          <p:cNvPr id="12" name="Text 9"/>
          <p:cNvSpPr txBox="1"/>
          <p:nvPr/>
        </p:nvSpPr>
        <p:spPr>
          <a:xfrm>
            <a:off x="6949440" y="2889504"/>
            <a:ext cx="4526280" cy="411480"/>
          </a:xfrm>
          <a:prstGeom prst="rect">
            <a:avLst/>
          </a:prstGeom>
          <a:noFill/>
          <a:ln/>
        </p:spPr>
        <p:txBody>
          <a:bodyPr wrap="square" lIns="0" tIns="0" rIns="0" bIns="0" rtlCol="0" anchor="ctr"/>
          <a:lstStyle/>
          <a:p>
            <a:pPr indent="0" marL="0">
              <a:buNone/>
            </a:pPr>
            <a:r>
              <a:rPr lang="en-US" sz="1000" dirty="0">
                <a:solidFill>
                  <a:srgbClr val="5B5250"/>
                </a:solidFill>
                <a:latin typeface="DM Sans" pitchFamily="34" charset="0"/>
                <a:ea typeface="DM Sans" pitchFamily="34" charset="-122"/>
                <a:cs typeface="DM Sans" pitchFamily="34" charset="-120"/>
              </a:rPr>
              <a:t>USD 10-18 (medio: USD 14)</a:t>
            </a:r>
            <a:endParaRPr lang="en-US" sz="1000" dirty="0"/>
          </a:p>
        </p:txBody>
      </p:sp>
      <p:sp>
        <p:nvSpPr>
          <p:cNvPr id="13" name="Shape 10"/>
          <p:cNvSpPr/>
          <p:nvPr/>
        </p:nvSpPr>
        <p:spPr>
          <a:xfrm>
            <a:off x="6766560" y="3429000"/>
            <a:ext cx="4873752" cy="777240"/>
          </a:xfrm>
          <a:prstGeom prst="roundRect">
            <a:avLst>
              <a:gd name="adj" fmla="val 11765"/>
            </a:avLst>
          </a:prstGeom>
          <a:solidFill>
            <a:srgbClr val="FFFFFF"/>
          </a:solidFill>
          <a:ln w="12700">
            <a:solidFill>
              <a:srgbClr val="EDE1D9"/>
            </a:solidFill>
            <a:prstDash val="solid"/>
          </a:ln>
        </p:spPr>
      </p:sp>
      <p:sp>
        <p:nvSpPr>
          <p:cNvPr id="14" name="Text 11"/>
          <p:cNvSpPr txBox="1"/>
          <p:nvPr/>
        </p:nvSpPr>
        <p:spPr>
          <a:xfrm>
            <a:off x="6949440" y="3483864"/>
            <a:ext cx="4526280" cy="274320"/>
          </a:xfrm>
          <a:prstGeom prst="rect">
            <a:avLst/>
          </a:prstGeom>
          <a:noFill/>
          <a:ln/>
        </p:spPr>
        <p:txBody>
          <a:bodyPr wrap="square" lIns="0" tIns="0" rIns="0" bIns="0" rtlCol="0" anchor="ctr"/>
          <a:lstStyle/>
          <a:p>
            <a:pPr indent="0" marL="0">
              <a:buNone/>
            </a:pPr>
            <a:r>
              <a:rPr lang="en-US" sz="1150" b="1" dirty="0">
                <a:solidFill>
                  <a:srgbClr val="241F1D"/>
                </a:solidFill>
                <a:latin typeface="DM Sans" pitchFamily="34" charset="0"/>
                <a:ea typeface="DM Sans" pitchFamily="34" charset="-122"/>
                <a:cs typeface="DM Sans" pitchFamily="34" charset="-120"/>
              </a:rPr>
              <a:t>STYLPRO Original Brush Cleaner &amp; Dryer</a:t>
            </a:r>
            <a:endParaRPr lang="en-US" sz="1150" dirty="0"/>
          </a:p>
        </p:txBody>
      </p:sp>
      <p:sp>
        <p:nvSpPr>
          <p:cNvPr id="15" name="Text 12"/>
          <p:cNvSpPr txBox="1"/>
          <p:nvPr/>
        </p:nvSpPr>
        <p:spPr>
          <a:xfrm>
            <a:off x="6949440" y="3758184"/>
            <a:ext cx="4526280" cy="411480"/>
          </a:xfrm>
          <a:prstGeom prst="rect">
            <a:avLst/>
          </a:prstGeom>
          <a:noFill/>
          <a:ln/>
        </p:spPr>
        <p:txBody>
          <a:bodyPr wrap="square" lIns="0" tIns="0" rIns="0" bIns="0" rtlCol="0" anchor="ctr"/>
          <a:lstStyle/>
          <a:p>
            <a:pPr indent="0" marL="0">
              <a:buNone/>
            </a:pPr>
            <a:r>
              <a:rPr lang="en-US" sz="1000" dirty="0">
                <a:solidFill>
                  <a:srgbClr val="5B5250"/>
                </a:solidFill>
                <a:latin typeface="DM Sans" pitchFamily="34" charset="0"/>
                <a:ea typeface="DM Sans" pitchFamily="34" charset="-122"/>
                <a:cs typeface="DM Sans" pitchFamily="34" charset="-120"/>
              </a:rPr>
              <a:t>GBP 35-55 (medio: GBP 45; ≈ USD 45-70). Para brochas, no esponjas</a:t>
            </a:r>
            <a:endParaRPr lang="en-US" sz="1000" dirty="0"/>
          </a:p>
        </p:txBody>
      </p:sp>
      <p:sp>
        <p:nvSpPr>
          <p:cNvPr id="16" name="Shape 13"/>
          <p:cNvSpPr/>
          <p:nvPr/>
        </p:nvSpPr>
        <p:spPr>
          <a:xfrm>
            <a:off x="6766560" y="4297680"/>
            <a:ext cx="4873752" cy="777240"/>
          </a:xfrm>
          <a:prstGeom prst="roundRect">
            <a:avLst>
              <a:gd name="adj" fmla="val 11765"/>
            </a:avLst>
          </a:prstGeom>
          <a:solidFill>
            <a:srgbClr val="FFFFFF"/>
          </a:solidFill>
          <a:ln w="12700">
            <a:solidFill>
              <a:srgbClr val="EDE1D9"/>
            </a:solidFill>
            <a:prstDash val="solid"/>
          </a:ln>
        </p:spPr>
      </p:sp>
      <p:sp>
        <p:nvSpPr>
          <p:cNvPr id="17" name="Text 14"/>
          <p:cNvSpPr txBox="1"/>
          <p:nvPr/>
        </p:nvSpPr>
        <p:spPr>
          <a:xfrm>
            <a:off x="6949440" y="4352544"/>
            <a:ext cx="4526280" cy="274320"/>
          </a:xfrm>
          <a:prstGeom prst="rect">
            <a:avLst/>
          </a:prstGeom>
          <a:noFill/>
          <a:ln/>
        </p:spPr>
        <p:txBody>
          <a:bodyPr wrap="square" lIns="0" tIns="0" rIns="0" bIns="0" rtlCol="0" anchor="ctr"/>
          <a:lstStyle/>
          <a:p>
            <a:pPr indent="0" marL="0">
              <a:buNone/>
            </a:pPr>
            <a:r>
              <a:rPr lang="en-US" sz="1150" b="1" dirty="0">
                <a:solidFill>
                  <a:srgbClr val="241F1D"/>
                </a:solidFill>
                <a:latin typeface="DM Sans" pitchFamily="34" charset="0"/>
                <a:ea typeface="DM Sans" pitchFamily="34" charset="-122"/>
                <a:cs typeface="DM Sans" pitchFamily="34" charset="-120"/>
              </a:rPr>
              <a:t>Genéricos (Amazon / Mercado Libre) y STYLPRO Squeeze</a:t>
            </a:r>
            <a:endParaRPr lang="en-US" sz="1150" dirty="0"/>
          </a:p>
        </p:txBody>
      </p:sp>
      <p:sp>
        <p:nvSpPr>
          <p:cNvPr id="18" name="Text 15"/>
          <p:cNvSpPr txBox="1"/>
          <p:nvPr/>
        </p:nvSpPr>
        <p:spPr>
          <a:xfrm>
            <a:off x="6949440" y="4626864"/>
            <a:ext cx="4526280" cy="411480"/>
          </a:xfrm>
          <a:prstGeom prst="rect">
            <a:avLst/>
          </a:prstGeom>
          <a:noFill/>
          <a:ln/>
        </p:spPr>
        <p:txBody>
          <a:bodyPr wrap="square" lIns="0" tIns="0" rIns="0" bIns="0" rtlCol="0" anchor="ctr"/>
          <a:lstStyle/>
          <a:p>
            <a:pPr indent="0" marL="0">
              <a:buNone/>
            </a:pPr>
            <a:r>
              <a:rPr lang="en-US" sz="1000" dirty="0">
                <a:solidFill>
                  <a:srgbClr val="5B5250"/>
                </a:solidFill>
                <a:latin typeface="DM Sans" pitchFamily="34" charset="0"/>
                <a:ea typeface="DM Sans" pitchFamily="34" charset="-122"/>
                <a:cs typeface="DM Sans" pitchFamily="34" charset="-120"/>
              </a:rPr>
              <a:t>Sin precio puntual: "muy bajo" y "rango medio similar"</a:t>
            </a:r>
            <a:endParaRPr lang="en-US" sz="1000" dirty="0"/>
          </a:p>
        </p:txBody>
      </p:sp>
      <p:sp>
        <p:nvSpPr>
          <p:cNvPr id="19" name="Shape 16"/>
          <p:cNvSpPr/>
          <p:nvPr/>
        </p:nvSpPr>
        <p:spPr>
          <a:xfrm>
            <a:off x="548640" y="5257800"/>
            <a:ext cx="11094415" cy="868680"/>
          </a:xfrm>
          <a:prstGeom prst="roundRect">
            <a:avLst>
              <a:gd name="adj" fmla="val 12632"/>
            </a:avLst>
          </a:prstGeom>
          <a:solidFill>
            <a:srgbClr val="241F1D"/>
          </a:solidFill>
          <a:ln/>
        </p:spPr>
      </p:sp>
      <p:sp>
        <p:nvSpPr>
          <p:cNvPr id="20" name="Text 17"/>
          <p:cNvSpPr txBox="1"/>
          <p:nvPr/>
        </p:nvSpPr>
        <p:spPr>
          <a:xfrm>
            <a:off x="822960" y="5257800"/>
            <a:ext cx="10545775" cy="868680"/>
          </a:xfrm>
          <a:prstGeom prst="rect">
            <a:avLst/>
          </a:prstGeom>
          <a:noFill/>
          <a:ln/>
        </p:spPr>
        <p:txBody>
          <a:bodyPr wrap="square" lIns="0" tIns="0" rIns="0" bIns="0" rtlCol="0" anchor="ctr"/>
          <a:lstStyle/>
          <a:p>
            <a:pPr indent="0" marL="0">
              <a:buNone/>
            </a:pPr>
            <a:r>
              <a:rPr lang="en-US" sz="1250" b="1" dirty="0">
                <a:solidFill>
                  <a:srgbClr val="FBF5F1"/>
                </a:solidFill>
                <a:latin typeface="DM Sans" pitchFamily="34" charset="0"/>
                <a:ea typeface="DM Sans" pitchFamily="34" charset="-122"/>
                <a:cs typeface="DM Sans" pitchFamily="34" charset="-120"/>
              </a:rPr>
              <a:t>El punto medio del rango objetivo equivale a ≈ 4 esponjas premium. </a:t>
            </a:r>
            <a:pPr indent="0" marL="0">
              <a:buNone/>
            </a:pPr>
            <a:r>
              <a:rPr lang="en-US" sz="1250" dirty="0">
                <a:solidFill>
                  <a:srgbClr val="C9B8B2"/>
                </a:solidFill>
                <a:latin typeface="DM Sans" pitchFamily="34" charset="0"/>
                <a:ea typeface="DM Sans" pitchFamily="34" charset="-122"/>
                <a:cs typeface="DM Sans" pitchFamily="34" charset="-120"/>
              </a:rPr>
              <a:t>Con alternativas que cuestan entre casi nada y COP 110.000, BlendPure debe justificar su precio con tiempo ahorrado, no con limpieza (56,5 % pagaría menos de COP 150.000).</a:t>
            </a:r>
            <a:endParaRPr lang="en-US" sz="1250" dirty="0"/>
          </a:p>
        </p:txBody>
      </p:sp>
      <p:sp>
        <p:nvSpPr>
          <p:cNvPr id="21" name="Text 18"/>
          <p:cNvSpPr txBox="1"/>
          <p:nvPr/>
        </p:nvSpPr>
        <p:spPr>
          <a:xfrm>
            <a:off x="548640" y="6355080"/>
            <a:ext cx="11094415" cy="365760"/>
          </a:xfrm>
          <a:prstGeom prst="rect">
            <a:avLst/>
          </a:prstGeom>
          <a:noFill/>
          <a:ln/>
        </p:spPr>
        <p:txBody>
          <a:bodyPr wrap="square" lIns="0" tIns="0" rIns="0" bIns="0" rtlCol="0" anchor="ctr"/>
          <a:lstStyle/>
          <a:p>
            <a:pPr indent="0" marL="0">
              <a:buNone/>
            </a:pPr>
            <a:r>
              <a:rPr lang="en-US" sz="1100" dirty="0">
                <a:solidFill>
                  <a:srgbClr val="8A7A73"/>
                </a:solidFill>
                <a:latin typeface="DM Sans" pitchFamily="34" charset="0"/>
                <a:ea typeface="DM Sans" pitchFamily="34" charset="-122"/>
                <a:cs typeface="DM Sans" pitchFamily="34" charset="-120"/>
              </a:rPr>
              <a:t>Fuente: Anexos 5 y 7 (Mercado Libre, eBay, Sephora, Care to Beauty, Beautyblender.com, Boots, Superdrug, Amazon, 2026). Promedio = punto medio del rango publicado; monedas sin convertir salvo la equivalencia del documento.</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BF5F1"/>
        </a:solidFill>
      </p:bgPr>
    </p:bg>
    <p:spTree>
      <p:nvGrpSpPr>
        <p:cNvPr id="1" name=""/>
        <p:cNvGrpSpPr/>
        <p:nvPr/>
      </p:nvGrpSpPr>
      <p:grpSpPr>
        <a:xfrm>
          <a:off x="0" y="0"/>
          <a:ext cx="0" cy="0"/>
          <a:chOff x="0" y="0"/>
          <a:chExt cx="0" cy="0"/>
        </a:xfrm>
      </p:grpSpPr>
      <p:sp>
        <p:nvSpPr>
          <p:cNvPr id="2" name="Text 0"/>
          <p:cNvSpPr txBox="1"/>
          <p:nvPr/>
        </p:nvSpPr>
        <p:spPr>
          <a:xfrm>
            <a:off x="548640" y="502920"/>
            <a:ext cx="11094415" cy="320040"/>
          </a:xfrm>
          <a:prstGeom prst="rect">
            <a:avLst/>
          </a:prstGeom>
          <a:noFill/>
          <a:ln/>
        </p:spPr>
        <p:txBody>
          <a:bodyPr wrap="square" lIns="0" tIns="0" rIns="0" bIns="0" rtlCol="0" anchor="ctr"/>
          <a:lstStyle/>
          <a:p>
            <a:pPr indent="0" marL="0">
              <a:buNone/>
            </a:pPr>
            <a:r>
              <a:rPr lang="en-US" sz="1300" b="1" spc="200" kern="0" dirty="0">
                <a:solidFill>
                  <a:srgbClr val="A87C45"/>
                </a:solidFill>
                <a:latin typeface="DM Sans" pitchFamily="34" charset="0"/>
                <a:ea typeface="DM Sans" pitchFamily="34" charset="-122"/>
                <a:cs typeface="DM Sans" pitchFamily="34" charset="-120"/>
              </a:rPr>
              <a:t>PLANTEAMIENTO DEL PROBLEMA</a:t>
            </a:r>
            <a:endParaRPr lang="en-US" sz="1300" dirty="0"/>
          </a:p>
        </p:txBody>
      </p:sp>
      <p:sp>
        <p:nvSpPr>
          <p:cNvPr id="3" name="Text 1"/>
          <p:cNvSpPr txBox="1"/>
          <p:nvPr/>
        </p:nvSpPr>
        <p:spPr>
          <a:xfrm>
            <a:off x="548640" y="822960"/>
            <a:ext cx="11094415" cy="640080"/>
          </a:xfrm>
          <a:prstGeom prst="rect">
            <a:avLst/>
          </a:prstGeom>
          <a:noFill/>
          <a:ln/>
        </p:spPr>
        <p:txBody>
          <a:bodyPr wrap="square" lIns="0" tIns="0" rIns="0" bIns="0" rtlCol="0" anchor="ctr"/>
          <a:lstStyle/>
          <a:p>
            <a:pPr algn="l" indent="0" marL="0">
              <a:buNone/>
            </a:pPr>
            <a:r>
              <a:rPr lang="en-US" sz="2800" b="1" dirty="0">
                <a:solidFill>
                  <a:srgbClr val="241F1D"/>
                </a:solidFill>
                <a:latin typeface="Cormorant Garamond" pitchFamily="34" charset="0"/>
                <a:ea typeface="Cormorant Garamond" pitchFamily="34" charset="-122"/>
                <a:cs typeface="Cormorant Garamond" pitchFamily="34" charset="-120"/>
              </a:rPr>
              <a:t>De un hábito cotidiano a una oportunidad</a:t>
            </a:r>
            <a:endParaRPr lang="en-US" sz="2800" dirty="0"/>
          </a:p>
        </p:txBody>
      </p:sp>
      <p:sp>
        <p:nvSpPr>
          <p:cNvPr id="4" name="Shape 2"/>
          <p:cNvSpPr/>
          <p:nvPr/>
        </p:nvSpPr>
        <p:spPr>
          <a:xfrm>
            <a:off x="548640" y="1691640"/>
            <a:ext cx="5760720" cy="566928"/>
          </a:xfrm>
          <a:prstGeom prst="roundRect">
            <a:avLst>
              <a:gd name="adj" fmla="val 16129"/>
            </a:avLst>
          </a:prstGeom>
          <a:solidFill>
            <a:srgbClr val="FFFFFF"/>
          </a:solidFill>
          <a:ln w="12700">
            <a:solidFill>
              <a:srgbClr val="EDE1D9"/>
            </a:solidFill>
            <a:prstDash val="solid"/>
          </a:ln>
        </p:spPr>
      </p:sp>
      <p:sp>
        <p:nvSpPr>
          <p:cNvPr id="5" name="Text 3"/>
          <p:cNvSpPr txBox="1"/>
          <p:nvPr/>
        </p:nvSpPr>
        <p:spPr>
          <a:xfrm>
            <a:off x="548640" y="1691640"/>
            <a:ext cx="5760720" cy="566928"/>
          </a:xfrm>
          <a:prstGeom prst="rect">
            <a:avLst/>
          </a:prstGeom>
          <a:noFill/>
          <a:ln/>
        </p:spPr>
        <p:txBody>
          <a:bodyPr wrap="square" lIns="0" tIns="0" rIns="0" bIns="0" rtlCol="0" anchor="ctr"/>
          <a:lstStyle/>
          <a:p>
            <a:pPr algn="ctr" indent="0" marL="0">
              <a:buNone/>
            </a:pPr>
            <a:r>
              <a:rPr lang="en-US" sz="1400" b="1" dirty="0">
                <a:solidFill>
                  <a:srgbClr val="4A4039"/>
                </a:solidFill>
                <a:latin typeface="DM Sans" pitchFamily="34" charset="0"/>
                <a:ea typeface="DM Sans" pitchFamily="34" charset="-122"/>
                <a:cs typeface="DM Sans" pitchFamily="34" charset="-120"/>
              </a:rPr>
              <a:t>Uso frecuente de beauty blenders</a:t>
            </a:r>
            <a:endParaRPr lang="en-US" sz="1400" dirty="0"/>
          </a:p>
        </p:txBody>
      </p:sp>
      <p:sp>
        <p:nvSpPr>
          <p:cNvPr id="6" name="Shape 4"/>
          <p:cNvSpPr/>
          <p:nvPr/>
        </p:nvSpPr>
        <p:spPr>
          <a:xfrm>
            <a:off x="3346704" y="2267712"/>
            <a:ext cx="164592" cy="91440"/>
          </a:xfrm>
          <a:prstGeom prst="downArrow">
            <a:avLst/>
          </a:prstGeom>
          <a:solidFill>
            <a:srgbClr val="D98C86"/>
          </a:solidFill>
          <a:ln/>
        </p:spPr>
      </p:sp>
      <p:sp>
        <p:nvSpPr>
          <p:cNvPr id="7" name="Shape 5"/>
          <p:cNvSpPr/>
          <p:nvPr/>
        </p:nvSpPr>
        <p:spPr>
          <a:xfrm>
            <a:off x="548640" y="2368296"/>
            <a:ext cx="5760720" cy="566928"/>
          </a:xfrm>
          <a:prstGeom prst="roundRect">
            <a:avLst>
              <a:gd name="adj" fmla="val 16129"/>
            </a:avLst>
          </a:prstGeom>
          <a:solidFill>
            <a:srgbClr val="FFFFFF"/>
          </a:solidFill>
          <a:ln w="12700">
            <a:solidFill>
              <a:srgbClr val="EDE1D9"/>
            </a:solidFill>
            <a:prstDash val="solid"/>
          </a:ln>
        </p:spPr>
      </p:sp>
      <p:sp>
        <p:nvSpPr>
          <p:cNvPr id="8" name="Text 6"/>
          <p:cNvSpPr txBox="1"/>
          <p:nvPr/>
        </p:nvSpPr>
        <p:spPr>
          <a:xfrm>
            <a:off x="548640" y="2368296"/>
            <a:ext cx="5760720" cy="566928"/>
          </a:xfrm>
          <a:prstGeom prst="rect">
            <a:avLst/>
          </a:prstGeom>
          <a:noFill/>
          <a:ln/>
        </p:spPr>
        <p:txBody>
          <a:bodyPr wrap="square" lIns="0" tIns="0" rIns="0" bIns="0" rtlCol="0" anchor="ctr"/>
          <a:lstStyle/>
          <a:p>
            <a:pPr algn="ctr" indent="0" marL="0">
              <a:buNone/>
            </a:pPr>
            <a:r>
              <a:rPr lang="en-US" sz="1400" b="1" dirty="0">
                <a:solidFill>
                  <a:srgbClr val="4A4039"/>
                </a:solidFill>
                <a:latin typeface="DM Sans" pitchFamily="34" charset="0"/>
                <a:ea typeface="DM Sans" pitchFamily="34" charset="-122"/>
                <a:cs typeface="DM Sans" pitchFamily="34" charset="-120"/>
              </a:rPr>
              <a:t>Baja frecuencia de limpieza</a:t>
            </a:r>
            <a:endParaRPr lang="en-US" sz="1400" dirty="0"/>
          </a:p>
        </p:txBody>
      </p:sp>
      <p:sp>
        <p:nvSpPr>
          <p:cNvPr id="9" name="Shape 7"/>
          <p:cNvSpPr/>
          <p:nvPr/>
        </p:nvSpPr>
        <p:spPr>
          <a:xfrm>
            <a:off x="3346704" y="2944368"/>
            <a:ext cx="164592" cy="91440"/>
          </a:xfrm>
          <a:prstGeom prst="downArrow">
            <a:avLst/>
          </a:prstGeom>
          <a:solidFill>
            <a:srgbClr val="D98C86"/>
          </a:solidFill>
          <a:ln/>
        </p:spPr>
      </p:sp>
      <p:sp>
        <p:nvSpPr>
          <p:cNvPr id="10" name="Shape 8"/>
          <p:cNvSpPr/>
          <p:nvPr/>
        </p:nvSpPr>
        <p:spPr>
          <a:xfrm>
            <a:off x="548640" y="3044952"/>
            <a:ext cx="5760720" cy="566928"/>
          </a:xfrm>
          <a:prstGeom prst="roundRect">
            <a:avLst>
              <a:gd name="adj" fmla="val 16129"/>
            </a:avLst>
          </a:prstGeom>
          <a:solidFill>
            <a:srgbClr val="FFFFFF"/>
          </a:solidFill>
          <a:ln w="12700">
            <a:solidFill>
              <a:srgbClr val="EDE1D9"/>
            </a:solidFill>
            <a:prstDash val="solid"/>
          </a:ln>
        </p:spPr>
      </p:sp>
      <p:sp>
        <p:nvSpPr>
          <p:cNvPr id="11" name="Text 9"/>
          <p:cNvSpPr txBox="1"/>
          <p:nvPr/>
        </p:nvSpPr>
        <p:spPr>
          <a:xfrm>
            <a:off x="548640" y="3044952"/>
            <a:ext cx="5760720" cy="566928"/>
          </a:xfrm>
          <a:prstGeom prst="rect">
            <a:avLst/>
          </a:prstGeom>
          <a:noFill/>
          <a:ln/>
        </p:spPr>
        <p:txBody>
          <a:bodyPr wrap="square" lIns="0" tIns="0" rIns="0" bIns="0" rtlCol="0" anchor="ctr"/>
          <a:lstStyle/>
          <a:p>
            <a:pPr algn="ctr" indent="0" marL="0">
              <a:buNone/>
            </a:pPr>
            <a:r>
              <a:rPr lang="en-US" sz="1400" b="1" dirty="0">
                <a:solidFill>
                  <a:srgbClr val="4A4039"/>
                </a:solidFill>
                <a:latin typeface="DM Sans" pitchFamily="34" charset="0"/>
                <a:ea typeface="DM Sans" pitchFamily="34" charset="-122"/>
                <a:cs typeface="DM Sans" pitchFamily="34" charset="-120"/>
              </a:rPr>
              <a:t>Proceso manual tedioso</a:t>
            </a:r>
            <a:endParaRPr lang="en-US" sz="1400" dirty="0"/>
          </a:p>
        </p:txBody>
      </p:sp>
      <p:sp>
        <p:nvSpPr>
          <p:cNvPr id="12" name="Shape 10"/>
          <p:cNvSpPr/>
          <p:nvPr/>
        </p:nvSpPr>
        <p:spPr>
          <a:xfrm>
            <a:off x="3346704" y="3621024"/>
            <a:ext cx="164592" cy="91440"/>
          </a:xfrm>
          <a:prstGeom prst="downArrow">
            <a:avLst/>
          </a:prstGeom>
          <a:solidFill>
            <a:srgbClr val="D98C86"/>
          </a:solidFill>
          <a:ln/>
        </p:spPr>
      </p:sp>
      <p:sp>
        <p:nvSpPr>
          <p:cNvPr id="13" name="Shape 11"/>
          <p:cNvSpPr/>
          <p:nvPr/>
        </p:nvSpPr>
        <p:spPr>
          <a:xfrm>
            <a:off x="548640" y="3721608"/>
            <a:ext cx="5760720" cy="566928"/>
          </a:xfrm>
          <a:prstGeom prst="roundRect">
            <a:avLst>
              <a:gd name="adj" fmla="val 16129"/>
            </a:avLst>
          </a:prstGeom>
          <a:solidFill>
            <a:srgbClr val="FFFFFF"/>
          </a:solidFill>
          <a:ln w="12700">
            <a:solidFill>
              <a:srgbClr val="EDE1D9"/>
            </a:solidFill>
            <a:prstDash val="solid"/>
          </a:ln>
        </p:spPr>
      </p:sp>
      <p:sp>
        <p:nvSpPr>
          <p:cNvPr id="14" name="Text 12"/>
          <p:cNvSpPr txBox="1"/>
          <p:nvPr/>
        </p:nvSpPr>
        <p:spPr>
          <a:xfrm>
            <a:off x="548640" y="3721608"/>
            <a:ext cx="5760720" cy="566928"/>
          </a:xfrm>
          <a:prstGeom prst="rect">
            <a:avLst/>
          </a:prstGeom>
          <a:noFill/>
          <a:ln/>
        </p:spPr>
        <p:txBody>
          <a:bodyPr wrap="square" lIns="0" tIns="0" rIns="0" bIns="0" rtlCol="0" anchor="ctr"/>
          <a:lstStyle/>
          <a:p>
            <a:pPr algn="ctr" indent="0" marL="0">
              <a:buNone/>
            </a:pPr>
            <a:r>
              <a:rPr lang="en-US" sz="1400" b="1" dirty="0">
                <a:solidFill>
                  <a:srgbClr val="4A4039"/>
                </a:solidFill>
                <a:latin typeface="DM Sans" pitchFamily="34" charset="0"/>
                <a:ea typeface="DM Sans" pitchFamily="34" charset="-122"/>
                <a:cs typeface="DM Sans" pitchFamily="34" charset="-120"/>
              </a:rPr>
              <a:t>Tiempo y esfuerzo</a:t>
            </a:r>
            <a:endParaRPr lang="en-US" sz="1400" dirty="0"/>
          </a:p>
        </p:txBody>
      </p:sp>
      <p:sp>
        <p:nvSpPr>
          <p:cNvPr id="15" name="Shape 13"/>
          <p:cNvSpPr/>
          <p:nvPr/>
        </p:nvSpPr>
        <p:spPr>
          <a:xfrm>
            <a:off x="3346704" y="4297680"/>
            <a:ext cx="164592" cy="91440"/>
          </a:xfrm>
          <a:prstGeom prst="downArrow">
            <a:avLst/>
          </a:prstGeom>
          <a:solidFill>
            <a:srgbClr val="D98C86"/>
          </a:solidFill>
          <a:ln/>
        </p:spPr>
      </p:sp>
      <p:sp>
        <p:nvSpPr>
          <p:cNvPr id="16" name="Shape 14"/>
          <p:cNvSpPr/>
          <p:nvPr/>
        </p:nvSpPr>
        <p:spPr>
          <a:xfrm>
            <a:off x="548640" y="4398264"/>
            <a:ext cx="5760720" cy="566928"/>
          </a:xfrm>
          <a:prstGeom prst="roundRect">
            <a:avLst>
              <a:gd name="adj" fmla="val 16129"/>
            </a:avLst>
          </a:prstGeom>
          <a:solidFill>
            <a:srgbClr val="FFFFFF"/>
          </a:solidFill>
          <a:ln w="12700">
            <a:solidFill>
              <a:srgbClr val="EDE1D9"/>
            </a:solidFill>
            <a:prstDash val="solid"/>
          </a:ln>
        </p:spPr>
      </p:sp>
      <p:sp>
        <p:nvSpPr>
          <p:cNvPr id="17" name="Text 15"/>
          <p:cNvSpPr txBox="1"/>
          <p:nvPr/>
        </p:nvSpPr>
        <p:spPr>
          <a:xfrm>
            <a:off x="548640" y="4398264"/>
            <a:ext cx="5760720" cy="566928"/>
          </a:xfrm>
          <a:prstGeom prst="rect">
            <a:avLst/>
          </a:prstGeom>
          <a:noFill/>
          <a:ln/>
        </p:spPr>
        <p:txBody>
          <a:bodyPr wrap="square" lIns="0" tIns="0" rIns="0" bIns="0" rtlCol="0" anchor="ctr"/>
          <a:lstStyle/>
          <a:p>
            <a:pPr algn="ctr" indent="0" marL="0">
              <a:buNone/>
            </a:pPr>
            <a:r>
              <a:rPr lang="en-US" sz="1400" b="1" dirty="0">
                <a:solidFill>
                  <a:srgbClr val="4A4039"/>
                </a:solidFill>
                <a:latin typeface="DM Sans" pitchFamily="34" charset="0"/>
                <a:ea typeface="DM Sans" pitchFamily="34" charset="-122"/>
                <a:cs typeface="DM Sans" pitchFamily="34" charset="-120"/>
              </a:rPr>
              <a:t>Baja adherencia a la limpieza recomendada</a:t>
            </a:r>
            <a:endParaRPr lang="en-US" sz="1400" dirty="0"/>
          </a:p>
        </p:txBody>
      </p:sp>
      <p:sp>
        <p:nvSpPr>
          <p:cNvPr id="18" name="Shape 16"/>
          <p:cNvSpPr/>
          <p:nvPr/>
        </p:nvSpPr>
        <p:spPr>
          <a:xfrm>
            <a:off x="3346704" y="4974336"/>
            <a:ext cx="164592" cy="91440"/>
          </a:xfrm>
          <a:prstGeom prst="downArrow">
            <a:avLst/>
          </a:prstGeom>
          <a:solidFill>
            <a:srgbClr val="D98C86"/>
          </a:solidFill>
          <a:ln/>
        </p:spPr>
      </p:sp>
      <p:sp>
        <p:nvSpPr>
          <p:cNvPr id="19" name="Shape 17"/>
          <p:cNvSpPr/>
          <p:nvPr/>
        </p:nvSpPr>
        <p:spPr>
          <a:xfrm>
            <a:off x="548640" y="5074920"/>
            <a:ext cx="5760720" cy="640080"/>
          </a:xfrm>
          <a:prstGeom prst="roundRect">
            <a:avLst>
              <a:gd name="adj" fmla="val 14286"/>
            </a:avLst>
          </a:prstGeom>
          <a:solidFill>
            <a:srgbClr val="241F1D"/>
          </a:solidFill>
          <a:ln/>
        </p:spPr>
      </p:sp>
      <p:sp>
        <p:nvSpPr>
          <p:cNvPr id="20" name="Text 18"/>
          <p:cNvSpPr txBox="1"/>
          <p:nvPr/>
        </p:nvSpPr>
        <p:spPr>
          <a:xfrm>
            <a:off x="548640" y="5074920"/>
            <a:ext cx="5760720" cy="640080"/>
          </a:xfrm>
          <a:prstGeom prst="rect">
            <a:avLst/>
          </a:prstGeom>
          <a:noFill/>
          <a:ln/>
        </p:spPr>
        <p:txBody>
          <a:bodyPr wrap="square" lIns="0" tIns="0" rIns="0" bIns="0" rtlCol="0" anchor="ctr"/>
          <a:lstStyle/>
          <a:p>
            <a:pPr algn="ctr" indent="0" marL="0">
              <a:buNone/>
            </a:pPr>
            <a:r>
              <a:rPr lang="en-US" sz="1500" b="1" dirty="0">
                <a:solidFill>
                  <a:srgbClr val="F5E9E2"/>
                </a:solidFill>
                <a:latin typeface="DM Sans" pitchFamily="34" charset="0"/>
                <a:ea typeface="DM Sans" pitchFamily="34" charset="-122"/>
                <a:cs typeface="DM Sans" pitchFamily="34" charset="-120"/>
              </a:rPr>
              <a:t>OPORTUNIDAD DE AUTOMATIZACIÓN</a:t>
            </a:r>
            <a:endParaRPr lang="en-US" sz="1500" dirty="0"/>
          </a:p>
        </p:txBody>
      </p:sp>
      <p:sp>
        <p:nvSpPr>
          <p:cNvPr id="21" name="Text 19"/>
          <p:cNvSpPr txBox="1"/>
          <p:nvPr/>
        </p:nvSpPr>
        <p:spPr>
          <a:xfrm>
            <a:off x="6675120" y="1691640"/>
            <a:ext cx="4937760" cy="320040"/>
          </a:xfrm>
          <a:prstGeom prst="rect">
            <a:avLst/>
          </a:prstGeom>
          <a:noFill/>
          <a:ln/>
        </p:spPr>
        <p:txBody>
          <a:bodyPr wrap="square" lIns="0" tIns="0" rIns="0" bIns="0" rtlCol="0" anchor="ctr"/>
          <a:lstStyle/>
          <a:p>
            <a:pPr indent="0" marL="0">
              <a:buNone/>
            </a:pPr>
            <a:r>
              <a:rPr lang="en-US" sz="1300" b="1" spc="200" kern="0" dirty="0">
                <a:solidFill>
                  <a:srgbClr val="A87C45"/>
                </a:solidFill>
                <a:latin typeface="DM Sans" pitchFamily="34" charset="0"/>
                <a:ea typeface="DM Sans" pitchFamily="34" charset="-122"/>
                <a:cs typeface="DM Sans" pitchFamily="34" charset="-120"/>
              </a:rPr>
              <a:t>PRINCIPALES AFECTADOS</a:t>
            </a:r>
            <a:endParaRPr lang="en-US" sz="1300" dirty="0"/>
          </a:p>
        </p:txBody>
      </p:sp>
      <p:sp>
        <p:nvSpPr>
          <p:cNvPr id="22" name="Shape 20"/>
          <p:cNvSpPr/>
          <p:nvPr/>
        </p:nvSpPr>
        <p:spPr>
          <a:xfrm>
            <a:off x="6675120" y="2148840"/>
            <a:ext cx="4937760" cy="1371600"/>
          </a:xfrm>
          <a:prstGeom prst="roundRect">
            <a:avLst>
              <a:gd name="adj" fmla="val 6667"/>
            </a:avLst>
          </a:prstGeom>
          <a:solidFill>
            <a:srgbClr val="FFFFFF"/>
          </a:solidFill>
          <a:ln w="12700">
            <a:solidFill>
              <a:srgbClr val="EDE1D9"/>
            </a:solidFill>
            <a:prstDash val="solid"/>
          </a:ln>
        </p:spPr>
      </p:sp>
      <p:sp>
        <p:nvSpPr>
          <p:cNvPr id="23" name="Text 21"/>
          <p:cNvSpPr txBox="1"/>
          <p:nvPr/>
        </p:nvSpPr>
        <p:spPr>
          <a:xfrm>
            <a:off x="6903720" y="2148840"/>
            <a:ext cx="4480560" cy="1371600"/>
          </a:xfrm>
          <a:prstGeom prst="rect">
            <a:avLst/>
          </a:prstGeom>
          <a:noFill/>
          <a:ln/>
        </p:spPr>
        <p:txBody>
          <a:bodyPr wrap="square" lIns="0" tIns="0" rIns="0" bIns="0" rtlCol="0" anchor="ctr"/>
          <a:lstStyle/>
          <a:p>
            <a:pPr algn="l" indent="0" marL="0">
              <a:buNone/>
            </a:pPr>
            <a:r>
              <a:rPr lang="en-US" sz="1500" dirty="0">
                <a:solidFill>
                  <a:srgbClr val="4A4039"/>
                </a:solidFill>
                <a:latin typeface="DM Sans" pitchFamily="34" charset="0"/>
                <a:ea typeface="DM Sans" pitchFamily="34" charset="-122"/>
                <a:cs typeface="DM Sans" pitchFamily="34" charset="-120"/>
              </a:rPr>
              <a:t>Mujeres jóvenes adultas, usuarias de maquillaje de cobertura (base/corrector con esponja)</a:t>
            </a:r>
            <a:endParaRPr lang="en-US" sz="1500" dirty="0"/>
          </a:p>
        </p:txBody>
      </p:sp>
      <p:sp>
        <p:nvSpPr>
          <p:cNvPr id="24" name="Shape 22"/>
          <p:cNvSpPr/>
          <p:nvPr/>
        </p:nvSpPr>
        <p:spPr>
          <a:xfrm>
            <a:off x="6675120" y="3657600"/>
            <a:ext cx="4937760" cy="1371600"/>
          </a:xfrm>
          <a:prstGeom prst="roundRect">
            <a:avLst>
              <a:gd name="adj" fmla="val 6667"/>
            </a:avLst>
          </a:prstGeom>
          <a:solidFill>
            <a:srgbClr val="F3DCD8"/>
          </a:solidFill>
          <a:ln/>
        </p:spPr>
      </p:sp>
      <p:sp>
        <p:nvSpPr>
          <p:cNvPr id="25" name="Text 23"/>
          <p:cNvSpPr txBox="1"/>
          <p:nvPr/>
        </p:nvSpPr>
        <p:spPr>
          <a:xfrm>
            <a:off x="6903720" y="3657600"/>
            <a:ext cx="4480560" cy="1371600"/>
          </a:xfrm>
          <a:prstGeom prst="rect">
            <a:avLst/>
          </a:prstGeom>
          <a:noFill/>
          <a:ln/>
        </p:spPr>
        <p:txBody>
          <a:bodyPr wrap="square" lIns="0" tIns="0" rIns="0" bIns="0" rtlCol="0" anchor="ctr"/>
          <a:lstStyle/>
          <a:p>
            <a:pPr algn="l" indent="0" marL="0">
              <a:buNone/>
            </a:pPr>
            <a:r>
              <a:rPr lang="en-US" sz="1500" dirty="0">
                <a:solidFill>
                  <a:srgbClr val="6B4A43"/>
                </a:solidFill>
                <a:latin typeface="DM Sans" pitchFamily="34" charset="0"/>
                <a:ea typeface="DM Sans" pitchFamily="34" charset="-122"/>
                <a:cs typeface="DM Sans" pitchFamily="34" charset="-120"/>
              </a:rPr>
              <a:t>Maquilladoras y beauty creators que reutilizan esponjas entre clientas</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241F1D"/>
        </a:solidFill>
      </p:bgPr>
    </p:bg>
    <p:spTree>
      <p:nvGrpSpPr>
        <p:cNvPr id="1" name=""/>
        <p:cNvGrpSpPr/>
        <p:nvPr/>
      </p:nvGrpSpPr>
      <p:grpSpPr>
        <a:xfrm>
          <a:off x="0" y="0"/>
          <a:ext cx="0" cy="0"/>
          <a:chOff x="0" y="0"/>
          <a:chExt cx="0" cy="0"/>
        </a:xfrm>
      </p:grpSpPr>
      <p:sp>
        <p:nvSpPr>
          <p:cNvPr id="2" name="Shape 0"/>
          <p:cNvSpPr/>
          <p:nvPr/>
        </p:nvSpPr>
        <p:spPr>
          <a:xfrm>
            <a:off x="-2103120" y="-2103120"/>
            <a:ext cx="4572000" cy="4572000"/>
          </a:xfrm>
          <a:prstGeom prst="ellipse">
            <a:avLst/>
          </a:prstGeom>
          <a:solidFill>
            <a:srgbClr val="D98C86">
              <a:alpha val="28000"/>
            </a:srgbClr>
          </a:solidFill>
          <a:ln/>
        </p:spPr>
      </p:sp>
      <p:sp>
        <p:nvSpPr>
          <p:cNvPr id="3" name="Shape 1"/>
          <p:cNvSpPr/>
          <p:nvPr/>
        </p:nvSpPr>
        <p:spPr>
          <a:xfrm>
            <a:off x="9875520" y="4389120"/>
            <a:ext cx="4572000" cy="4572000"/>
          </a:xfrm>
          <a:prstGeom prst="ellipse">
            <a:avLst/>
          </a:prstGeom>
          <a:solidFill>
            <a:srgbClr val="A87C45">
              <a:alpha val="25000"/>
            </a:srgbClr>
          </a:solidFill>
          <a:ln/>
        </p:spPr>
      </p:sp>
      <p:sp>
        <p:nvSpPr>
          <p:cNvPr id="4" name="Text 2"/>
          <p:cNvSpPr txBox="1"/>
          <p:nvPr/>
        </p:nvSpPr>
        <p:spPr>
          <a:xfrm>
            <a:off x="0" y="1005840"/>
            <a:ext cx="12191695" cy="365760"/>
          </a:xfrm>
          <a:prstGeom prst="rect">
            <a:avLst/>
          </a:prstGeom>
          <a:noFill/>
          <a:ln/>
        </p:spPr>
        <p:txBody>
          <a:bodyPr wrap="square" lIns="0" tIns="0" rIns="0" bIns="0" rtlCol="0" anchor="ctr"/>
          <a:lstStyle/>
          <a:p>
            <a:pPr algn="ctr" indent="0" marL="0">
              <a:buNone/>
            </a:pPr>
            <a:r>
              <a:rPr lang="en-US" sz="1500" b="1" spc="300" kern="0" dirty="0">
                <a:solidFill>
                  <a:srgbClr val="D98C86"/>
                </a:solidFill>
                <a:latin typeface="DM Sans" pitchFamily="34" charset="0"/>
                <a:ea typeface="DM Sans" pitchFamily="34" charset="-122"/>
                <a:cs typeface="DM Sans" pitchFamily="34" charset="-120"/>
              </a:rPr>
              <a:t>PREGUNTA PROBLEMA</a:t>
            </a:r>
            <a:endParaRPr lang="en-US" sz="1500" dirty="0"/>
          </a:p>
        </p:txBody>
      </p:sp>
      <p:sp>
        <p:nvSpPr>
          <p:cNvPr id="5" name="Text 3"/>
          <p:cNvSpPr txBox="1"/>
          <p:nvPr/>
        </p:nvSpPr>
        <p:spPr>
          <a:xfrm>
            <a:off x="1280160" y="1645920"/>
            <a:ext cx="9601200" cy="3657600"/>
          </a:xfrm>
          <a:prstGeom prst="rect">
            <a:avLst/>
          </a:prstGeom>
          <a:noFill/>
          <a:ln/>
        </p:spPr>
        <p:txBody>
          <a:bodyPr wrap="square" lIns="0" tIns="0" rIns="0" bIns="0" rtlCol="0" anchor="ctr"/>
          <a:lstStyle/>
          <a:p>
            <a:pPr algn="ctr" indent="0" marL="0">
              <a:buNone/>
            </a:pPr>
            <a:r>
              <a:rPr lang="en-US" sz="2800" dirty="0">
                <a:solidFill>
                  <a:srgbClr val="FBF5F1"/>
                </a:solidFill>
                <a:latin typeface="Cormorant Garamond" pitchFamily="34" charset="0"/>
                <a:ea typeface="Cormorant Garamond" pitchFamily="34" charset="-122"/>
                <a:cs typeface="Cormorant Garamond" pitchFamily="34" charset="-120"/>
              </a:rPr>
              <a:t>¿Existe, entre las mujeres jóvenes adultas usuarias de maquillaje de cobertura en Bogotá, una fricción de tiempo y esfuerzo en la limpieza manual de sus esponjas lo suficientemente relevante como para justificar una estación automática de limpieza, desinfección y secado como BlendPure?</a:t>
            </a:r>
            <a:endParaRPr lang="en-US" sz="2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BF5F1"/>
        </a:solidFill>
      </p:bgPr>
    </p:bg>
    <p:spTree>
      <p:nvGrpSpPr>
        <p:cNvPr id="1" name=""/>
        <p:cNvGrpSpPr/>
        <p:nvPr/>
      </p:nvGrpSpPr>
      <p:grpSpPr>
        <a:xfrm>
          <a:off x="0" y="0"/>
          <a:ext cx="0" cy="0"/>
          <a:chOff x="0" y="0"/>
          <a:chExt cx="0" cy="0"/>
        </a:xfrm>
      </p:grpSpPr>
      <p:sp>
        <p:nvSpPr>
          <p:cNvPr id="2" name="Text 0"/>
          <p:cNvSpPr txBox="1"/>
          <p:nvPr/>
        </p:nvSpPr>
        <p:spPr>
          <a:xfrm>
            <a:off x="548640" y="502920"/>
            <a:ext cx="11094415" cy="320040"/>
          </a:xfrm>
          <a:prstGeom prst="rect">
            <a:avLst/>
          </a:prstGeom>
          <a:noFill/>
          <a:ln/>
        </p:spPr>
        <p:txBody>
          <a:bodyPr wrap="square" lIns="0" tIns="0" rIns="0" bIns="0" rtlCol="0" anchor="ctr"/>
          <a:lstStyle/>
          <a:p>
            <a:pPr indent="0" marL="0">
              <a:buNone/>
            </a:pPr>
            <a:r>
              <a:rPr lang="en-US" sz="1300" b="1" spc="200" kern="0" dirty="0">
                <a:solidFill>
                  <a:srgbClr val="A87C45"/>
                </a:solidFill>
                <a:latin typeface="DM Sans" pitchFamily="34" charset="0"/>
                <a:ea typeface="DM Sans" pitchFamily="34" charset="-122"/>
                <a:cs typeface="DM Sans" pitchFamily="34" charset="-120"/>
              </a:rPr>
              <a:t>OBJETIVOS</a:t>
            </a:r>
            <a:endParaRPr lang="en-US" sz="1300" dirty="0"/>
          </a:p>
        </p:txBody>
      </p:sp>
      <p:sp>
        <p:nvSpPr>
          <p:cNvPr id="3" name="Text 1"/>
          <p:cNvSpPr txBox="1"/>
          <p:nvPr/>
        </p:nvSpPr>
        <p:spPr>
          <a:xfrm>
            <a:off x="548640" y="822960"/>
            <a:ext cx="11094415" cy="822960"/>
          </a:xfrm>
          <a:prstGeom prst="rect">
            <a:avLst/>
          </a:prstGeom>
          <a:noFill/>
          <a:ln/>
        </p:spPr>
        <p:txBody>
          <a:bodyPr wrap="square" lIns="0" tIns="0" rIns="0" bIns="0" rtlCol="0" anchor="ctr"/>
          <a:lstStyle/>
          <a:p>
            <a:pPr algn="l" indent="0" marL="0">
              <a:buNone/>
            </a:pPr>
            <a:r>
              <a:rPr lang="en-US" sz="3000" b="1" dirty="0">
                <a:solidFill>
                  <a:srgbClr val="241F1D"/>
                </a:solidFill>
                <a:latin typeface="Cormorant Garamond" pitchFamily="34" charset="0"/>
                <a:ea typeface="Cormorant Garamond" pitchFamily="34" charset="-122"/>
                <a:cs typeface="Cormorant Garamond" pitchFamily="34" charset="-120"/>
              </a:rPr>
              <a:t>Qué buscamos demostrar</a:t>
            </a:r>
            <a:endParaRPr lang="en-US" sz="3000" dirty="0"/>
          </a:p>
        </p:txBody>
      </p:sp>
      <p:sp>
        <p:nvSpPr>
          <p:cNvPr id="4" name="Shape 2"/>
          <p:cNvSpPr/>
          <p:nvPr/>
        </p:nvSpPr>
        <p:spPr>
          <a:xfrm>
            <a:off x="548640" y="1645920"/>
            <a:ext cx="11094415" cy="1188720"/>
          </a:xfrm>
          <a:prstGeom prst="roundRect">
            <a:avLst>
              <a:gd name="adj" fmla="val 9231"/>
            </a:avLst>
          </a:prstGeom>
          <a:solidFill>
            <a:srgbClr val="241F1D"/>
          </a:solidFill>
          <a:ln/>
        </p:spPr>
      </p:sp>
      <p:sp>
        <p:nvSpPr>
          <p:cNvPr id="5" name="Text 3"/>
          <p:cNvSpPr txBox="1"/>
          <p:nvPr/>
        </p:nvSpPr>
        <p:spPr>
          <a:xfrm>
            <a:off x="822960" y="1645920"/>
            <a:ext cx="10545775" cy="1188720"/>
          </a:xfrm>
          <a:prstGeom prst="rect">
            <a:avLst/>
          </a:prstGeom>
          <a:noFill/>
          <a:ln/>
        </p:spPr>
        <p:txBody>
          <a:bodyPr wrap="square" lIns="0" tIns="0" rIns="0" bIns="0" rtlCol="0" anchor="ctr"/>
          <a:lstStyle/>
          <a:p>
            <a:pPr indent="0" marL="0">
              <a:buNone/>
            </a:pPr>
            <a:r>
              <a:rPr lang="en-US" sz="1200" b="1" spc="100" kern="0" dirty="0">
                <a:solidFill>
                  <a:srgbClr val="D98C86"/>
                </a:solidFill>
                <a:latin typeface="DM Sans" pitchFamily="34" charset="0"/>
                <a:ea typeface="DM Sans" pitchFamily="34" charset="-122"/>
                <a:cs typeface="DM Sans" pitchFamily="34" charset="-120"/>
              </a:rPr>
              <a:t>OBJETIVO GENERAL   </a:t>
            </a:r>
            <a:pPr indent="0" marL="0">
              <a:buNone/>
            </a:pPr>
            <a:r>
              <a:rPr lang="en-US" sz="1500" dirty="0">
                <a:solidFill>
                  <a:srgbClr val="F5E9E2"/>
                </a:solidFill>
                <a:latin typeface="DM Sans" pitchFamily="34" charset="0"/>
                <a:ea typeface="DM Sans" pitchFamily="34" charset="-122"/>
                <a:cs typeface="DM Sans" pitchFamily="34" charset="-120"/>
              </a:rPr>
              <a:t>Determinar si la fricción de tiempo y esfuerzo en la limpieza manual de esponjas, entre mujeres jóvenes adultas usuarias de maquillaje de cobertura en Bogotá, justifica desarrollar BlendPure.</a:t>
            </a:r>
            <a:endParaRPr lang="en-US" sz="1200" dirty="0"/>
          </a:p>
        </p:txBody>
      </p:sp>
      <p:sp>
        <p:nvSpPr>
          <p:cNvPr id="6" name="Shape 4"/>
          <p:cNvSpPr/>
          <p:nvPr/>
        </p:nvSpPr>
        <p:spPr>
          <a:xfrm>
            <a:off x="548640" y="3017520"/>
            <a:ext cx="2072579" cy="3017520"/>
          </a:xfrm>
          <a:prstGeom prst="roundRect">
            <a:avLst>
              <a:gd name="adj" fmla="val 5294"/>
            </a:avLst>
          </a:prstGeom>
          <a:solidFill>
            <a:srgbClr val="FFFFFF"/>
          </a:solidFill>
          <a:ln w="12700">
            <a:solidFill>
              <a:srgbClr val="EDE1D9"/>
            </a:solidFill>
            <a:prstDash val="solid"/>
          </a:ln>
        </p:spPr>
      </p:sp>
      <p:sp>
        <p:nvSpPr>
          <p:cNvPr id="7" name="Text 5"/>
          <p:cNvSpPr txBox="1"/>
          <p:nvPr/>
        </p:nvSpPr>
        <p:spPr>
          <a:xfrm>
            <a:off x="685800" y="3108960"/>
            <a:ext cx="1798259" cy="548640"/>
          </a:xfrm>
          <a:prstGeom prst="rect">
            <a:avLst/>
          </a:prstGeom>
          <a:noFill/>
          <a:ln/>
        </p:spPr>
        <p:txBody>
          <a:bodyPr wrap="square" lIns="0" tIns="0" rIns="0" bIns="0" rtlCol="0" anchor="ctr"/>
          <a:lstStyle/>
          <a:p>
            <a:pPr indent="0" marL="0">
              <a:buNone/>
            </a:pPr>
            <a:r>
              <a:rPr lang="en-US" sz="3000" b="1" dirty="0">
                <a:solidFill>
                  <a:srgbClr val="A87C45"/>
                </a:solidFill>
                <a:latin typeface="Cormorant Garamond" pitchFamily="34" charset="0"/>
                <a:ea typeface="Cormorant Garamond" pitchFamily="34" charset="-122"/>
                <a:cs typeface="Cormorant Garamond" pitchFamily="34" charset="-120"/>
              </a:rPr>
              <a:t>01</a:t>
            </a:r>
            <a:endParaRPr lang="en-US" sz="3000" dirty="0"/>
          </a:p>
        </p:txBody>
      </p:sp>
      <p:sp>
        <p:nvSpPr>
          <p:cNvPr id="8" name="Text 6"/>
          <p:cNvSpPr txBox="1"/>
          <p:nvPr/>
        </p:nvSpPr>
        <p:spPr>
          <a:xfrm>
            <a:off x="685800" y="3703320"/>
            <a:ext cx="1798259" cy="1188720"/>
          </a:xfrm>
          <a:prstGeom prst="rect">
            <a:avLst/>
          </a:prstGeom>
          <a:noFill/>
          <a:ln/>
        </p:spPr>
        <p:txBody>
          <a:bodyPr wrap="square" lIns="0" tIns="0" rIns="0" bIns="0" rtlCol="0" anchor="t"/>
          <a:lstStyle/>
          <a:p>
            <a:pPr indent="0" marL="0">
              <a:buNone/>
            </a:pPr>
            <a:r>
              <a:rPr lang="en-US" sz="1250" b="1" dirty="0">
                <a:solidFill>
                  <a:srgbClr val="241F1D"/>
                </a:solidFill>
                <a:latin typeface="DM Sans" pitchFamily="34" charset="0"/>
                <a:ea typeface="DM Sans" pitchFamily="34" charset="-122"/>
                <a:cs typeface="DM Sans" pitchFamily="34" charset="-120"/>
              </a:rPr>
              <a:t>Caracterizar la frecuencia y las barreras de limpieza</a:t>
            </a:r>
            <a:endParaRPr lang="en-US" sz="1250" dirty="0"/>
          </a:p>
        </p:txBody>
      </p:sp>
      <p:sp>
        <p:nvSpPr>
          <p:cNvPr id="9" name="Shape 7"/>
          <p:cNvSpPr/>
          <p:nvPr/>
        </p:nvSpPr>
        <p:spPr>
          <a:xfrm>
            <a:off x="658368" y="5120640"/>
            <a:ext cx="1853123" cy="777240"/>
          </a:xfrm>
          <a:prstGeom prst="roundRect">
            <a:avLst>
              <a:gd name="adj" fmla="val 9412"/>
            </a:avLst>
          </a:prstGeom>
          <a:solidFill>
            <a:srgbClr val="E4F0E9"/>
          </a:solidFill>
          <a:ln/>
        </p:spPr>
      </p:sp>
      <p:sp>
        <p:nvSpPr>
          <p:cNvPr id="10" name="Text 8"/>
          <p:cNvSpPr txBox="1"/>
          <p:nvPr/>
        </p:nvSpPr>
        <p:spPr>
          <a:xfrm>
            <a:off x="731520" y="5120640"/>
            <a:ext cx="1706819" cy="777240"/>
          </a:xfrm>
          <a:prstGeom prst="rect">
            <a:avLst/>
          </a:prstGeom>
          <a:noFill/>
          <a:ln/>
        </p:spPr>
        <p:txBody>
          <a:bodyPr wrap="square" lIns="0" tIns="0" rIns="0" bIns="0" rtlCol="0" anchor="ctr"/>
          <a:lstStyle/>
          <a:p>
            <a:pPr algn="ctr" indent="0" marL="0">
              <a:buNone/>
            </a:pPr>
            <a:r>
              <a:rPr lang="en-US" sz="1050" b="1" dirty="0">
                <a:solidFill>
                  <a:srgbClr val="2F6B4F"/>
                </a:solidFill>
                <a:latin typeface="DM Sans" pitchFamily="34" charset="0"/>
                <a:ea typeface="DM Sans" pitchFamily="34" charset="-122"/>
                <a:cs typeface="DM Sans" pitchFamily="34" charset="-120"/>
              </a:rPr>
              <a:t>Hecho · encuesta (n = 147)</a:t>
            </a:r>
            <a:endParaRPr lang="en-US" sz="1050" dirty="0"/>
          </a:p>
        </p:txBody>
      </p:sp>
      <p:sp>
        <p:nvSpPr>
          <p:cNvPr id="11" name="Shape 9"/>
          <p:cNvSpPr/>
          <p:nvPr/>
        </p:nvSpPr>
        <p:spPr>
          <a:xfrm>
            <a:off x="2804099" y="3017520"/>
            <a:ext cx="2072579" cy="3017520"/>
          </a:xfrm>
          <a:prstGeom prst="roundRect">
            <a:avLst>
              <a:gd name="adj" fmla="val 5294"/>
            </a:avLst>
          </a:prstGeom>
          <a:solidFill>
            <a:srgbClr val="FFFFFF"/>
          </a:solidFill>
          <a:ln w="12700">
            <a:solidFill>
              <a:srgbClr val="EDE1D9"/>
            </a:solidFill>
            <a:prstDash val="solid"/>
          </a:ln>
        </p:spPr>
      </p:sp>
      <p:sp>
        <p:nvSpPr>
          <p:cNvPr id="12" name="Text 10"/>
          <p:cNvSpPr txBox="1"/>
          <p:nvPr/>
        </p:nvSpPr>
        <p:spPr>
          <a:xfrm>
            <a:off x="2941259" y="3108960"/>
            <a:ext cx="1798259" cy="548640"/>
          </a:xfrm>
          <a:prstGeom prst="rect">
            <a:avLst/>
          </a:prstGeom>
          <a:noFill/>
          <a:ln/>
        </p:spPr>
        <p:txBody>
          <a:bodyPr wrap="square" lIns="0" tIns="0" rIns="0" bIns="0" rtlCol="0" anchor="ctr"/>
          <a:lstStyle/>
          <a:p>
            <a:pPr indent="0" marL="0">
              <a:buNone/>
            </a:pPr>
            <a:r>
              <a:rPr lang="en-US" sz="3000" b="1" dirty="0">
                <a:solidFill>
                  <a:srgbClr val="A87C45"/>
                </a:solidFill>
                <a:latin typeface="Cormorant Garamond" pitchFamily="34" charset="0"/>
                <a:ea typeface="Cormorant Garamond" pitchFamily="34" charset="-122"/>
                <a:cs typeface="Cormorant Garamond" pitchFamily="34" charset="-120"/>
              </a:rPr>
              <a:t>02</a:t>
            </a:r>
            <a:endParaRPr lang="en-US" sz="3000" dirty="0"/>
          </a:p>
        </p:txBody>
      </p:sp>
      <p:sp>
        <p:nvSpPr>
          <p:cNvPr id="13" name="Text 11"/>
          <p:cNvSpPr txBox="1"/>
          <p:nvPr/>
        </p:nvSpPr>
        <p:spPr>
          <a:xfrm>
            <a:off x="2941259" y="3703320"/>
            <a:ext cx="1798259" cy="1188720"/>
          </a:xfrm>
          <a:prstGeom prst="rect">
            <a:avLst/>
          </a:prstGeom>
          <a:noFill/>
          <a:ln/>
        </p:spPr>
        <p:txBody>
          <a:bodyPr wrap="square" lIns="0" tIns="0" rIns="0" bIns="0" rtlCol="0" anchor="t"/>
          <a:lstStyle/>
          <a:p>
            <a:pPr indent="0" marL="0">
              <a:buNone/>
            </a:pPr>
            <a:r>
              <a:rPr lang="en-US" sz="1250" b="1" dirty="0">
                <a:solidFill>
                  <a:srgbClr val="241F1D"/>
                </a:solidFill>
                <a:latin typeface="DM Sans" pitchFamily="34" charset="0"/>
                <a:ea typeface="DM Sans" pitchFamily="34" charset="-122"/>
                <a:cs typeface="DM Sans" pitchFamily="34" charset="-120"/>
              </a:rPr>
              <a:t>Dimensionar el mercado (TAM y SAM)</a:t>
            </a:r>
            <a:endParaRPr lang="en-US" sz="1250" dirty="0"/>
          </a:p>
        </p:txBody>
      </p:sp>
      <p:sp>
        <p:nvSpPr>
          <p:cNvPr id="14" name="Shape 12"/>
          <p:cNvSpPr/>
          <p:nvPr/>
        </p:nvSpPr>
        <p:spPr>
          <a:xfrm>
            <a:off x="2913827" y="5120640"/>
            <a:ext cx="1853123" cy="777240"/>
          </a:xfrm>
          <a:prstGeom prst="roundRect">
            <a:avLst>
              <a:gd name="adj" fmla="val 9412"/>
            </a:avLst>
          </a:prstGeom>
          <a:solidFill>
            <a:srgbClr val="F3DCD8"/>
          </a:solidFill>
          <a:ln/>
        </p:spPr>
      </p:sp>
      <p:sp>
        <p:nvSpPr>
          <p:cNvPr id="15" name="Text 13"/>
          <p:cNvSpPr txBox="1"/>
          <p:nvPr/>
        </p:nvSpPr>
        <p:spPr>
          <a:xfrm>
            <a:off x="2986979" y="5120640"/>
            <a:ext cx="1706819" cy="777240"/>
          </a:xfrm>
          <a:prstGeom prst="rect">
            <a:avLst/>
          </a:prstGeom>
          <a:noFill/>
          <a:ln/>
        </p:spPr>
        <p:txBody>
          <a:bodyPr wrap="square" lIns="0" tIns="0" rIns="0" bIns="0" rtlCol="0" anchor="ctr"/>
          <a:lstStyle/>
          <a:p>
            <a:pPr algn="ctr" indent="0" marL="0">
              <a:buNone/>
            </a:pPr>
            <a:r>
              <a:rPr lang="en-US" sz="1050" b="1" dirty="0">
                <a:solidFill>
                  <a:srgbClr val="6B4A43"/>
                </a:solidFill>
                <a:latin typeface="DM Sans" pitchFamily="34" charset="0"/>
                <a:ea typeface="DM Sans" pitchFamily="34" charset="-122"/>
                <a:cs typeface="DM Sans" pitchFamily="34" charset="-120"/>
              </a:rPr>
              <a:t>Hecho · documental; SOM pendiente</a:t>
            </a:r>
            <a:endParaRPr lang="en-US" sz="1050" dirty="0"/>
          </a:p>
        </p:txBody>
      </p:sp>
      <p:sp>
        <p:nvSpPr>
          <p:cNvPr id="16" name="Shape 14"/>
          <p:cNvSpPr/>
          <p:nvPr/>
        </p:nvSpPr>
        <p:spPr>
          <a:xfrm>
            <a:off x="5059558" y="3017520"/>
            <a:ext cx="2072579" cy="3017520"/>
          </a:xfrm>
          <a:prstGeom prst="roundRect">
            <a:avLst>
              <a:gd name="adj" fmla="val 5294"/>
            </a:avLst>
          </a:prstGeom>
          <a:solidFill>
            <a:srgbClr val="FFFFFF"/>
          </a:solidFill>
          <a:ln w="12700">
            <a:solidFill>
              <a:srgbClr val="EDE1D9"/>
            </a:solidFill>
            <a:prstDash val="solid"/>
          </a:ln>
        </p:spPr>
      </p:sp>
      <p:sp>
        <p:nvSpPr>
          <p:cNvPr id="17" name="Text 15"/>
          <p:cNvSpPr txBox="1"/>
          <p:nvPr/>
        </p:nvSpPr>
        <p:spPr>
          <a:xfrm>
            <a:off x="5196718" y="3108960"/>
            <a:ext cx="1798259" cy="548640"/>
          </a:xfrm>
          <a:prstGeom prst="rect">
            <a:avLst/>
          </a:prstGeom>
          <a:noFill/>
          <a:ln/>
        </p:spPr>
        <p:txBody>
          <a:bodyPr wrap="square" lIns="0" tIns="0" rIns="0" bIns="0" rtlCol="0" anchor="ctr"/>
          <a:lstStyle/>
          <a:p>
            <a:pPr indent="0" marL="0">
              <a:buNone/>
            </a:pPr>
            <a:r>
              <a:rPr lang="en-US" sz="3000" b="1" dirty="0">
                <a:solidFill>
                  <a:srgbClr val="A87C45"/>
                </a:solidFill>
                <a:latin typeface="Cormorant Garamond" pitchFamily="34" charset="0"/>
                <a:ea typeface="Cormorant Garamond" pitchFamily="34" charset="-122"/>
                <a:cs typeface="Cormorant Garamond" pitchFamily="34" charset="-120"/>
              </a:rPr>
              <a:t>03</a:t>
            </a:r>
            <a:endParaRPr lang="en-US" sz="3000" dirty="0"/>
          </a:p>
        </p:txBody>
      </p:sp>
      <p:sp>
        <p:nvSpPr>
          <p:cNvPr id="18" name="Text 16"/>
          <p:cNvSpPr txBox="1"/>
          <p:nvPr/>
        </p:nvSpPr>
        <p:spPr>
          <a:xfrm>
            <a:off x="5196718" y="3703320"/>
            <a:ext cx="1798259" cy="1188720"/>
          </a:xfrm>
          <a:prstGeom prst="rect">
            <a:avLst/>
          </a:prstGeom>
          <a:noFill/>
          <a:ln/>
        </p:spPr>
        <p:txBody>
          <a:bodyPr wrap="square" lIns="0" tIns="0" rIns="0" bIns="0" rtlCol="0" anchor="t"/>
          <a:lstStyle/>
          <a:p>
            <a:pPr indent="0" marL="0">
              <a:buNone/>
            </a:pPr>
            <a:r>
              <a:rPr lang="en-US" sz="1250" b="1" dirty="0">
                <a:solidFill>
                  <a:srgbClr val="241F1D"/>
                </a:solidFill>
                <a:latin typeface="DM Sans" pitchFamily="34" charset="0"/>
                <a:ea typeface="DM Sans" pitchFamily="34" charset="-122"/>
                <a:cs typeface="DM Sans" pitchFamily="34" charset="-120"/>
              </a:rPr>
              <a:t>Comparar BlendPure con competidores y sustitutos</a:t>
            </a:r>
            <a:endParaRPr lang="en-US" sz="1250" dirty="0"/>
          </a:p>
        </p:txBody>
      </p:sp>
      <p:sp>
        <p:nvSpPr>
          <p:cNvPr id="19" name="Shape 17"/>
          <p:cNvSpPr/>
          <p:nvPr/>
        </p:nvSpPr>
        <p:spPr>
          <a:xfrm>
            <a:off x="5169286" y="5120640"/>
            <a:ext cx="1853123" cy="777240"/>
          </a:xfrm>
          <a:prstGeom prst="roundRect">
            <a:avLst>
              <a:gd name="adj" fmla="val 9412"/>
            </a:avLst>
          </a:prstGeom>
          <a:solidFill>
            <a:srgbClr val="E4F0E9"/>
          </a:solidFill>
          <a:ln/>
        </p:spPr>
      </p:sp>
      <p:sp>
        <p:nvSpPr>
          <p:cNvPr id="20" name="Text 18"/>
          <p:cNvSpPr txBox="1"/>
          <p:nvPr/>
        </p:nvSpPr>
        <p:spPr>
          <a:xfrm>
            <a:off x="5242438" y="5120640"/>
            <a:ext cx="1706819" cy="777240"/>
          </a:xfrm>
          <a:prstGeom prst="rect">
            <a:avLst/>
          </a:prstGeom>
          <a:noFill/>
          <a:ln/>
        </p:spPr>
        <p:txBody>
          <a:bodyPr wrap="square" lIns="0" tIns="0" rIns="0" bIns="0" rtlCol="0" anchor="ctr"/>
          <a:lstStyle/>
          <a:p>
            <a:pPr algn="ctr" indent="0" marL="0">
              <a:buNone/>
            </a:pPr>
            <a:r>
              <a:rPr lang="en-US" sz="1050" b="1" dirty="0">
                <a:solidFill>
                  <a:srgbClr val="2F6B4F"/>
                </a:solidFill>
                <a:latin typeface="DM Sans" pitchFamily="34" charset="0"/>
                <a:ea typeface="DM Sans" pitchFamily="34" charset="-122"/>
                <a:cs typeface="DM Sans" pitchFamily="34" charset="-120"/>
              </a:rPr>
              <a:t>Hecho · documental y entrevistas</a:t>
            </a:r>
            <a:endParaRPr lang="en-US" sz="1050" dirty="0"/>
          </a:p>
        </p:txBody>
      </p:sp>
      <p:sp>
        <p:nvSpPr>
          <p:cNvPr id="21" name="Shape 19"/>
          <p:cNvSpPr/>
          <p:nvPr/>
        </p:nvSpPr>
        <p:spPr>
          <a:xfrm>
            <a:off x="7315017" y="3017520"/>
            <a:ext cx="2072579" cy="3017520"/>
          </a:xfrm>
          <a:prstGeom prst="roundRect">
            <a:avLst>
              <a:gd name="adj" fmla="val 5294"/>
            </a:avLst>
          </a:prstGeom>
          <a:solidFill>
            <a:srgbClr val="FFFFFF"/>
          </a:solidFill>
          <a:ln w="12700">
            <a:solidFill>
              <a:srgbClr val="EDE1D9"/>
            </a:solidFill>
            <a:prstDash val="solid"/>
          </a:ln>
        </p:spPr>
      </p:sp>
      <p:sp>
        <p:nvSpPr>
          <p:cNvPr id="22" name="Text 20"/>
          <p:cNvSpPr txBox="1"/>
          <p:nvPr/>
        </p:nvSpPr>
        <p:spPr>
          <a:xfrm>
            <a:off x="7452177" y="3108960"/>
            <a:ext cx="1798259" cy="548640"/>
          </a:xfrm>
          <a:prstGeom prst="rect">
            <a:avLst/>
          </a:prstGeom>
          <a:noFill/>
          <a:ln/>
        </p:spPr>
        <p:txBody>
          <a:bodyPr wrap="square" lIns="0" tIns="0" rIns="0" bIns="0" rtlCol="0" anchor="ctr"/>
          <a:lstStyle/>
          <a:p>
            <a:pPr indent="0" marL="0">
              <a:buNone/>
            </a:pPr>
            <a:r>
              <a:rPr lang="en-US" sz="3000" b="1" dirty="0">
                <a:solidFill>
                  <a:srgbClr val="A87C45"/>
                </a:solidFill>
                <a:latin typeface="Cormorant Garamond" pitchFamily="34" charset="0"/>
                <a:ea typeface="Cormorant Garamond" pitchFamily="34" charset="-122"/>
                <a:cs typeface="Cormorant Garamond" pitchFamily="34" charset="-120"/>
              </a:rPr>
              <a:t>04</a:t>
            </a:r>
            <a:endParaRPr lang="en-US" sz="3000" dirty="0"/>
          </a:p>
        </p:txBody>
      </p:sp>
      <p:sp>
        <p:nvSpPr>
          <p:cNvPr id="23" name="Text 21"/>
          <p:cNvSpPr txBox="1"/>
          <p:nvPr/>
        </p:nvSpPr>
        <p:spPr>
          <a:xfrm>
            <a:off x="7452177" y="3703320"/>
            <a:ext cx="1798259" cy="1188720"/>
          </a:xfrm>
          <a:prstGeom prst="rect">
            <a:avLst/>
          </a:prstGeom>
          <a:noFill/>
          <a:ln/>
        </p:spPr>
        <p:txBody>
          <a:bodyPr wrap="square" lIns="0" tIns="0" rIns="0" bIns="0" rtlCol="0" anchor="t"/>
          <a:lstStyle/>
          <a:p>
            <a:pPr indent="0" marL="0">
              <a:buNone/>
            </a:pPr>
            <a:r>
              <a:rPr lang="en-US" sz="1250" b="1" dirty="0">
                <a:solidFill>
                  <a:srgbClr val="241F1D"/>
                </a:solidFill>
                <a:latin typeface="DM Sans" pitchFamily="34" charset="0"/>
                <a:ea typeface="DM Sans" pitchFamily="34" charset="-122"/>
                <a:cs typeface="DM Sans" pitchFamily="34" charset="-120"/>
              </a:rPr>
              <a:t>Medir la disposición a pagar en COP 250.000-450.000 (meta ≥ 50 %)</a:t>
            </a:r>
            <a:endParaRPr lang="en-US" sz="1250" dirty="0"/>
          </a:p>
        </p:txBody>
      </p:sp>
      <p:sp>
        <p:nvSpPr>
          <p:cNvPr id="24" name="Shape 22"/>
          <p:cNvSpPr/>
          <p:nvPr/>
        </p:nvSpPr>
        <p:spPr>
          <a:xfrm>
            <a:off x="7424745" y="5120640"/>
            <a:ext cx="1853123" cy="777240"/>
          </a:xfrm>
          <a:prstGeom prst="roundRect">
            <a:avLst>
              <a:gd name="adj" fmla="val 9412"/>
            </a:avLst>
          </a:prstGeom>
          <a:solidFill>
            <a:srgbClr val="F6DDDA"/>
          </a:solidFill>
          <a:ln/>
        </p:spPr>
      </p:sp>
      <p:sp>
        <p:nvSpPr>
          <p:cNvPr id="25" name="Text 23"/>
          <p:cNvSpPr txBox="1"/>
          <p:nvPr/>
        </p:nvSpPr>
        <p:spPr>
          <a:xfrm>
            <a:off x="7497897" y="5120640"/>
            <a:ext cx="1706819" cy="777240"/>
          </a:xfrm>
          <a:prstGeom prst="rect">
            <a:avLst/>
          </a:prstGeom>
          <a:noFill/>
          <a:ln/>
        </p:spPr>
        <p:txBody>
          <a:bodyPr wrap="square" lIns="0" tIns="0" rIns="0" bIns="0" rtlCol="0" anchor="ctr"/>
          <a:lstStyle/>
          <a:p>
            <a:pPr algn="ctr" indent="0" marL="0">
              <a:buNone/>
            </a:pPr>
            <a:r>
              <a:rPr lang="en-US" sz="1050" b="1" dirty="0">
                <a:solidFill>
                  <a:srgbClr val="9A3B33"/>
                </a:solidFill>
                <a:latin typeface="DM Sans" pitchFamily="34" charset="0"/>
                <a:ea typeface="DM Sans" pitchFamily="34" charset="-122"/>
                <a:cs typeface="DM Sans" pitchFamily="34" charset="-120"/>
              </a:rPr>
              <a:t>Medido: 25,2 %. Meta no alcanzada</a:t>
            </a:r>
            <a:endParaRPr lang="en-US" sz="1050" dirty="0"/>
          </a:p>
        </p:txBody>
      </p:sp>
      <p:sp>
        <p:nvSpPr>
          <p:cNvPr id="26" name="Shape 24"/>
          <p:cNvSpPr/>
          <p:nvPr/>
        </p:nvSpPr>
        <p:spPr>
          <a:xfrm>
            <a:off x="9570476" y="3017520"/>
            <a:ext cx="2072579" cy="3017520"/>
          </a:xfrm>
          <a:prstGeom prst="roundRect">
            <a:avLst>
              <a:gd name="adj" fmla="val 5294"/>
            </a:avLst>
          </a:prstGeom>
          <a:solidFill>
            <a:srgbClr val="FFFFFF"/>
          </a:solidFill>
          <a:ln w="12700">
            <a:solidFill>
              <a:srgbClr val="EDE1D9"/>
            </a:solidFill>
            <a:prstDash val="solid"/>
          </a:ln>
        </p:spPr>
      </p:sp>
      <p:sp>
        <p:nvSpPr>
          <p:cNvPr id="27" name="Text 25"/>
          <p:cNvSpPr txBox="1"/>
          <p:nvPr/>
        </p:nvSpPr>
        <p:spPr>
          <a:xfrm>
            <a:off x="9707636" y="3108960"/>
            <a:ext cx="1798259" cy="548640"/>
          </a:xfrm>
          <a:prstGeom prst="rect">
            <a:avLst/>
          </a:prstGeom>
          <a:noFill/>
          <a:ln/>
        </p:spPr>
        <p:txBody>
          <a:bodyPr wrap="square" lIns="0" tIns="0" rIns="0" bIns="0" rtlCol="0" anchor="ctr"/>
          <a:lstStyle/>
          <a:p>
            <a:pPr indent="0" marL="0">
              <a:buNone/>
            </a:pPr>
            <a:r>
              <a:rPr lang="en-US" sz="3000" b="1" dirty="0">
                <a:solidFill>
                  <a:srgbClr val="A87C45"/>
                </a:solidFill>
                <a:latin typeface="Cormorant Garamond" pitchFamily="34" charset="0"/>
                <a:ea typeface="Cormorant Garamond" pitchFamily="34" charset="-122"/>
                <a:cs typeface="Cormorant Garamond" pitchFamily="34" charset="-120"/>
              </a:rPr>
              <a:t>05</a:t>
            </a:r>
            <a:endParaRPr lang="en-US" sz="3000" dirty="0"/>
          </a:p>
        </p:txBody>
      </p:sp>
      <p:sp>
        <p:nvSpPr>
          <p:cNvPr id="28" name="Text 26"/>
          <p:cNvSpPr txBox="1"/>
          <p:nvPr/>
        </p:nvSpPr>
        <p:spPr>
          <a:xfrm>
            <a:off x="9707636" y="3703320"/>
            <a:ext cx="1798259" cy="1188720"/>
          </a:xfrm>
          <a:prstGeom prst="rect">
            <a:avLst/>
          </a:prstGeom>
          <a:noFill/>
          <a:ln/>
        </p:spPr>
        <p:txBody>
          <a:bodyPr wrap="square" lIns="0" tIns="0" rIns="0" bIns="0" rtlCol="0" anchor="t"/>
          <a:lstStyle/>
          <a:p>
            <a:pPr indent="0" marL="0">
              <a:buNone/>
            </a:pPr>
            <a:r>
              <a:rPr lang="en-US" sz="1250" b="1" dirty="0">
                <a:solidFill>
                  <a:srgbClr val="241F1D"/>
                </a:solidFill>
                <a:latin typeface="DM Sans" pitchFamily="34" charset="0"/>
                <a:ea typeface="DM Sans" pitchFamily="34" charset="-122"/>
                <a:cs typeface="DM Sans" pitchFamily="34" charset="-120"/>
              </a:rPr>
              <a:t>Validar el mockup con mínimo 15 potenciales usuarias</a:t>
            </a:r>
            <a:endParaRPr lang="en-US" sz="1250" dirty="0"/>
          </a:p>
        </p:txBody>
      </p:sp>
      <p:sp>
        <p:nvSpPr>
          <p:cNvPr id="29" name="Shape 27"/>
          <p:cNvSpPr/>
          <p:nvPr/>
        </p:nvSpPr>
        <p:spPr>
          <a:xfrm>
            <a:off x="9680204" y="5120640"/>
            <a:ext cx="1853123" cy="777240"/>
          </a:xfrm>
          <a:prstGeom prst="roundRect">
            <a:avLst>
              <a:gd name="adj" fmla="val 9412"/>
            </a:avLst>
          </a:prstGeom>
          <a:solidFill>
            <a:srgbClr val="F3DCD8"/>
          </a:solidFill>
          <a:ln/>
        </p:spPr>
      </p:sp>
      <p:sp>
        <p:nvSpPr>
          <p:cNvPr id="30" name="Text 28"/>
          <p:cNvSpPr txBox="1"/>
          <p:nvPr/>
        </p:nvSpPr>
        <p:spPr>
          <a:xfrm>
            <a:off x="9753356" y="5120640"/>
            <a:ext cx="1706819" cy="777240"/>
          </a:xfrm>
          <a:prstGeom prst="rect">
            <a:avLst/>
          </a:prstGeom>
          <a:noFill/>
          <a:ln/>
        </p:spPr>
        <p:txBody>
          <a:bodyPr wrap="square" lIns="0" tIns="0" rIns="0" bIns="0" rtlCol="0" anchor="ctr"/>
          <a:lstStyle/>
          <a:p>
            <a:pPr algn="ctr" indent="0" marL="0">
              <a:buNone/>
            </a:pPr>
            <a:r>
              <a:rPr lang="en-US" sz="1050" b="1" dirty="0">
                <a:solidFill>
                  <a:srgbClr val="6B4A43"/>
                </a:solidFill>
                <a:latin typeface="DM Sans" pitchFamily="34" charset="0"/>
                <a:ea typeface="DM Sans" pitchFamily="34" charset="-122"/>
                <a:cs typeface="DM Sans" pitchFamily="34" charset="-120"/>
              </a:rPr>
              <a:t>Pendiente</a:t>
            </a:r>
            <a:endParaRPr lang="en-US" sz="1050" dirty="0"/>
          </a:p>
        </p:txBody>
      </p:sp>
      <p:sp>
        <p:nvSpPr>
          <p:cNvPr id="31" name="Text 29"/>
          <p:cNvSpPr txBox="1"/>
          <p:nvPr/>
        </p:nvSpPr>
        <p:spPr>
          <a:xfrm>
            <a:off x="548640" y="6355080"/>
            <a:ext cx="11094415" cy="365760"/>
          </a:xfrm>
          <a:prstGeom prst="rect">
            <a:avLst/>
          </a:prstGeom>
          <a:noFill/>
          <a:ln/>
        </p:spPr>
        <p:txBody>
          <a:bodyPr wrap="square" lIns="0" tIns="0" rIns="0" bIns="0" rtlCol="0" anchor="ctr"/>
          <a:lstStyle/>
          <a:p>
            <a:pPr indent="0" marL="0">
              <a:buNone/>
            </a:pPr>
            <a:r>
              <a:rPr lang="en-US" sz="1100" dirty="0">
                <a:solidFill>
                  <a:srgbClr val="8A7A73"/>
                </a:solidFill>
                <a:latin typeface="DM Sans" pitchFamily="34" charset="0"/>
                <a:ea typeface="DM Sans" pitchFamily="34" charset="-122"/>
                <a:cs typeface="DM Sans" pitchFamily="34" charset="-120"/>
              </a:rPr>
              <a:t>Objetivos formulados a partir de la pregunta problema y del plan de validación del documento del proyecto; estado según la encuesta y las entrevistas realizadas.</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BF5F1"/>
        </a:solidFill>
      </p:bgPr>
    </p:bg>
    <p:spTree>
      <p:nvGrpSpPr>
        <p:cNvPr id="1" name=""/>
        <p:cNvGrpSpPr/>
        <p:nvPr/>
      </p:nvGrpSpPr>
      <p:grpSpPr>
        <a:xfrm>
          <a:off x="0" y="0"/>
          <a:ext cx="0" cy="0"/>
          <a:chOff x="0" y="0"/>
          <a:chExt cx="0" cy="0"/>
        </a:xfrm>
      </p:grpSpPr>
      <p:sp>
        <p:nvSpPr>
          <p:cNvPr id="2" name="Text 0"/>
          <p:cNvSpPr txBox="1"/>
          <p:nvPr/>
        </p:nvSpPr>
        <p:spPr>
          <a:xfrm>
            <a:off x="548640" y="502920"/>
            <a:ext cx="11094415" cy="320040"/>
          </a:xfrm>
          <a:prstGeom prst="rect">
            <a:avLst/>
          </a:prstGeom>
          <a:noFill/>
          <a:ln/>
        </p:spPr>
        <p:txBody>
          <a:bodyPr wrap="square" lIns="0" tIns="0" rIns="0" bIns="0" rtlCol="0" anchor="ctr"/>
          <a:lstStyle/>
          <a:p>
            <a:pPr indent="0" marL="0">
              <a:buNone/>
            </a:pPr>
            <a:r>
              <a:rPr lang="en-US" sz="1300" b="1" spc="200" kern="0" dirty="0">
                <a:solidFill>
                  <a:srgbClr val="A87C45"/>
                </a:solidFill>
                <a:latin typeface="DM Sans" pitchFamily="34" charset="0"/>
                <a:ea typeface="DM Sans" pitchFamily="34" charset="-122"/>
                <a:cs typeface="DM Sans" pitchFamily="34" charset="-120"/>
              </a:rPr>
              <a:t>JUSTIFICACIÓN</a:t>
            </a:r>
            <a:endParaRPr lang="en-US" sz="1300" dirty="0"/>
          </a:p>
        </p:txBody>
      </p:sp>
      <p:sp>
        <p:nvSpPr>
          <p:cNvPr id="3" name="Text 1"/>
          <p:cNvSpPr txBox="1"/>
          <p:nvPr/>
        </p:nvSpPr>
        <p:spPr>
          <a:xfrm>
            <a:off x="548640" y="822960"/>
            <a:ext cx="11094415" cy="822960"/>
          </a:xfrm>
          <a:prstGeom prst="rect">
            <a:avLst/>
          </a:prstGeom>
          <a:noFill/>
          <a:ln/>
        </p:spPr>
        <p:txBody>
          <a:bodyPr wrap="square" lIns="0" tIns="0" rIns="0" bIns="0" rtlCol="0" anchor="ctr"/>
          <a:lstStyle/>
          <a:p>
            <a:pPr algn="l" indent="0" marL="0">
              <a:buNone/>
            </a:pPr>
            <a:r>
              <a:rPr lang="en-US" sz="3000" b="1" dirty="0">
                <a:solidFill>
                  <a:srgbClr val="241F1D"/>
                </a:solidFill>
                <a:latin typeface="Cormorant Garamond" pitchFamily="34" charset="0"/>
                <a:ea typeface="Cormorant Garamond" pitchFamily="34" charset="-122"/>
                <a:cs typeface="Cormorant Garamond" pitchFamily="34" charset="-120"/>
              </a:rPr>
              <a:t>¿Por qué vale la pena investigar BlendPure?</a:t>
            </a:r>
            <a:endParaRPr lang="en-US" sz="3000" dirty="0"/>
          </a:p>
        </p:txBody>
      </p:sp>
      <p:sp>
        <p:nvSpPr>
          <p:cNvPr id="4" name="Shape 2"/>
          <p:cNvSpPr/>
          <p:nvPr/>
        </p:nvSpPr>
        <p:spPr>
          <a:xfrm>
            <a:off x="548640" y="1691640"/>
            <a:ext cx="3545738" cy="1371600"/>
          </a:xfrm>
          <a:prstGeom prst="roundRect">
            <a:avLst>
              <a:gd name="adj" fmla="val 6667"/>
            </a:avLst>
          </a:prstGeom>
          <a:solidFill>
            <a:srgbClr val="FFFFFF"/>
          </a:solidFill>
          <a:ln w="12700">
            <a:solidFill>
              <a:srgbClr val="EDE1D9"/>
            </a:solidFill>
            <a:prstDash val="solid"/>
          </a:ln>
        </p:spPr>
      </p:sp>
      <p:sp>
        <p:nvSpPr>
          <p:cNvPr id="5" name="Text 3"/>
          <p:cNvSpPr txBox="1"/>
          <p:nvPr/>
        </p:nvSpPr>
        <p:spPr>
          <a:xfrm>
            <a:off x="731520" y="1783080"/>
            <a:ext cx="3179978" cy="502920"/>
          </a:xfrm>
          <a:prstGeom prst="rect">
            <a:avLst/>
          </a:prstGeom>
          <a:noFill/>
          <a:ln/>
        </p:spPr>
        <p:txBody>
          <a:bodyPr wrap="square" lIns="0" tIns="0" rIns="0" bIns="0" rtlCol="0" anchor="ctr"/>
          <a:lstStyle/>
          <a:p>
            <a:pPr indent="0" marL="0">
              <a:buNone/>
            </a:pPr>
            <a:r>
              <a:rPr lang="en-US" sz="3000" b="1" dirty="0">
                <a:solidFill>
                  <a:srgbClr val="A87C45"/>
                </a:solidFill>
                <a:latin typeface="Cormorant Garamond" pitchFamily="34" charset="0"/>
                <a:ea typeface="Cormorant Garamond" pitchFamily="34" charset="-122"/>
                <a:cs typeface="Cormorant Garamond" pitchFamily="34" charset="-120"/>
              </a:rPr>
              <a:t>01</a:t>
            </a:r>
            <a:endParaRPr lang="en-US" sz="3000" dirty="0"/>
          </a:p>
        </p:txBody>
      </p:sp>
      <p:sp>
        <p:nvSpPr>
          <p:cNvPr id="6" name="Text 4"/>
          <p:cNvSpPr txBox="1"/>
          <p:nvPr/>
        </p:nvSpPr>
        <p:spPr>
          <a:xfrm>
            <a:off x="731520" y="2240280"/>
            <a:ext cx="3179978" cy="274320"/>
          </a:xfrm>
          <a:prstGeom prst="rect">
            <a:avLst/>
          </a:prstGeom>
          <a:noFill/>
          <a:ln/>
        </p:spPr>
        <p:txBody>
          <a:bodyPr wrap="square" lIns="0" tIns="0" rIns="0" bIns="0" rtlCol="0" anchor="ctr"/>
          <a:lstStyle/>
          <a:p>
            <a:pPr indent="0" marL="0">
              <a:buNone/>
            </a:pPr>
            <a:r>
              <a:rPr lang="en-US" sz="1400" b="1" dirty="0">
                <a:solidFill>
                  <a:srgbClr val="241F1D"/>
                </a:solidFill>
                <a:latin typeface="DM Sans" pitchFamily="34" charset="0"/>
                <a:ea typeface="DM Sans" pitchFamily="34" charset="-122"/>
                <a:cs typeface="DM Sans" pitchFamily="34" charset="-120"/>
              </a:rPr>
              <a:t>Problema real</a:t>
            </a:r>
            <a:endParaRPr lang="en-US" sz="1400" dirty="0"/>
          </a:p>
        </p:txBody>
      </p:sp>
      <p:sp>
        <p:nvSpPr>
          <p:cNvPr id="7" name="Text 5"/>
          <p:cNvSpPr txBox="1"/>
          <p:nvPr/>
        </p:nvSpPr>
        <p:spPr>
          <a:xfrm>
            <a:off x="731520" y="2532888"/>
            <a:ext cx="3179978" cy="457200"/>
          </a:xfrm>
          <a:prstGeom prst="rect">
            <a:avLst/>
          </a:prstGeom>
          <a:noFill/>
          <a:ln/>
        </p:spPr>
        <p:txBody>
          <a:bodyPr wrap="square" lIns="0" tIns="0" rIns="0" bIns="0" rtlCol="0" anchor="ctr"/>
          <a:lstStyle/>
          <a:p>
            <a:pPr indent="0" marL="0">
              <a:buNone/>
            </a:pPr>
            <a:r>
              <a:rPr lang="en-US" sz="1150" dirty="0">
                <a:solidFill>
                  <a:srgbClr val="5B5250"/>
                </a:solidFill>
                <a:latin typeface="DM Sans" pitchFamily="34" charset="0"/>
                <a:ea typeface="DM Sans" pitchFamily="34" charset="-122"/>
                <a:cs typeface="DM Sans" pitchFamily="34" charset="-120"/>
              </a:rPr>
              <a:t>Existe evidencia de baja frecuencia de limpieza de esponjas y brochas.</a:t>
            </a:r>
            <a:endParaRPr lang="en-US" sz="1150" dirty="0"/>
          </a:p>
        </p:txBody>
      </p:sp>
      <p:sp>
        <p:nvSpPr>
          <p:cNvPr id="8" name="Shape 6"/>
          <p:cNvSpPr/>
          <p:nvPr/>
        </p:nvSpPr>
        <p:spPr>
          <a:xfrm>
            <a:off x="4322978" y="1691640"/>
            <a:ext cx="3545738" cy="1371600"/>
          </a:xfrm>
          <a:prstGeom prst="roundRect">
            <a:avLst>
              <a:gd name="adj" fmla="val 6667"/>
            </a:avLst>
          </a:prstGeom>
          <a:solidFill>
            <a:srgbClr val="FFFFFF"/>
          </a:solidFill>
          <a:ln w="12700">
            <a:solidFill>
              <a:srgbClr val="EDE1D9"/>
            </a:solidFill>
            <a:prstDash val="solid"/>
          </a:ln>
        </p:spPr>
      </p:sp>
      <p:sp>
        <p:nvSpPr>
          <p:cNvPr id="9" name="Text 7"/>
          <p:cNvSpPr txBox="1"/>
          <p:nvPr/>
        </p:nvSpPr>
        <p:spPr>
          <a:xfrm>
            <a:off x="4505858" y="1783080"/>
            <a:ext cx="3179978" cy="502920"/>
          </a:xfrm>
          <a:prstGeom prst="rect">
            <a:avLst/>
          </a:prstGeom>
          <a:noFill/>
          <a:ln/>
        </p:spPr>
        <p:txBody>
          <a:bodyPr wrap="square" lIns="0" tIns="0" rIns="0" bIns="0" rtlCol="0" anchor="ctr"/>
          <a:lstStyle/>
          <a:p>
            <a:pPr indent="0" marL="0">
              <a:buNone/>
            </a:pPr>
            <a:r>
              <a:rPr lang="en-US" sz="3000" b="1" dirty="0">
                <a:solidFill>
                  <a:srgbClr val="A87C45"/>
                </a:solidFill>
                <a:latin typeface="Cormorant Garamond" pitchFamily="34" charset="0"/>
                <a:ea typeface="Cormorant Garamond" pitchFamily="34" charset="-122"/>
                <a:cs typeface="Cormorant Garamond" pitchFamily="34" charset="-120"/>
              </a:rPr>
              <a:t>02</a:t>
            </a:r>
            <a:endParaRPr lang="en-US" sz="3000" dirty="0"/>
          </a:p>
        </p:txBody>
      </p:sp>
      <p:sp>
        <p:nvSpPr>
          <p:cNvPr id="10" name="Text 8"/>
          <p:cNvSpPr txBox="1"/>
          <p:nvPr/>
        </p:nvSpPr>
        <p:spPr>
          <a:xfrm>
            <a:off x="4505858" y="2240280"/>
            <a:ext cx="3179978" cy="274320"/>
          </a:xfrm>
          <a:prstGeom prst="rect">
            <a:avLst/>
          </a:prstGeom>
          <a:noFill/>
          <a:ln/>
        </p:spPr>
        <p:txBody>
          <a:bodyPr wrap="square" lIns="0" tIns="0" rIns="0" bIns="0" rtlCol="0" anchor="ctr"/>
          <a:lstStyle/>
          <a:p>
            <a:pPr indent="0" marL="0">
              <a:buNone/>
            </a:pPr>
            <a:r>
              <a:rPr lang="en-US" sz="1400" b="1" dirty="0">
                <a:solidFill>
                  <a:srgbClr val="241F1D"/>
                </a:solidFill>
                <a:latin typeface="DM Sans" pitchFamily="34" charset="0"/>
                <a:ea typeface="DM Sans" pitchFamily="34" charset="-122"/>
                <a:cs typeface="DM Sans" pitchFamily="34" charset="-120"/>
              </a:rPr>
              <a:t>Fricción</a:t>
            </a:r>
            <a:endParaRPr lang="en-US" sz="1400" dirty="0"/>
          </a:p>
        </p:txBody>
      </p:sp>
      <p:sp>
        <p:nvSpPr>
          <p:cNvPr id="11" name="Text 9"/>
          <p:cNvSpPr txBox="1"/>
          <p:nvPr/>
        </p:nvSpPr>
        <p:spPr>
          <a:xfrm>
            <a:off x="4505858" y="2532888"/>
            <a:ext cx="3179978" cy="457200"/>
          </a:xfrm>
          <a:prstGeom prst="rect">
            <a:avLst/>
          </a:prstGeom>
          <a:noFill/>
          <a:ln/>
        </p:spPr>
        <p:txBody>
          <a:bodyPr wrap="square" lIns="0" tIns="0" rIns="0" bIns="0" rtlCol="0" anchor="ctr"/>
          <a:lstStyle/>
          <a:p>
            <a:pPr indent="0" marL="0">
              <a:buNone/>
            </a:pPr>
            <a:r>
              <a:rPr lang="en-US" sz="1150" dirty="0">
                <a:solidFill>
                  <a:srgbClr val="5B5250"/>
                </a:solidFill>
                <a:latin typeface="DM Sans" pitchFamily="34" charset="0"/>
                <a:ea typeface="DM Sans" pitchFamily="34" charset="-122"/>
                <a:cs typeface="DM Sans" pitchFamily="34" charset="-120"/>
              </a:rPr>
              <a:t>El proceso manual de limpieza requiere tiempo y esfuerzo que muchas no están dispuestas a dar.</a:t>
            </a:r>
            <a:endParaRPr lang="en-US" sz="1150" dirty="0"/>
          </a:p>
        </p:txBody>
      </p:sp>
      <p:sp>
        <p:nvSpPr>
          <p:cNvPr id="12" name="Shape 10"/>
          <p:cNvSpPr/>
          <p:nvPr/>
        </p:nvSpPr>
        <p:spPr>
          <a:xfrm>
            <a:off x="8097317" y="1691640"/>
            <a:ext cx="3545738" cy="1371600"/>
          </a:xfrm>
          <a:prstGeom prst="roundRect">
            <a:avLst>
              <a:gd name="adj" fmla="val 6667"/>
            </a:avLst>
          </a:prstGeom>
          <a:solidFill>
            <a:srgbClr val="FFFFFF"/>
          </a:solidFill>
          <a:ln w="12700">
            <a:solidFill>
              <a:srgbClr val="EDE1D9"/>
            </a:solidFill>
            <a:prstDash val="solid"/>
          </a:ln>
        </p:spPr>
      </p:sp>
      <p:sp>
        <p:nvSpPr>
          <p:cNvPr id="13" name="Text 11"/>
          <p:cNvSpPr txBox="1"/>
          <p:nvPr/>
        </p:nvSpPr>
        <p:spPr>
          <a:xfrm>
            <a:off x="8280197" y="1783080"/>
            <a:ext cx="3179978" cy="502920"/>
          </a:xfrm>
          <a:prstGeom prst="rect">
            <a:avLst/>
          </a:prstGeom>
          <a:noFill/>
          <a:ln/>
        </p:spPr>
        <p:txBody>
          <a:bodyPr wrap="square" lIns="0" tIns="0" rIns="0" bIns="0" rtlCol="0" anchor="ctr"/>
          <a:lstStyle/>
          <a:p>
            <a:pPr indent="0" marL="0">
              <a:buNone/>
            </a:pPr>
            <a:r>
              <a:rPr lang="en-US" sz="3000" b="1" dirty="0">
                <a:solidFill>
                  <a:srgbClr val="A87C45"/>
                </a:solidFill>
                <a:latin typeface="Cormorant Garamond" pitchFamily="34" charset="0"/>
                <a:ea typeface="Cormorant Garamond" pitchFamily="34" charset="-122"/>
                <a:cs typeface="Cormorant Garamond" pitchFamily="34" charset="-120"/>
              </a:rPr>
              <a:t>03</a:t>
            </a:r>
            <a:endParaRPr lang="en-US" sz="3000" dirty="0"/>
          </a:p>
        </p:txBody>
      </p:sp>
      <p:sp>
        <p:nvSpPr>
          <p:cNvPr id="14" name="Text 12"/>
          <p:cNvSpPr txBox="1"/>
          <p:nvPr/>
        </p:nvSpPr>
        <p:spPr>
          <a:xfrm>
            <a:off x="8280197" y="2240280"/>
            <a:ext cx="3179978" cy="274320"/>
          </a:xfrm>
          <a:prstGeom prst="rect">
            <a:avLst/>
          </a:prstGeom>
          <a:noFill/>
          <a:ln/>
        </p:spPr>
        <p:txBody>
          <a:bodyPr wrap="square" lIns="0" tIns="0" rIns="0" bIns="0" rtlCol="0" anchor="ctr"/>
          <a:lstStyle/>
          <a:p>
            <a:pPr indent="0" marL="0">
              <a:buNone/>
            </a:pPr>
            <a:r>
              <a:rPr lang="en-US" sz="1400" b="1" dirty="0">
                <a:solidFill>
                  <a:srgbClr val="241F1D"/>
                </a:solidFill>
                <a:latin typeface="DM Sans" pitchFamily="34" charset="0"/>
                <a:ea typeface="DM Sans" pitchFamily="34" charset="-122"/>
                <a:cs typeface="DM Sans" pitchFamily="34" charset="-120"/>
              </a:rPr>
              <a:t>Oportunidad de mercado</a:t>
            </a:r>
            <a:endParaRPr lang="en-US" sz="1400" dirty="0"/>
          </a:p>
        </p:txBody>
      </p:sp>
      <p:sp>
        <p:nvSpPr>
          <p:cNvPr id="15" name="Text 13"/>
          <p:cNvSpPr txBox="1"/>
          <p:nvPr/>
        </p:nvSpPr>
        <p:spPr>
          <a:xfrm>
            <a:off x="8280197" y="2532888"/>
            <a:ext cx="3179978" cy="457200"/>
          </a:xfrm>
          <a:prstGeom prst="rect">
            <a:avLst/>
          </a:prstGeom>
          <a:noFill/>
          <a:ln/>
        </p:spPr>
        <p:txBody>
          <a:bodyPr wrap="square" lIns="0" tIns="0" rIns="0" bIns="0" rtlCol="0" anchor="ctr"/>
          <a:lstStyle/>
          <a:p>
            <a:pPr indent="0" marL="0">
              <a:buNone/>
            </a:pPr>
            <a:r>
              <a:rPr lang="en-US" sz="1150" dirty="0">
                <a:solidFill>
                  <a:srgbClr val="5B5250"/>
                </a:solidFill>
                <a:latin typeface="DM Sans" pitchFamily="34" charset="0"/>
                <a:ea typeface="DM Sans" pitchFamily="34" charset="-122"/>
                <a:cs typeface="DM Sans" pitchFamily="34" charset="-120"/>
              </a:rPr>
              <a:t>El beauty y el beauty-tech están creciendo de forma sostenida.</a:t>
            </a:r>
            <a:endParaRPr lang="en-US" sz="1150" dirty="0"/>
          </a:p>
        </p:txBody>
      </p:sp>
      <p:sp>
        <p:nvSpPr>
          <p:cNvPr id="16" name="Shape 14"/>
          <p:cNvSpPr/>
          <p:nvPr/>
        </p:nvSpPr>
        <p:spPr>
          <a:xfrm>
            <a:off x="548640" y="3246120"/>
            <a:ext cx="3545738" cy="1371600"/>
          </a:xfrm>
          <a:prstGeom prst="roundRect">
            <a:avLst>
              <a:gd name="adj" fmla="val 6667"/>
            </a:avLst>
          </a:prstGeom>
          <a:solidFill>
            <a:srgbClr val="FFFFFF"/>
          </a:solidFill>
          <a:ln w="12700">
            <a:solidFill>
              <a:srgbClr val="EDE1D9"/>
            </a:solidFill>
            <a:prstDash val="solid"/>
          </a:ln>
        </p:spPr>
      </p:sp>
      <p:sp>
        <p:nvSpPr>
          <p:cNvPr id="17" name="Text 15"/>
          <p:cNvSpPr txBox="1"/>
          <p:nvPr/>
        </p:nvSpPr>
        <p:spPr>
          <a:xfrm>
            <a:off x="731520" y="3337560"/>
            <a:ext cx="3179978" cy="502920"/>
          </a:xfrm>
          <a:prstGeom prst="rect">
            <a:avLst/>
          </a:prstGeom>
          <a:noFill/>
          <a:ln/>
        </p:spPr>
        <p:txBody>
          <a:bodyPr wrap="square" lIns="0" tIns="0" rIns="0" bIns="0" rtlCol="0" anchor="ctr"/>
          <a:lstStyle/>
          <a:p>
            <a:pPr indent="0" marL="0">
              <a:buNone/>
            </a:pPr>
            <a:r>
              <a:rPr lang="en-US" sz="3000" b="1" dirty="0">
                <a:solidFill>
                  <a:srgbClr val="A87C45"/>
                </a:solidFill>
                <a:latin typeface="Cormorant Garamond" pitchFamily="34" charset="0"/>
                <a:ea typeface="Cormorant Garamond" pitchFamily="34" charset="-122"/>
                <a:cs typeface="Cormorant Garamond" pitchFamily="34" charset="-120"/>
              </a:rPr>
              <a:t>04</a:t>
            </a:r>
            <a:endParaRPr lang="en-US" sz="3000" dirty="0"/>
          </a:p>
        </p:txBody>
      </p:sp>
      <p:sp>
        <p:nvSpPr>
          <p:cNvPr id="18" name="Text 16"/>
          <p:cNvSpPr txBox="1"/>
          <p:nvPr/>
        </p:nvSpPr>
        <p:spPr>
          <a:xfrm>
            <a:off x="731520" y="3794760"/>
            <a:ext cx="3179978" cy="274320"/>
          </a:xfrm>
          <a:prstGeom prst="rect">
            <a:avLst/>
          </a:prstGeom>
          <a:noFill/>
          <a:ln/>
        </p:spPr>
        <p:txBody>
          <a:bodyPr wrap="square" lIns="0" tIns="0" rIns="0" bIns="0" rtlCol="0" anchor="ctr"/>
          <a:lstStyle/>
          <a:p>
            <a:pPr indent="0" marL="0">
              <a:buNone/>
            </a:pPr>
            <a:r>
              <a:rPr lang="en-US" sz="1400" b="1" dirty="0">
                <a:solidFill>
                  <a:srgbClr val="241F1D"/>
                </a:solidFill>
                <a:latin typeface="DM Sans" pitchFamily="34" charset="0"/>
                <a:ea typeface="DM Sans" pitchFamily="34" charset="-122"/>
                <a:cs typeface="DM Sans" pitchFamily="34" charset="-120"/>
              </a:rPr>
              <a:t>Diferenciación</a:t>
            </a:r>
            <a:endParaRPr lang="en-US" sz="1400" dirty="0"/>
          </a:p>
        </p:txBody>
      </p:sp>
      <p:sp>
        <p:nvSpPr>
          <p:cNvPr id="19" name="Text 17"/>
          <p:cNvSpPr txBox="1"/>
          <p:nvPr/>
        </p:nvSpPr>
        <p:spPr>
          <a:xfrm>
            <a:off x="731520" y="4087368"/>
            <a:ext cx="3179978" cy="457200"/>
          </a:xfrm>
          <a:prstGeom prst="rect">
            <a:avLst/>
          </a:prstGeom>
          <a:noFill/>
          <a:ln/>
        </p:spPr>
        <p:txBody>
          <a:bodyPr wrap="square" lIns="0" tIns="0" rIns="0" bIns="0" rtlCol="0" anchor="ctr"/>
          <a:lstStyle/>
          <a:p>
            <a:pPr indent="0" marL="0">
              <a:buNone/>
            </a:pPr>
            <a:r>
              <a:rPr lang="en-US" sz="1150" dirty="0">
                <a:solidFill>
                  <a:srgbClr val="5B5250"/>
                </a:solidFill>
                <a:latin typeface="DM Sans" pitchFamily="34" charset="0"/>
                <a:ea typeface="DM Sans" pitchFamily="34" charset="-122"/>
                <a:cs typeface="DM Sans" pitchFamily="34" charset="-120"/>
              </a:rPr>
              <a:t>No encontramos una solución que integre limpieza, enjuague, desinfección y secado en un ciclo.</a:t>
            </a:r>
            <a:endParaRPr lang="en-US" sz="1150" dirty="0"/>
          </a:p>
        </p:txBody>
      </p:sp>
      <p:sp>
        <p:nvSpPr>
          <p:cNvPr id="20" name="Shape 18"/>
          <p:cNvSpPr/>
          <p:nvPr/>
        </p:nvSpPr>
        <p:spPr>
          <a:xfrm>
            <a:off x="4322978" y="3246120"/>
            <a:ext cx="3545738" cy="1371600"/>
          </a:xfrm>
          <a:prstGeom prst="roundRect">
            <a:avLst>
              <a:gd name="adj" fmla="val 6667"/>
            </a:avLst>
          </a:prstGeom>
          <a:solidFill>
            <a:srgbClr val="241F1D"/>
          </a:solidFill>
          <a:ln/>
        </p:spPr>
      </p:sp>
      <p:sp>
        <p:nvSpPr>
          <p:cNvPr id="21" name="Text 19"/>
          <p:cNvSpPr txBox="1"/>
          <p:nvPr/>
        </p:nvSpPr>
        <p:spPr>
          <a:xfrm>
            <a:off x="4505858" y="3337560"/>
            <a:ext cx="3179978" cy="502920"/>
          </a:xfrm>
          <a:prstGeom prst="rect">
            <a:avLst/>
          </a:prstGeom>
          <a:noFill/>
          <a:ln/>
        </p:spPr>
        <p:txBody>
          <a:bodyPr wrap="square" lIns="0" tIns="0" rIns="0" bIns="0" rtlCol="0" anchor="ctr"/>
          <a:lstStyle/>
          <a:p>
            <a:pPr indent="0" marL="0">
              <a:buNone/>
            </a:pPr>
            <a:r>
              <a:rPr lang="en-US" sz="3000" b="1" dirty="0">
                <a:solidFill>
                  <a:srgbClr val="D98C86"/>
                </a:solidFill>
                <a:latin typeface="Cormorant Garamond" pitchFamily="34" charset="0"/>
                <a:ea typeface="Cormorant Garamond" pitchFamily="34" charset="-122"/>
                <a:cs typeface="Cormorant Garamond" pitchFamily="34" charset="-120"/>
              </a:rPr>
              <a:t>05</a:t>
            </a:r>
            <a:endParaRPr lang="en-US" sz="3000" dirty="0"/>
          </a:p>
        </p:txBody>
      </p:sp>
      <p:sp>
        <p:nvSpPr>
          <p:cNvPr id="22" name="Text 20"/>
          <p:cNvSpPr txBox="1"/>
          <p:nvPr/>
        </p:nvSpPr>
        <p:spPr>
          <a:xfrm>
            <a:off x="4505858" y="3794760"/>
            <a:ext cx="3179978" cy="274320"/>
          </a:xfrm>
          <a:prstGeom prst="rect">
            <a:avLst/>
          </a:prstGeom>
          <a:noFill/>
          <a:ln/>
        </p:spPr>
        <p:txBody>
          <a:bodyPr wrap="square" lIns="0" tIns="0" rIns="0" bIns="0" rtlCol="0" anchor="ctr"/>
          <a:lstStyle/>
          <a:p>
            <a:pPr indent="0" marL="0">
              <a:buNone/>
            </a:pPr>
            <a:r>
              <a:rPr lang="en-US" sz="1400" b="1" dirty="0">
                <a:solidFill>
                  <a:srgbClr val="F5E9E2"/>
                </a:solidFill>
                <a:latin typeface="DM Sans" pitchFamily="34" charset="0"/>
                <a:ea typeface="DM Sans" pitchFamily="34" charset="-122"/>
                <a:cs typeface="DM Sans" pitchFamily="34" charset="-120"/>
              </a:rPr>
              <a:t>Validación pendiente</a:t>
            </a:r>
            <a:endParaRPr lang="en-US" sz="1400" dirty="0"/>
          </a:p>
        </p:txBody>
      </p:sp>
      <p:sp>
        <p:nvSpPr>
          <p:cNvPr id="23" name="Text 21"/>
          <p:cNvSpPr txBox="1"/>
          <p:nvPr/>
        </p:nvSpPr>
        <p:spPr>
          <a:xfrm>
            <a:off x="4505858" y="4087368"/>
            <a:ext cx="3179978" cy="457200"/>
          </a:xfrm>
          <a:prstGeom prst="rect">
            <a:avLst/>
          </a:prstGeom>
          <a:noFill/>
          <a:ln/>
        </p:spPr>
        <p:txBody>
          <a:bodyPr wrap="square" lIns="0" tIns="0" rIns="0" bIns="0" rtlCol="0" anchor="ctr"/>
          <a:lstStyle/>
          <a:p>
            <a:pPr indent="0" marL="0">
              <a:buNone/>
            </a:pPr>
            <a:r>
              <a:rPr lang="en-US" sz="1150" dirty="0">
                <a:solidFill>
                  <a:srgbClr val="C9B8B2"/>
                </a:solidFill>
                <a:latin typeface="DM Sans" pitchFamily="34" charset="0"/>
                <a:ea typeface="DM Sans" pitchFamily="34" charset="-122"/>
                <a:cs typeface="DM Sans" pitchFamily="34" charset="-120"/>
              </a:rPr>
              <a:t>Aún no existe evidencia primaria suficiente sobre la disposición a pagar por este producto.</a:t>
            </a:r>
            <a:endParaRPr lang="en-US" sz="1150" dirty="0"/>
          </a:p>
        </p:txBody>
      </p:sp>
      <p:sp>
        <p:nvSpPr>
          <p:cNvPr id="24" name="Shape 22"/>
          <p:cNvSpPr/>
          <p:nvPr/>
        </p:nvSpPr>
        <p:spPr>
          <a:xfrm>
            <a:off x="548640" y="5166360"/>
            <a:ext cx="11094415" cy="868680"/>
          </a:xfrm>
          <a:prstGeom prst="roundRect">
            <a:avLst>
              <a:gd name="adj" fmla="val 10526"/>
            </a:avLst>
          </a:prstGeom>
          <a:solidFill>
            <a:srgbClr val="F3DCD8"/>
          </a:solidFill>
          <a:ln/>
        </p:spPr>
      </p:sp>
      <p:sp>
        <p:nvSpPr>
          <p:cNvPr id="25" name="Text 23"/>
          <p:cNvSpPr txBox="1"/>
          <p:nvPr/>
        </p:nvSpPr>
        <p:spPr>
          <a:xfrm>
            <a:off x="822960" y="5166360"/>
            <a:ext cx="10545775" cy="868680"/>
          </a:xfrm>
          <a:prstGeom prst="rect">
            <a:avLst/>
          </a:prstGeom>
          <a:noFill/>
          <a:ln/>
        </p:spPr>
        <p:txBody>
          <a:bodyPr wrap="square" lIns="0" tIns="0" rIns="0" bIns="0" rtlCol="0" anchor="ctr"/>
          <a:lstStyle/>
          <a:p>
            <a:pPr algn="ctr" indent="0" marL="0">
              <a:buNone/>
            </a:pPr>
            <a:r>
              <a:rPr lang="en-US" sz="2000" i="1" dirty="0">
                <a:solidFill>
                  <a:srgbClr val="6B4A43"/>
                </a:solidFill>
                <a:latin typeface="Cormorant Garamond" pitchFamily="34" charset="0"/>
                <a:ea typeface="Cormorant Garamond" pitchFamily="34" charset="-122"/>
                <a:cs typeface="Cormorant Garamond" pitchFamily="34" charset="-120"/>
              </a:rPr>
              <a:t>"La oportunidad existe, pero debe ser validada."</a:t>
            </a:r>
            <a:endParaRPr lang="en-US" sz="2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BF5F1"/>
        </a:solidFill>
      </p:bgPr>
    </p:bg>
    <p:spTree>
      <p:nvGrpSpPr>
        <p:cNvPr id="1" name=""/>
        <p:cNvGrpSpPr/>
        <p:nvPr/>
      </p:nvGrpSpPr>
      <p:grpSpPr>
        <a:xfrm>
          <a:off x="0" y="0"/>
          <a:ext cx="0" cy="0"/>
          <a:chOff x="0" y="0"/>
          <a:chExt cx="0" cy="0"/>
        </a:xfrm>
      </p:grpSpPr>
      <p:sp>
        <p:nvSpPr>
          <p:cNvPr id="2" name="Text 0"/>
          <p:cNvSpPr txBox="1"/>
          <p:nvPr/>
        </p:nvSpPr>
        <p:spPr>
          <a:xfrm>
            <a:off x="548640" y="502920"/>
            <a:ext cx="11094415" cy="320040"/>
          </a:xfrm>
          <a:prstGeom prst="rect">
            <a:avLst/>
          </a:prstGeom>
          <a:noFill/>
          <a:ln/>
        </p:spPr>
        <p:txBody>
          <a:bodyPr wrap="square" lIns="0" tIns="0" rIns="0" bIns="0" rtlCol="0" anchor="ctr"/>
          <a:lstStyle/>
          <a:p>
            <a:pPr indent="0" marL="0">
              <a:buNone/>
            </a:pPr>
            <a:r>
              <a:rPr lang="en-US" sz="1300" b="1" spc="200" kern="0" dirty="0">
                <a:solidFill>
                  <a:srgbClr val="A87C45"/>
                </a:solidFill>
                <a:latin typeface="DM Sans" pitchFamily="34" charset="0"/>
                <a:ea typeface="DM Sans" pitchFamily="34" charset="-122"/>
                <a:cs typeface="DM Sans" pitchFamily="34" charset="-120"/>
              </a:rPr>
              <a:t>JUSTIFICACIÓN · ACTUALIZADA CON EVIDENCIA PRIMARIA</a:t>
            </a:r>
            <a:endParaRPr lang="en-US" sz="1300" dirty="0"/>
          </a:p>
        </p:txBody>
      </p:sp>
      <p:sp>
        <p:nvSpPr>
          <p:cNvPr id="3" name="Text 1"/>
          <p:cNvSpPr txBox="1"/>
          <p:nvPr/>
        </p:nvSpPr>
        <p:spPr>
          <a:xfrm>
            <a:off x="548640" y="822960"/>
            <a:ext cx="11094415" cy="822960"/>
          </a:xfrm>
          <a:prstGeom prst="rect">
            <a:avLst/>
          </a:prstGeom>
          <a:noFill/>
          <a:ln/>
        </p:spPr>
        <p:txBody>
          <a:bodyPr wrap="square" lIns="0" tIns="0" rIns="0" bIns="0" rtlCol="0" anchor="ctr"/>
          <a:lstStyle/>
          <a:p>
            <a:pPr algn="l" indent="0" marL="0">
              <a:buNone/>
            </a:pPr>
            <a:r>
              <a:rPr lang="en-US" sz="2800" b="1" dirty="0">
                <a:solidFill>
                  <a:srgbClr val="241F1D"/>
                </a:solidFill>
                <a:latin typeface="Cormorant Garamond" pitchFamily="34" charset="0"/>
                <a:ea typeface="Cormorant Garamond" pitchFamily="34" charset="-122"/>
                <a:cs typeface="Cormorant Garamond" pitchFamily="34" charset="-120"/>
              </a:rPr>
              <a:t>Qué cambió después de la encuesta y las entrevistas</a:t>
            </a:r>
            <a:endParaRPr lang="en-US" sz="28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1828800"/>
                <a:gridCol w="3291840"/>
                <a:gridCol w="4206240"/>
                <a:gridCol w="1764792"/>
              </a:tblGrid>
              <a:tr h="411480">
                <a:tc>
                  <a:txBody>
                    <a:bodyPr/>
                    <a:lstStyle/>
                    <a:p>
                      <a:pPr indent="0" marL="0">
                        <a:buNone/>
                      </a:pPr>
                      <a:r>
                        <a:rPr lang="en-US" sz="1150" b="1" dirty="0">
                          <a:solidFill>
                            <a:srgbClr val="FBF5F1"/>
                          </a:solidFill>
                          <a:latin typeface="DM Sans" pitchFamily="34" charset="0"/>
                          <a:ea typeface="DM Sans" pitchFamily="34" charset="-122"/>
                          <a:cs typeface="DM Sans" pitchFamily="34" charset="-120"/>
                        </a:rPr>
                        <a:t>Pilar</a:t>
                      </a:r>
                      <a:endParaRPr lang="en-US" sz="1150" dirty="0">
                        <a:latin typeface="DM Sans" charset="0"/>
                        <a:ea typeface="DM Sans" charset="0"/>
                        <a:cs typeface="DM Sans" charset="0"/>
                      </a:endParaRPr>
                    </a:p>
                  </a:txBody>
                  <a:tcPr marL="91440" marR="91440" marT="36576" marB="36576" anchor="ctr">
                    <a:lnL w="9525" cap="flat" cmpd="sng" algn="ctr">
                      <a:solidFill>
                        <a:srgbClr val="EDE1D9"/>
                      </a:solidFill>
                      <a:prstDash val="solid"/>
                      <a:round/>
                      <a:headEnd type="none" w="med" len="med"/>
                      <a:tailEnd type="none" w="med" len="med"/>
                    </a:lnL>
                    <a:lnR w="9525" cap="flat" cmpd="sng" algn="ctr">
                      <a:solidFill>
                        <a:srgbClr val="EDE1D9"/>
                      </a:solidFill>
                      <a:prstDash val="solid"/>
                      <a:round/>
                      <a:headEnd type="none" w="med" len="med"/>
                      <a:tailEnd type="none" w="med" len="med"/>
                    </a:lnR>
                    <a:lnT w="9525" cap="flat" cmpd="sng" algn="ctr">
                      <a:solidFill>
                        <a:srgbClr val="EDE1D9"/>
                      </a:solidFill>
                      <a:prstDash val="solid"/>
                      <a:round/>
                      <a:headEnd type="none" w="med" len="med"/>
                      <a:tailEnd type="none" w="med" len="med"/>
                    </a:lnT>
                    <a:lnB w="9525" cap="flat" cmpd="sng" algn="ctr">
                      <a:solidFill>
                        <a:srgbClr val="EDE1D9"/>
                      </a:solidFill>
                      <a:prstDash val="solid"/>
                      <a:round/>
                      <a:headEnd type="none" w="med" len="med"/>
                      <a:tailEnd type="none" w="med" len="med"/>
                    </a:lnB>
                    <a:solidFill>
                      <a:srgbClr val="241F1D"/>
                    </a:solidFill>
                  </a:tcPr>
                </a:tc>
                <a:tc>
                  <a:txBody>
                    <a:bodyPr/>
                    <a:lstStyle/>
                    <a:p>
                      <a:pPr indent="0" marL="0">
                        <a:buNone/>
                      </a:pPr>
                      <a:r>
                        <a:rPr lang="en-US" sz="1150" b="1" dirty="0">
                          <a:solidFill>
                            <a:srgbClr val="FBF5F1"/>
                          </a:solidFill>
                          <a:latin typeface="DM Sans" pitchFamily="34" charset="0"/>
                          <a:ea typeface="DM Sans" pitchFamily="34" charset="-122"/>
                          <a:cs typeface="DM Sans" pitchFamily="34" charset="-120"/>
                        </a:rPr>
                        <a:t>Lo que sabíamos (fuentes secundarias)</a:t>
                      </a:r>
                      <a:endParaRPr lang="en-US" sz="1150" dirty="0">
                        <a:latin typeface="DM Sans" charset="0"/>
                        <a:ea typeface="DM Sans" charset="0"/>
                        <a:cs typeface="DM Sans" charset="0"/>
                      </a:endParaRPr>
                    </a:p>
                  </a:txBody>
                  <a:tcPr marL="91440" marR="91440" marT="36576" marB="36576" anchor="ctr">
                    <a:lnL w="9525" cap="flat" cmpd="sng" algn="ctr">
                      <a:solidFill>
                        <a:srgbClr val="EDE1D9"/>
                      </a:solidFill>
                      <a:prstDash val="solid"/>
                      <a:round/>
                      <a:headEnd type="none" w="med" len="med"/>
                      <a:tailEnd type="none" w="med" len="med"/>
                    </a:lnL>
                    <a:lnR w="9525" cap="flat" cmpd="sng" algn="ctr">
                      <a:solidFill>
                        <a:srgbClr val="EDE1D9"/>
                      </a:solidFill>
                      <a:prstDash val="solid"/>
                      <a:round/>
                      <a:headEnd type="none" w="med" len="med"/>
                      <a:tailEnd type="none" w="med" len="med"/>
                    </a:lnR>
                    <a:lnT w="9525" cap="flat" cmpd="sng" algn="ctr">
                      <a:solidFill>
                        <a:srgbClr val="EDE1D9"/>
                      </a:solidFill>
                      <a:prstDash val="solid"/>
                      <a:round/>
                      <a:headEnd type="none" w="med" len="med"/>
                      <a:tailEnd type="none" w="med" len="med"/>
                    </a:lnT>
                    <a:lnB w="9525" cap="flat" cmpd="sng" algn="ctr">
                      <a:solidFill>
                        <a:srgbClr val="EDE1D9"/>
                      </a:solidFill>
                      <a:prstDash val="solid"/>
                      <a:round/>
                      <a:headEnd type="none" w="med" len="med"/>
                      <a:tailEnd type="none" w="med" len="med"/>
                    </a:lnB>
                    <a:solidFill>
                      <a:srgbClr val="241F1D"/>
                    </a:solidFill>
                  </a:tcPr>
                </a:tc>
                <a:tc>
                  <a:txBody>
                    <a:bodyPr/>
                    <a:lstStyle/>
                    <a:p>
                      <a:pPr indent="0" marL="0">
                        <a:buNone/>
                      </a:pPr>
                      <a:r>
                        <a:rPr lang="en-US" sz="1150" b="1" dirty="0">
                          <a:solidFill>
                            <a:srgbClr val="FBF5F1"/>
                          </a:solidFill>
                          <a:latin typeface="DM Sans" pitchFamily="34" charset="0"/>
                          <a:ea typeface="DM Sans" pitchFamily="34" charset="-122"/>
                          <a:cs typeface="DM Sans" pitchFamily="34" charset="-120"/>
                        </a:rPr>
                        <a:t>Lo que mostró la evidencia primaria</a:t>
                      </a:r>
                      <a:endParaRPr lang="en-US" sz="1150" dirty="0">
                        <a:latin typeface="DM Sans" charset="0"/>
                        <a:ea typeface="DM Sans" charset="0"/>
                        <a:cs typeface="DM Sans" charset="0"/>
                      </a:endParaRPr>
                    </a:p>
                  </a:txBody>
                  <a:tcPr marL="91440" marR="91440" marT="36576" marB="36576" anchor="ctr">
                    <a:lnL w="9525" cap="flat" cmpd="sng" algn="ctr">
                      <a:solidFill>
                        <a:srgbClr val="EDE1D9"/>
                      </a:solidFill>
                      <a:prstDash val="solid"/>
                      <a:round/>
                      <a:headEnd type="none" w="med" len="med"/>
                      <a:tailEnd type="none" w="med" len="med"/>
                    </a:lnL>
                    <a:lnR w="9525" cap="flat" cmpd="sng" algn="ctr">
                      <a:solidFill>
                        <a:srgbClr val="EDE1D9"/>
                      </a:solidFill>
                      <a:prstDash val="solid"/>
                      <a:round/>
                      <a:headEnd type="none" w="med" len="med"/>
                      <a:tailEnd type="none" w="med" len="med"/>
                    </a:lnR>
                    <a:lnT w="9525" cap="flat" cmpd="sng" algn="ctr">
                      <a:solidFill>
                        <a:srgbClr val="EDE1D9"/>
                      </a:solidFill>
                      <a:prstDash val="solid"/>
                      <a:round/>
                      <a:headEnd type="none" w="med" len="med"/>
                      <a:tailEnd type="none" w="med" len="med"/>
                    </a:lnT>
                    <a:lnB w="9525" cap="flat" cmpd="sng" algn="ctr">
                      <a:solidFill>
                        <a:srgbClr val="EDE1D9"/>
                      </a:solidFill>
                      <a:prstDash val="solid"/>
                      <a:round/>
                      <a:headEnd type="none" w="med" len="med"/>
                      <a:tailEnd type="none" w="med" len="med"/>
                    </a:lnB>
                    <a:solidFill>
                      <a:srgbClr val="241F1D"/>
                    </a:solidFill>
                  </a:tcPr>
                </a:tc>
                <a:tc>
                  <a:txBody>
                    <a:bodyPr/>
                    <a:lstStyle/>
                    <a:p>
                      <a:pPr indent="0" marL="0">
                        <a:buNone/>
                      </a:pPr>
                      <a:r>
                        <a:rPr lang="en-US" sz="1150" b="1" dirty="0">
                          <a:solidFill>
                            <a:srgbClr val="FBF5F1"/>
                          </a:solidFill>
                          <a:latin typeface="DM Sans" pitchFamily="34" charset="0"/>
                          <a:ea typeface="DM Sans" pitchFamily="34" charset="-122"/>
                          <a:cs typeface="DM Sans" pitchFamily="34" charset="-120"/>
                        </a:rPr>
                        <a:t>Estado</a:t>
                      </a:r>
                      <a:endParaRPr lang="en-US" sz="1150" dirty="0">
                        <a:latin typeface="DM Sans" charset="0"/>
                        <a:ea typeface="DM Sans" charset="0"/>
                        <a:cs typeface="DM Sans" charset="0"/>
                      </a:endParaRPr>
                    </a:p>
                  </a:txBody>
                  <a:tcPr marL="91440" marR="91440" marT="36576" marB="36576" anchor="ctr">
                    <a:lnL w="9525" cap="flat" cmpd="sng" algn="ctr">
                      <a:solidFill>
                        <a:srgbClr val="EDE1D9"/>
                      </a:solidFill>
                      <a:prstDash val="solid"/>
                      <a:round/>
                      <a:headEnd type="none" w="med" len="med"/>
                      <a:tailEnd type="none" w="med" len="med"/>
                    </a:lnL>
                    <a:lnR w="9525" cap="flat" cmpd="sng" algn="ctr">
                      <a:solidFill>
                        <a:srgbClr val="EDE1D9"/>
                      </a:solidFill>
                      <a:prstDash val="solid"/>
                      <a:round/>
                      <a:headEnd type="none" w="med" len="med"/>
                      <a:tailEnd type="none" w="med" len="med"/>
                    </a:lnR>
                    <a:lnT w="9525" cap="flat" cmpd="sng" algn="ctr">
                      <a:solidFill>
                        <a:srgbClr val="EDE1D9"/>
                      </a:solidFill>
                      <a:prstDash val="solid"/>
                      <a:round/>
                      <a:headEnd type="none" w="med" len="med"/>
                      <a:tailEnd type="none" w="med" len="med"/>
                    </a:lnT>
                    <a:lnB w="9525" cap="flat" cmpd="sng" algn="ctr">
                      <a:solidFill>
                        <a:srgbClr val="EDE1D9"/>
                      </a:solidFill>
                      <a:prstDash val="solid"/>
                      <a:round/>
                      <a:headEnd type="none" w="med" len="med"/>
                      <a:tailEnd type="none" w="med" len="med"/>
                    </a:lnB>
                    <a:solidFill>
                      <a:srgbClr val="241F1D"/>
                    </a:solidFill>
                  </a:tcPr>
                </a:tc>
              </a:tr>
              <a:tr h="658368">
                <a:tc>
                  <a:txBody>
                    <a:bodyPr/>
                    <a:lstStyle/>
                    <a:p>
                      <a:pPr indent="0" marL="0">
                        <a:buNone/>
                      </a:pPr>
                      <a:r>
                        <a:rPr lang="en-US" sz="1050" b="1" dirty="0">
                          <a:solidFill>
                            <a:srgbClr val="4A4039"/>
                          </a:solidFill>
                          <a:latin typeface="DM Sans" pitchFamily="34" charset="0"/>
                          <a:ea typeface="DM Sans" pitchFamily="34" charset="-122"/>
                          <a:cs typeface="DM Sans" pitchFamily="34" charset="-120"/>
                        </a:rPr>
                        <a:t>01 Problema real</a:t>
                      </a:r>
                      <a:endParaRPr lang="en-US" sz="1050" dirty="0">
                        <a:latin typeface="DM Sans" charset="0"/>
                        <a:ea typeface="DM Sans" charset="0"/>
                        <a:cs typeface="DM Sans" charset="0"/>
                      </a:endParaRPr>
                    </a:p>
                  </a:txBody>
                  <a:tcPr marL="91440" marR="91440" marT="36576" marB="36576" anchor="ctr">
                    <a:lnL w="9525" cap="flat" cmpd="sng" algn="ctr">
                      <a:solidFill>
                        <a:srgbClr val="EDE1D9"/>
                      </a:solidFill>
                      <a:prstDash val="solid"/>
                      <a:round/>
                      <a:headEnd type="none" w="med" len="med"/>
                      <a:tailEnd type="none" w="med" len="med"/>
                    </a:lnL>
                    <a:lnR w="9525" cap="flat" cmpd="sng" algn="ctr">
                      <a:solidFill>
                        <a:srgbClr val="EDE1D9"/>
                      </a:solidFill>
                      <a:prstDash val="solid"/>
                      <a:round/>
                      <a:headEnd type="none" w="med" len="med"/>
                      <a:tailEnd type="none" w="med" len="med"/>
                    </a:lnR>
                    <a:lnT w="9525" cap="flat" cmpd="sng" algn="ctr">
                      <a:solidFill>
                        <a:srgbClr val="EDE1D9"/>
                      </a:solidFill>
                      <a:prstDash val="solid"/>
                      <a:round/>
                      <a:headEnd type="none" w="med" len="med"/>
                      <a:tailEnd type="none" w="med" len="med"/>
                    </a:lnT>
                    <a:lnB w="9525" cap="flat" cmpd="sng" algn="ctr">
                      <a:solidFill>
                        <a:srgbClr val="EDE1D9"/>
                      </a:solidFill>
                      <a:prstDash val="solid"/>
                      <a:round/>
                      <a:headEnd type="none" w="med" len="med"/>
                      <a:tailEnd type="none" w="med" len="med"/>
                    </a:lnB>
                    <a:solidFill>
                      <a:srgbClr val="FFFFFF"/>
                    </a:solidFill>
                  </a:tcPr>
                </a:tc>
                <a:tc>
                  <a:txBody>
                    <a:bodyPr/>
                    <a:lstStyle/>
                    <a:p>
                      <a:pPr indent="0" marL="0">
                        <a:buNone/>
                      </a:pPr>
                      <a:r>
                        <a:rPr lang="en-US" sz="1050" dirty="0">
                          <a:solidFill>
                            <a:srgbClr val="4A4039"/>
                          </a:solidFill>
                          <a:latin typeface="DM Sans" pitchFamily="34" charset="0"/>
                          <a:ea typeface="DM Sans" pitchFamily="34" charset="-122"/>
                          <a:cs typeface="DM Sans" pitchFamily="34" charset="-120"/>
                        </a:rPr>
                        <a:t>39-44 % casi no limpia sus herramientas</a:t>
                      </a:r>
                      <a:endParaRPr lang="en-US" sz="1050" dirty="0">
                        <a:latin typeface="DM Sans" charset="0"/>
                        <a:ea typeface="DM Sans" charset="0"/>
                        <a:cs typeface="DM Sans" charset="0"/>
                      </a:endParaRPr>
                    </a:p>
                  </a:txBody>
                  <a:tcPr marL="91440" marR="91440" marT="36576" marB="36576" anchor="ctr">
                    <a:lnL w="9525" cap="flat" cmpd="sng" algn="ctr">
                      <a:solidFill>
                        <a:srgbClr val="EDE1D9"/>
                      </a:solidFill>
                      <a:prstDash val="solid"/>
                      <a:round/>
                      <a:headEnd type="none" w="med" len="med"/>
                      <a:tailEnd type="none" w="med" len="med"/>
                    </a:lnL>
                    <a:lnR w="9525" cap="flat" cmpd="sng" algn="ctr">
                      <a:solidFill>
                        <a:srgbClr val="EDE1D9"/>
                      </a:solidFill>
                      <a:prstDash val="solid"/>
                      <a:round/>
                      <a:headEnd type="none" w="med" len="med"/>
                      <a:tailEnd type="none" w="med" len="med"/>
                    </a:lnR>
                    <a:lnT w="9525" cap="flat" cmpd="sng" algn="ctr">
                      <a:solidFill>
                        <a:srgbClr val="EDE1D9"/>
                      </a:solidFill>
                      <a:prstDash val="solid"/>
                      <a:round/>
                      <a:headEnd type="none" w="med" len="med"/>
                      <a:tailEnd type="none" w="med" len="med"/>
                    </a:lnT>
                    <a:lnB w="9525" cap="flat" cmpd="sng" algn="ctr">
                      <a:solidFill>
                        <a:srgbClr val="EDE1D9"/>
                      </a:solidFill>
                      <a:prstDash val="solid"/>
                      <a:round/>
                      <a:headEnd type="none" w="med" len="med"/>
                      <a:tailEnd type="none" w="med" len="med"/>
                    </a:lnB>
                    <a:solidFill>
                      <a:srgbClr val="FFFFFF"/>
                    </a:solidFill>
                  </a:tcPr>
                </a:tc>
                <a:tc>
                  <a:txBody>
                    <a:bodyPr/>
                    <a:lstStyle/>
                    <a:p>
                      <a:pPr indent="0" marL="0">
                        <a:buNone/>
                      </a:pPr>
                      <a:r>
                        <a:rPr lang="en-US" sz="1050" dirty="0">
                          <a:solidFill>
                            <a:srgbClr val="4A4039"/>
                          </a:solidFill>
                          <a:latin typeface="DM Sans" pitchFamily="34" charset="0"/>
                          <a:ea typeface="DM Sans" pitchFamily="34" charset="-122"/>
                          <a:cs typeface="DM Sans" pitchFamily="34" charset="-120"/>
                        </a:rPr>
                        <a:t>68 % limpia una vez al mes o menos; 22,4 % nunca</a:t>
                      </a:r>
                      <a:endParaRPr lang="en-US" sz="1050" dirty="0">
                        <a:latin typeface="DM Sans" charset="0"/>
                        <a:ea typeface="DM Sans" charset="0"/>
                        <a:cs typeface="DM Sans" charset="0"/>
                      </a:endParaRPr>
                    </a:p>
                  </a:txBody>
                  <a:tcPr marL="91440" marR="91440" marT="36576" marB="36576" anchor="ctr">
                    <a:lnL w="9525" cap="flat" cmpd="sng" algn="ctr">
                      <a:solidFill>
                        <a:srgbClr val="EDE1D9"/>
                      </a:solidFill>
                      <a:prstDash val="solid"/>
                      <a:round/>
                      <a:headEnd type="none" w="med" len="med"/>
                      <a:tailEnd type="none" w="med" len="med"/>
                    </a:lnL>
                    <a:lnR w="9525" cap="flat" cmpd="sng" algn="ctr">
                      <a:solidFill>
                        <a:srgbClr val="EDE1D9"/>
                      </a:solidFill>
                      <a:prstDash val="solid"/>
                      <a:round/>
                      <a:headEnd type="none" w="med" len="med"/>
                      <a:tailEnd type="none" w="med" len="med"/>
                    </a:lnR>
                    <a:lnT w="9525" cap="flat" cmpd="sng" algn="ctr">
                      <a:solidFill>
                        <a:srgbClr val="EDE1D9"/>
                      </a:solidFill>
                      <a:prstDash val="solid"/>
                      <a:round/>
                      <a:headEnd type="none" w="med" len="med"/>
                      <a:tailEnd type="none" w="med" len="med"/>
                    </a:lnT>
                    <a:lnB w="9525" cap="flat" cmpd="sng" algn="ctr">
                      <a:solidFill>
                        <a:srgbClr val="EDE1D9"/>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2F6B4F"/>
                          </a:solidFill>
                          <a:latin typeface="DM Sans" pitchFamily="34" charset="0"/>
                          <a:ea typeface="DM Sans" pitchFamily="34" charset="-122"/>
                          <a:cs typeface="DM Sans" pitchFamily="34" charset="-120"/>
                        </a:rPr>
                        <a:t>Reforzado</a:t>
                      </a:r>
                      <a:endParaRPr lang="en-US" sz="1050" dirty="0">
                        <a:latin typeface="DM Sans" charset="0"/>
                        <a:ea typeface="DM Sans" charset="0"/>
                        <a:cs typeface="DM Sans" charset="0"/>
                      </a:endParaRPr>
                    </a:p>
                  </a:txBody>
                  <a:tcPr marL="91440" marR="91440" marT="36576" marB="36576" anchor="ctr">
                    <a:lnL w="9525" cap="flat" cmpd="sng" algn="ctr">
                      <a:solidFill>
                        <a:srgbClr val="EDE1D9"/>
                      </a:solidFill>
                      <a:prstDash val="solid"/>
                      <a:round/>
                      <a:headEnd type="none" w="med" len="med"/>
                      <a:tailEnd type="none" w="med" len="med"/>
                    </a:lnL>
                    <a:lnR w="9525" cap="flat" cmpd="sng" algn="ctr">
                      <a:solidFill>
                        <a:srgbClr val="EDE1D9"/>
                      </a:solidFill>
                      <a:prstDash val="solid"/>
                      <a:round/>
                      <a:headEnd type="none" w="med" len="med"/>
                      <a:tailEnd type="none" w="med" len="med"/>
                    </a:lnR>
                    <a:lnT w="9525" cap="flat" cmpd="sng" algn="ctr">
                      <a:solidFill>
                        <a:srgbClr val="EDE1D9"/>
                      </a:solidFill>
                      <a:prstDash val="solid"/>
                      <a:round/>
                      <a:headEnd type="none" w="med" len="med"/>
                      <a:tailEnd type="none" w="med" len="med"/>
                    </a:lnT>
                    <a:lnB w="9525" cap="flat" cmpd="sng" algn="ctr">
                      <a:solidFill>
                        <a:srgbClr val="EDE1D9"/>
                      </a:solidFill>
                      <a:prstDash val="solid"/>
                      <a:round/>
                      <a:headEnd type="none" w="med" len="med"/>
                      <a:tailEnd type="none" w="med" len="med"/>
                    </a:lnB>
                    <a:solidFill>
                      <a:srgbClr val="E4F0E9"/>
                    </a:solidFill>
                  </a:tcPr>
                </a:tc>
              </a:tr>
              <a:tr h="658368">
                <a:tc>
                  <a:txBody>
                    <a:bodyPr/>
                    <a:lstStyle/>
                    <a:p>
                      <a:pPr indent="0" marL="0">
                        <a:buNone/>
                      </a:pPr>
                      <a:r>
                        <a:rPr lang="en-US" sz="1050" b="1" dirty="0">
                          <a:solidFill>
                            <a:srgbClr val="4A4039"/>
                          </a:solidFill>
                          <a:latin typeface="DM Sans" pitchFamily="34" charset="0"/>
                          <a:ea typeface="DM Sans" pitchFamily="34" charset="-122"/>
                          <a:cs typeface="DM Sans" pitchFamily="34" charset="-120"/>
                        </a:rPr>
                        <a:t>02 Fricción</a:t>
                      </a:r>
                      <a:endParaRPr lang="en-US" sz="1050" dirty="0">
                        <a:latin typeface="DM Sans" charset="0"/>
                        <a:ea typeface="DM Sans" charset="0"/>
                        <a:cs typeface="DM Sans" charset="0"/>
                      </a:endParaRPr>
                    </a:p>
                  </a:txBody>
                  <a:tcPr marL="91440" marR="91440" marT="36576" marB="36576" anchor="ctr">
                    <a:lnL w="9525" cap="flat" cmpd="sng" algn="ctr">
                      <a:solidFill>
                        <a:srgbClr val="EDE1D9"/>
                      </a:solidFill>
                      <a:prstDash val="solid"/>
                      <a:round/>
                      <a:headEnd type="none" w="med" len="med"/>
                      <a:tailEnd type="none" w="med" len="med"/>
                    </a:lnL>
                    <a:lnR w="9525" cap="flat" cmpd="sng" algn="ctr">
                      <a:solidFill>
                        <a:srgbClr val="EDE1D9"/>
                      </a:solidFill>
                      <a:prstDash val="solid"/>
                      <a:round/>
                      <a:headEnd type="none" w="med" len="med"/>
                      <a:tailEnd type="none" w="med" len="med"/>
                    </a:lnR>
                    <a:lnT w="9525" cap="flat" cmpd="sng" algn="ctr">
                      <a:solidFill>
                        <a:srgbClr val="EDE1D9"/>
                      </a:solidFill>
                      <a:prstDash val="solid"/>
                      <a:round/>
                      <a:headEnd type="none" w="med" len="med"/>
                      <a:tailEnd type="none" w="med" len="med"/>
                    </a:lnT>
                    <a:lnB w="9525" cap="flat" cmpd="sng" algn="ctr">
                      <a:solidFill>
                        <a:srgbClr val="EDE1D9"/>
                      </a:solidFill>
                      <a:prstDash val="solid"/>
                      <a:round/>
                      <a:headEnd type="none" w="med" len="med"/>
                      <a:tailEnd type="none" w="med" len="med"/>
                    </a:lnB>
                    <a:solidFill>
                      <a:srgbClr val="FFFFFF"/>
                    </a:solidFill>
                  </a:tcPr>
                </a:tc>
                <a:tc>
                  <a:txBody>
                    <a:bodyPr/>
                    <a:lstStyle/>
                    <a:p>
                      <a:pPr indent="0" marL="0">
                        <a:buNone/>
                      </a:pPr>
                      <a:r>
                        <a:rPr lang="en-US" sz="1050" dirty="0">
                          <a:solidFill>
                            <a:srgbClr val="4A4039"/>
                          </a:solidFill>
                          <a:latin typeface="DM Sans" pitchFamily="34" charset="0"/>
                          <a:ea typeface="DM Sans" pitchFamily="34" charset="-122"/>
                          <a:cs typeface="DM Sans" pitchFamily="34" charset="-120"/>
                        </a:rPr>
                        <a:t>El proceso manual toma tiempo y esfuerzo</a:t>
                      </a:r>
                      <a:endParaRPr lang="en-US" sz="1050" dirty="0">
                        <a:latin typeface="DM Sans" charset="0"/>
                        <a:ea typeface="DM Sans" charset="0"/>
                        <a:cs typeface="DM Sans" charset="0"/>
                      </a:endParaRPr>
                    </a:p>
                  </a:txBody>
                  <a:tcPr marL="91440" marR="91440" marT="36576" marB="36576" anchor="ctr">
                    <a:lnL w="9525" cap="flat" cmpd="sng" algn="ctr">
                      <a:solidFill>
                        <a:srgbClr val="EDE1D9"/>
                      </a:solidFill>
                      <a:prstDash val="solid"/>
                      <a:round/>
                      <a:headEnd type="none" w="med" len="med"/>
                      <a:tailEnd type="none" w="med" len="med"/>
                    </a:lnL>
                    <a:lnR w="9525" cap="flat" cmpd="sng" algn="ctr">
                      <a:solidFill>
                        <a:srgbClr val="EDE1D9"/>
                      </a:solidFill>
                      <a:prstDash val="solid"/>
                      <a:round/>
                      <a:headEnd type="none" w="med" len="med"/>
                      <a:tailEnd type="none" w="med" len="med"/>
                    </a:lnR>
                    <a:lnT w="9525" cap="flat" cmpd="sng" algn="ctr">
                      <a:solidFill>
                        <a:srgbClr val="EDE1D9"/>
                      </a:solidFill>
                      <a:prstDash val="solid"/>
                      <a:round/>
                      <a:headEnd type="none" w="med" len="med"/>
                      <a:tailEnd type="none" w="med" len="med"/>
                    </a:lnT>
                    <a:lnB w="9525" cap="flat" cmpd="sng" algn="ctr">
                      <a:solidFill>
                        <a:srgbClr val="EDE1D9"/>
                      </a:solidFill>
                      <a:prstDash val="solid"/>
                      <a:round/>
                      <a:headEnd type="none" w="med" len="med"/>
                      <a:tailEnd type="none" w="med" len="med"/>
                    </a:lnB>
                    <a:solidFill>
                      <a:srgbClr val="FFFFFF"/>
                    </a:solidFill>
                  </a:tcPr>
                </a:tc>
                <a:tc>
                  <a:txBody>
                    <a:bodyPr/>
                    <a:lstStyle/>
                    <a:p>
                      <a:pPr indent="0" marL="0">
                        <a:buNone/>
                      </a:pPr>
                      <a:r>
                        <a:rPr lang="en-US" sz="1050" dirty="0">
                          <a:solidFill>
                            <a:srgbClr val="4A4039"/>
                          </a:solidFill>
                          <a:latin typeface="DM Sans" pitchFamily="34" charset="0"/>
                          <a:ea typeface="DM Sans" pitchFamily="34" charset="-122"/>
                          <a:cs typeface="DM Sans" pitchFamily="34" charset="-120"/>
                        </a:rPr>
                        <a:t>87,7 % señala olvido, pereza o tiempo; 5 especialistas coinciden</a:t>
                      </a:r>
                      <a:endParaRPr lang="en-US" sz="1050" dirty="0">
                        <a:latin typeface="DM Sans" charset="0"/>
                        <a:ea typeface="DM Sans" charset="0"/>
                        <a:cs typeface="DM Sans" charset="0"/>
                      </a:endParaRPr>
                    </a:p>
                  </a:txBody>
                  <a:tcPr marL="91440" marR="91440" marT="36576" marB="36576" anchor="ctr">
                    <a:lnL w="9525" cap="flat" cmpd="sng" algn="ctr">
                      <a:solidFill>
                        <a:srgbClr val="EDE1D9"/>
                      </a:solidFill>
                      <a:prstDash val="solid"/>
                      <a:round/>
                      <a:headEnd type="none" w="med" len="med"/>
                      <a:tailEnd type="none" w="med" len="med"/>
                    </a:lnL>
                    <a:lnR w="9525" cap="flat" cmpd="sng" algn="ctr">
                      <a:solidFill>
                        <a:srgbClr val="EDE1D9"/>
                      </a:solidFill>
                      <a:prstDash val="solid"/>
                      <a:round/>
                      <a:headEnd type="none" w="med" len="med"/>
                      <a:tailEnd type="none" w="med" len="med"/>
                    </a:lnR>
                    <a:lnT w="9525" cap="flat" cmpd="sng" algn="ctr">
                      <a:solidFill>
                        <a:srgbClr val="EDE1D9"/>
                      </a:solidFill>
                      <a:prstDash val="solid"/>
                      <a:round/>
                      <a:headEnd type="none" w="med" len="med"/>
                      <a:tailEnd type="none" w="med" len="med"/>
                    </a:lnT>
                    <a:lnB w="9525" cap="flat" cmpd="sng" algn="ctr">
                      <a:solidFill>
                        <a:srgbClr val="EDE1D9"/>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2F6B4F"/>
                          </a:solidFill>
                          <a:latin typeface="DM Sans" pitchFamily="34" charset="0"/>
                          <a:ea typeface="DM Sans" pitchFamily="34" charset="-122"/>
                          <a:cs typeface="DM Sans" pitchFamily="34" charset="-120"/>
                        </a:rPr>
                        <a:t>Reforzado</a:t>
                      </a:r>
                      <a:endParaRPr lang="en-US" sz="1050" dirty="0">
                        <a:latin typeface="DM Sans" charset="0"/>
                        <a:ea typeface="DM Sans" charset="0"/>
                        <a:cs typeface="DM Sans" charset="0"/>
                      </a:endParaRPr>
                    </a:p>
                  </a:txBody>
                  <a:tcPr marL="91440" marR="91440" marT="36576" marB="36576" anchor="ctr">
                    <a:lnL w="9525" cap="flat" cmpd="sng" algn="ctr">
                      <a:solidFill>
                        <a:srgbClr val="EDE1D9"/>
                      </a:solidFill>
                      <a:prstDash val="solid"/>
                      <a:round/>
                      <a:headEnd type="none" w="med" len="med"/>
                      <a:tailEnd type="none" w="med" len="med"/>
                    </a:lnL>
                    <a:lnR w="9525" cap="flat" cmpd="sng" algn="ctr">
                      <a:solidFill>
                        <a:srgbClr val="EDE1D9"/>
                      </a:solidFill>
                      <a:prstDash val="solid"/>
                      <a:round/>
                      <a:headEnd type="none" w="med" len="med"/>
                      <a:tailEnd type="none" w="med" len="med"/>
                    </a:lnR>
                    <a:lnT w="9525" cap="flat" cmpd="sng" algn="ctr">
                      <a:solidFill>
                        <a:srgbClr val="EDE1D9"/>
                      </a:solidFill>
                      <a:prstDash val="solid"/>
                      <a:round/>
                      <a:headEnd type="none" w="med" len="med"/>
                      <a:tailEnd type="none" w="med" len="med"/>
                    </a:lnT>
                    <a:lnB w="9525" cap="flat" cmpd="sng" algn="ctr">
                      <a:solidFill>
                        <a:srgbClr val="EDE1D9"/>
                      </a:solidFill>
                      <a:prstDash val="solid"/>
                      <a:round/>
                      <a:headEnd type="none" w="med" len="med"/>
                      <a:tailEnd type="none" w="med" len="med"/>
                    </a:lnB>
                    <a:solidFill>
                      <a:srgbClr val="E4F0E9"/>
                    </a:solidFill>
                  </a:tcPr>
                </a:tc>
              </a:tr>
              <a:tr h="658368">
                <a:tc>
                  <a:txBody>
                    <a:bodyPr/>
                    <a:lstStyle/>
                    <a:p>
                      <a:pPr indent="0" marL="0">
                        <a:buNone/>
                      </a:pPr>
                      <a:r>
                        <a:rPr lang="en-US" sz="1050" b="1" dirty="0">
                          <a:solidFill>
                            <a:srgbClr val="4A4039"/>
                          </a:solidFill>
                          <a:latin typeface="DM Sans" pitchFamily="34" charset="0"/>
                          <a:ea typeface="DM Sans" pitchFamily="34" charset="-122"/>
                          <a:cs typeface="DM Sans" pitchFamily="34" charset="-120"/>
                        </a:rPr>
                        <a:t>03 Oportunidad</a:t>
                      </a:r>
                      <a:endParaRPr lang="en-US" sz="1050" dirty="0">
                        <a:latin typeface="DM Sans" charset="0"/>
                        <a:ea typeface="DM Sans" charset="0"/>
                        <a:cs typeface="DM Sans" charset="0"/>
                      </a:endParaRPr>
                    </a:p>
                  </a:txBody>
                  <a:tcPr marL="91440" marR="91440" marT="36576" marB="36576" anchor="ctr">
                    <a:lnL w="9525" cap="flat" cmpd="sng" algn="ctr">
                      <a:solidFill>
                        <a:srgbClr val="EDE1D9"/>
                      </a:solidFill>
                      <a:prstDash val="solid"/>
                      <a:round/>
                      <a:headEnd type="none" w="med" len="med"/>
                      <a:tailEnd type="none" w="med" len="med"/>
                    </a:lnL>
                    <a:lnR w="9525" cap="flat" cmpd="sng" algn="ctr">
                      <a:solidFill>
                        <a:srgbClr val="EDE1D9"/>
                      </a:solidFill>
                      <a:prstDash val="solid"/>
                      <a:round/>
                      <a:headEnd type="none" w="med" len="med"/>
                      <a:tailEnd type="none" w="med" len="med"/>
                    </a:lnR>
                    <a:lnT w="9525" cap="flat" cmpd="sng" algn="ctr">
                      <a:solidFill>
                        <a:srgbClr val="EDE1D9"/>
                      </a:solidFill>
                      <a:prstDash val="solid"/>
                      <a:round/>
                      <a:headEnd type="none" w="med" len="med"/>
                      <a:tailEnd type="none" w="med" len="med"/>
                    </a:lnT>
                    <a:lnB w="9525" cap="flat" cmpd="sng" algn="ctr">
                      <a:solidFill>
                        <a:srgbClr val="EDE1D9"/>
                      </a:solidFill>
                      <a:prstDash val="solid"/>
                      <a:round/>
                      <a:headEnd type="none" w="med" len="med"/>
                      <a:tailEnd type="none" w="med" len="med"/>
                    </a:lnB>
                    <a:solidFill>
                      <a:srgbClr val="FFFFFF"/>
                    </a:solidFill>
                  </a:tcPr>
                </a:tc>
                <a:tc>
                  <a:txBody>
                    <a:bodyPr/>
                    <a:lstStyle/>
                    <a:p>
                      <a:pPr indent="0" marL="0">
                        <a:buNone/>
                      </a:pPr>
                      <a:r>
                        <a:rPr lang="en-US" sz="1050" dirty="0">
                          <a:solidFill>
                            <a:srgbClr val="4A4039"/>
                          </a:solidFill>
                          <a:latin typeface="DM Sans" pitchFamily="34" charset="0"/>
                          <a:ea typeface="DM Sans" pitchFamily="34" charset="-122"/>
                          <a:cs typeface="DM Sans" pitchFamily="34" charset="-120"/>
                        </a:rPr>
                        <a:t>Beauty tech crece 13,3 % anual (global)</a:t>
                      </a:r>
                      <a:endParaRPr lang="en-US" sz="1050" dirty="0">
                        <a:latin typeface="DM Sans" charset="0"/>
                        <a:ea typeface="DM Sans" charset="0"/>
                        <a:cs typeface="DM Sans" charset="0"/>
                      </a:endParaRPr>
                    </a:p>
                  </a:txBody>
                  <a:tcPr marL="91440" marR="91440" marT="36576" marB="36576" anchor="ctr">
                    <a:lnL w="9525" cap="flat" cmpd="sng" algn="ctr">
                      <a:solidFill>
                        <a:srgbClr val="EDE1D9"/>
                      </a:solidFill>
                      <a:prstDash val="solid"/>
                      <a:round/>
                      <a:headEnd type="none" w="med" len="med"/>
                      <a:tailEnd type="none" w="med" len="med"/>
                    </a:lnL>
                    <a:lnR w="9525" cap="flat" cmpd="sng" algn="ctr">
                      <a:solidFill>
                        <a:srgbClr val="EDE1D9"/>
                      </a:solidFill>
                      <a:prstDash val="solid"/>
                      <a:round/>
                      <a:headEnd type="none" w="med" len="med"/>
                      <a:tailEnd type="none" w="med" len="med"/>
                    </a:lnR>
                    <a:lnT w="9525" cap="flat" cmpd="sng" algn="ctr">
                      <a:solidFill>
                        <a:srgbClr val="EDE1D9"/>
                      </a:solidFill>
                      <a:prstDash val="solid"/>
                      <a:round/>
                      <a:headEnd type="none" w="med" len="med"/>
                      <a:tailEnd type="none" w="med" len="med"/>
                    </a:lnT>
                    <a:lnB w="9525" cap="flat" cmpd="sng" algn="ctr">
                      <a:solidFill>
                        <a:srgbClr val="EDE1D9"/>
                      </a:solidFill>
                      <a:prstDash val="solid"/>
                      <a:round/>
                      <a:headEnd type="none" w="med" len="med"/>
                      <a:tailEnd type="none" w="med" len="med"/>
                    </a:lnB>
                    <a:solidFill>
                      <a:srgbClr val="FFFFFF"/>
                    </a:solidFill>
                  </a:tcPr>
                </a:tc>
                <a:tc>
                  <a:txBody>
                    <a:bodyPr/>
                    <a:lstStyle/>
                    <a:p>
                      <a:pPr indent="0" marL="0">
                        <a:buNone/>
                      </a:pPr>
                      <a:r>
                        <a:rPr lang="en-US" sz="1050" dirty="0">
                          <a:solidFill>
                            <a:srgbClr val="4A4039"/>
                          </a:solidFill>
                          <a:latin typeface="DM Sans" pitchFamily="34" charset="0"/>
                          <a:ea typeface="DM Sans" pitchFamily="34" charset="-122"/>
                          <a:cs typeface="DM Sans" pitchFamily="34" charset="-120"/>
                        </a:rPr>
                        <a:t>95,2 % ve algún grado de utilidad en el concepto</a:t>
                      </a:r>
                      <a:endParaRPr lang="en-US" sz="1050" dirty="0">
                        <a:latin typeface="DM Sans" charset="0"/>
                        <a:ea typeface="DM Sans" charset="0"/>
                        <a:cs typeface="DM Sans" charset="0"/>
                      </a:endParaRPr>
                    </a:p>
                  </a:txBody>
                  <a:tcPr marL="91440" marR="91440" marT="36576" marB="36576" anchor="ctr">
                    <a:lnL w="9525" cap="flat" cmpd="sng" algn="ctr">
                      <a:solidFill>
                        <a:srgbClr val="EDE1D9"/>
                      </a:solidFill>
                      <a:prstDash val="solid"/>
                      <a:round/>
                      <a:headEnd type="none" w="med" len="med"/>
                      <a:tailEnd type="none" w="med" len="med"/>
                    </a:lnL>
                    <a:lnR w="9525" cap="flat" cmpd="sng" algn="ctr">
                      <a:solidFill>
                        <a:srgbClr val="EDE1D9"/>
                      </a:solidFill>
                      <a:prstDash val="solid"/>
                      <a:round/>
                      <a:headEnd type="none" w="med" len="med"/>
                      <a:tailEnd type="none" w="med" len="med"/>
                    </a:lnR>
                    <a:lnT w="9525" cap="flat" cmpd="sng" algn="ctr">
                      <a:solidFill>
                        <a:srgbClr val="EDE1D9"/>
                      </a:solidFill>
                      <a:prstDash val="solid"/>
                      <a:round/>
                      <a:headEnd type="none" w="med" len="med"/>
                      <a:tailEnd type="none" w="med" len="med"/>
                    </a:lnT>
                    <a:lnB w="9525" cap="flat" cmpd="sng" algn="ctr">
                      <a:solidFill>
                        <a:srgbClr val="EDE1D9"/>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2F6B4F"/>
                          </a:solidFill>
                          <a:latin typeface="DM Sans" pitchFamily="34" charset="0"/>
                          <a:ea typeface="DM Sans" pitchFamily="34" charset="-122"/>
                          <a:cs typeface="DM Sans" pitchFamily="34" charset="-120"/>
                        </a:rPr>
                        <a:t>Reforzado</a:t>
                      </a:r>
                      <a:endParaRPr lang="en-US" sz="1050" dirty="0">
                        <a:latin typeface="DM Sans" charset="0"/>
                        <a:ea typeface="DM Sans" charset="0"/>
                        <a:cs typeface="DM Sans" charset="0"/>
                      </a:endParaRPr>
                    </a:p>
                  </a:txBody>
                  <a:tcPr marL="91440" marR="91440" marT="36576" marB="36576" anchor="ctr">
                    <a:lnL w="9525" cap="flat" cmpd="sng" algn="ctr">
                      <a:solidFill>
                        <a:srgbClr val="EDE1D9"/>
                      </a:solidFill>
                      <a:prstDash val="solid"/>
                      <a:round/>
                      <a:headEnd type="none" w="med" len="med"/>
                      <a:tailEnd type="none" w="med" len="med"/>
                    </a:lnL>
                    <a:lnR w="9525" cap="flat" cmpd="sng" algn="ctr">
                      <a:solidFill>
                        <a:srgbClr val="EDE1D9"/>
                      </a:solidFill>
                      <a:prstDash val="solid"/>
                      <a:round/>
                      <a:headEnd type="none" w="med" len="med"/>
                      <a:tailEnd type="none" w="med" len="med"/>
                    </a:lnR>
                    <a:lnT w="9525" cap="flat" cmpd="sng" algn="ctr">
                      <a:solidFill>
                        <a:srgbClr val="EDE1D9"/>
                      </a:solidFill>
                      <a:prstDash val="solid"/>
                      <a:round/>
                      <a:headEnd type="none" w="med" len="med"/>
                      <a:tailEnd type="none" w="med" len="med"/>
                    </a:lnT>
                    <a:lnB w="9525" cap="flat" cmpd="sng" algn="ctr">
                      <a:solidFill>
                        <a:srgbClr val="EDE1D9"/>
                      </a:solidFill>
                      <a:prstDash val="solid"/>
                      <a:round/>
                      <a:headEnd type="none" w="med" len="med"/>
                      <a:tailEnd type="none" w="med" len="med"/>
                    </a:lnB>
                    <a:solidFill>
                      <a:srgbClr val="E4F0E9"/>
                    </a:solidFill>
                  </a:tcPr>
                </a:tc>
              </a:tr>
              <a:tr h="658368">
                <a:tc>
                  <a:txBody>
                    <a:bodyPr/>
                    <a:lstStyle/>
                    <a:p>
                      <a:pPr indent="0" marL="0">
                        <a:buNone/>
                      </a:pPr>
                      <a:r>
                        <a:rPr lang="en-US" sz="1050" b="1" dirty="0">
                          <a:solidFill>
                            <a:srgbClr val="4A4039"/>
                          </a:solidFill>
                          <a:latin typeface="DM Sans" pitchFamily="34" charset="0"/>
                          <a:ea typeface="DM Sans" pitchFamily="34" charset="-122"/>
                          <a:cs typeface="DM Sans" pitchFamily="34" charset="-120"/>
                        </a:rPr>
                        <a:t>04 Diferenciación</a:t>
                      </a:r>
                      <a:endParaRPr lang="en-US" sz="1050" dirty="0">
                        <a:latin typeface="DM Sans" charset="0"/>
                        <a:ea typeface="DM Sans" charset="0"/>
                        <a:cs typeface="DM Sans" charset="0"/>
                      </a:endParaRPr>
                    </a:p>
                  </a:txBody>
                  <a:tcPr marL="91440" marR="91440" marT="36576" marB="36576" anchor="ctr">
                    <a:lnL w="9525" cap="flat" cmpd="sng" algn="ctr">
                      <a:solidFill>
                        <a:srgbClr val="EDE1D9"/>
                      </a:solidFill>
                      <a:prstDash val="solid"/>
                      <a:round/>
                      <a:headEnd type="none" w="med" len="med"/>
                      <a:tailEnd type="none" w="med" len="med"/>
                    </a:lnL>
                    <a:lnR w="9525" cap="flat" cmpd="sng" algn="ctr">
                      <a:solidFill>
                        <a:srgbClr val="EDE1D9"/>
                      </a:solidFill>
                      <a:prstDash val="solid"/>
                      <a:round/>
                      <a:headEnd type="none" w="med" len="med"/>
                      <a:tailEnd type="none" w="med" len="med"/>
                    </a:lnR>
                    <a:lnT w="9525" cap="flat" cmpd="sng" algn="ctr">
                      <a:solidFill>
                        <a:srgbClr val="EDE1D9"/>
                      </a:solidFill>
                      <a:prstDash val="solid"/>
                      <a:round/>
                      <a:headEnd type="none" w="med" len="med"/>
                      <a:tailEnd type="none" w="med" len="med"/>
                    </a:lnT>
                    <a:lnB w="9525" cap="flat" cmpd="sng" algn="ctr">
                      <a:solidFill>
                        <a:srgbClr val="EDE1D9"/>
                      </a:solidFill>
                      <a:prstDash val="solid"/>
                      <a:round/>
                      <a:headEnd type="none" w="med" len="med"/>
                      <a:tailEnd type="none" w="med" len="med"/>
                    </a:lnB>
                    <a:solidFill>
                      <a:srgbClr val="FFFFFF"/>
                    </a:solidFill>
                  </a:tcPr>
                </a:tc>
                <a:tc>
                  <a:txBody>
                    <a:bodyPr/>
                    <a:lstStyle/>
                    <a:p>
                      <a:pPr indent="0" marL="0">
                        <a:buNone/>
                      </a:pPr>
                      <a:r>
                        <a:rPr lang="en-US" sz="1050" dirty="0">
                          <a:solidFill>
                            <a:srgbClr val="4A4039"/>
                          </a:solidFill>
                          <a:latin typeface="DM Sans" pitchFamily="34" charset="0"/>
                          <a:ea typeface="DM Sans" pitchFamily="34" charset="-122"/>
                          <a:cs typeface="DM Sans" pitchFamily="34" charset="-120"/>
                        </a:rPr>
                        <a:t>Sin solución que integre las 4 etapas</a:t>
                      </a:r>
                      <a:endParaRPr lang="en-US" sz="1050" dirty="0">
                        <a:latin typeface="DM Sans" charset="0"/>
                        <a:ea typeface="DM Sans" charset="0"/>
                        <a:cs typeface="DM Sans" charset="0"/>
                      </a:endParaRPr>
                    </a:p>
                  </a:txBody>
                  <a:tcPr marL="91440" marR="91440" marT="36576" marB="36576" anchor="ctr">
                    <a:lnL w="9525" cap="flat" cmpd="sng" algn="ctr">
                      <a:solidFill>
                        <a:srgbClr val="EDE1D9"/>
                      </a:solidFill>
                      <a:prstDash val="solid"/>
                      <a:round/>
                      <a:headEnd type="none" w="med" len="med"/>
                      <a:tailEnd type="none" w="med" len="med"/>
                    </a:lnL>
                    <a:lnR w="9525" cap="flat" cmpd="sng" algn="ctr">
                      <a:solidFill>
                        <a:srgbClr val="EDE1D9"/>
                      </a:solidFill>
                      <a:prstDash val="solid"/>
                      <a:round/>
                      <a:headEnd type="none" w="med" len="med"/>
                      <a:tailEnd type="none" w="med" len="med"/>
                    </a:lnR>
                    <a:lnT w="9525" cap="flat" cmpd="sng" algn="ctr">
                      <a:solidFill>
                        <a:srgbClr val="EDE1D9"/>
                      </a:solidFill>
                      <a:prstDash val="solid"/>
                      <a:round/>
                      <a:headEnd type="none" w="med" len="med"/>
                      <a:tailEnd type="none" w="med" len="med"/>
                    </a:lnT>
                    <a:lnB w="9525" cap="flat" cmpd="sng" algn="ctr">
                      <a:solidFill>
                        <a:srgbClr val="EDE1D9"/>
                      </a:solidFill>
                      <a:prstDash val="solid"/>
                      <a:round/>
                      <a:headEnd type="none" w="med" len="med"/>
                      <a:tailEnd type="none" w="med" len="med"/>
                    </a:lnB>
                    <a:solidFill>
                      <a:srgbClr val="FFFFFF"/>
                    </a:solidFill>
                  </a:tcPr>
                </a:tc>
                <a:tc>
                  <a:txBody>
                    <a:bodyPr/>
                    <a:lstStyle/>
                    <a:p>
                      <a:pPr indent="0" marL="0">
                        <a:buNone/>
                      </a:pPr>
                      <a:r>
                        <a:rPr lang="en-US" sz="1050" dirty="0">
                          <a:solidFill>
                            <a:srgbClr val="4A4039"/>
                          </a:solidFill>
                          <a:latin typeface="DM Sans" pitchFamily="34" charset="0"/>
                          <a:ea typeface="DM Sans" pitchFamily="34" charset="-122"/>
                          <a:cs typeface="DM Sans" pitchFamily="34" charset="-120"/>
                        </a:rPr>
                        <a:t>Solo 6,2 % usa un dispositivo (est.); piden pruebas de UV-C</a:t>
                      </a:r>
                      <a:endParaRPr lang="en-US" sz="1050" dirty="0">
                        <a:latin typeface="DM Sans" charset="0"/>
                        <a:ea typeface="DM Sans" charset="0"/>
                        <a:cs typeface="DM Sans" charset="0"/>
                      </a:endParaRPr>
                    </a:p>
                  </a:txBody>
                  <a:tcPr marL="91440" marR="91440" marT="36576" marB="36576" anchor="ctr">
                    <a:lnL w="9525" cap="flat" cmpd="sng" algn="ctr">
                      <a:solidFill>
                        <a:srgbClr val="EDE1D9"/>
                      </a:solidFill>
                      <a:prstDash val="solid"/>
                      <a:round/>
                      <a:headEnd type="none" w="med" len="med"/>
                      <a:tailEnd type="none" w="med" len="med"/>
                    </a:lnL>
                    <a:lnR w="9525" cap="flat" cmpd="sng" algn="ctr">
                      <a:solidFill>
                        <a:srgbClr val="EDE1D9"/>
                      </a:solidFill>
                      <a:prstDash val="solid"/>
                      <a:round/>
                      <a:headEnd type="none" w="med" len="med"/>
                      <a:tailEnd type="none" w="med" len="med"/>
                    </a:lnR>
                    <a:lnT w="9525" cap="flat" cmpd="sng" algn="ctr">
                      <a:solidFill>
                        <a:srgbClr val="EDE1D9"/>
                      </a:solidFill>
                      <a:prstDash val="solid"/>
                      <a:round/>
                      <a:headEnd type="none" w="med" len="med"/>
                      <a:tailEnd type="none" w="med" len="med"/>
                    </a:lnT>
                    <a:lnB w="9525" cap="flat" cmpd="sng" algn="ctr">
                      <a:solidFill>
                        <a:srgbClr val="EDE1D9"/>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A87C45"/>
                          </a:solidFill>
                          <a:latin typeface="DM Sans" pitchFamily="34" charset="0"/>
                          <a:ea typeface="DM Sans" pitchFamily="34" charset="-122"/>
                          <a:cs typeface="DM Sans" pitchFamily="34" charset="-120"/>
                        </a:rPr>
                        <a:t>Reforzado, con condiciones</a:t>
                      </a:r>
                      <a:endParaRPr lang="en-US" sz="1050" dirty="0">
                        <a:latin typeface="DM Sans" charset="0"/>
                        <a:ea typeface="DM Sans" charset="0"/>
                        <a:cs typeface="DM Sans" charset="0"/>
                      </a:endParaRPr>
                    </a:p>
                  </a:txBody>
                  <a:tcPr marL="91440" marR="91440" marT="36576" marB="36576" anchor="ctr">
                    <a:lnL w="9525" cap="flat" cmpd="sng" algn="ctr">
                      <a:solidFill>
                        <a:srgbClr val="EDE1D9"/>
                      </a:solidFill>
                      <a:prstDash val="solid"/>
                      <a:round/>
                      <a:headEnd type="none" w="med" len="med"/>
                      <a:tailEnd type="none" w="med" len="med"/>
                    </a:lnL>
                    <a:lnR w="9525" cap="flat" cmpd="sng" algn="ctr">
                      <a:solidFill>
                        <a:srgbClr val="EDE1D9"/>
                      </a:solidFill>
                      <a:prstDash val="solid"/>
                      <a:round/>
                      <a:headEnd type="none" w="med" len="med"/>
                      <a:tailEnd type="none" w="med" len="med"/>
                    </a:lnR>
                    <a:lnT w="9525" cap="flat" cmpd="sng" algn="ctr">
                      <a:solidFill>
                        <a:srgbClr val="EDE1D9"/>
                      </a:solidFill>
                      <a:prstDash val="solid"/>
                      <a:round/>
                      <a:headEnd type="none" w="med" len="med"/>
                      <a:tailEnd type="none" w="med" len="med"/>
                    </a:lnT>
                    <a:lnB w="9525" cap="flat" cmpd="sng" algn="ctr">
                      <a:solidFill>
                        <a:srgbClr val="EDE1D9"/>
                      </a:solidFill>
                      <a:prstDash val="solid"/>
                      <a:round/>
                      <a:headEnd type="none" w="med" len="med"/>
                      <a:tailEnd type="none" w="med" len="med"/>
                    </a:lnB>
                    <a:solidFill>
                      <a:srgbClr val="F3DCD8"/>
                    </a:solidFill>
                  </a:tcPr>
                </a:tc>
              </a:tr>
              <a:tr h="658368">
                <a:tc>
                  <a:txBody>
                    <a:bodyPr/>
                    <a:lstStyle/>
                    <a:p>
                      <a:pPr indent="0" marL="0">
                        <a:buNone/>
                      </a:pPr>
                      <a:r>
                        <a:rPr lang="en-US" sz="1050" b="1" dirty="0">
                          <a:solidFill>
                            <a:srgbClr val="4A4039"/>
                          </a:solidFill>
                          <a:latin typeface="DM Sans" pitchFamily="34" charset="0"/>
                          <a:ea typeface="DM Sans" pitchFamily="34" charset="-122"/>
                          <a:cs typeface="DM Sans" pitchFamily="34" charset="-120"/>
                        </a:rPr>
                        <a:t>05 Validación</a:t>
                      </a:r>
                      <a:endParaRPr lang="en-US" sz="1050" dirty="0">
                        <a:latin typeface="DM Sans" charset="0"/>
                        <a:ea typeface="DM Sans" charset="0"/>
                        <a:cs typeface="DM Sans" charset="0"/>
                      </a:endParaRPr>
                    </a:p>
                  </a:txBody>
                  <a:tcPr marL="91440" marR="91440" marT="36576" marB="36576" anchor="ctr">
                    <a:lnL w="9525" cap="flat" cmpd="sng" algn="ctr">
                      <a:solidFill>
                        <a:srgbClr val="EDE1D9"/>
                      </a:solidFill>
                      <a:prstDash val="solid"/>
                      <a:round/>
                      <a:headEnd type="none" w="med" len="med"/>
                      <a:tailEnd type="none" w="med" len="med"/>
                    </a:lnL>
                    <a:lnR w="9525" cap="flat" cmpd="sng" algn="ctr">
                      <a:solidFill>
                        <a:srgbClr val="EDE1D9"/>
                      </a:solidFill>
                      <a:prstDash val="solid"/>
                      <a:round/>
                      <a:headEnd type="none" w="med" len="med"/>
                      <a:tailEnd type="none" w="med" len="med"/>
                    </a:lnR>
                    <a:lnT w="9525" cap="flat" cmpd="sng" algn="ctr">
                      <a:solidFill>
                        <a:srgbClr val="EDE1D9"/>
                      </a:solidFill>
                      <a:prstDash val="solid"/>
                      <a:round/>
                      <a:headEnd type="none" w="med" len="med"/>
                      <a:tailEnd type="none" w="med" len="med"/>
                    </a:lnT>
                    <a:lnB w="9525" cap="flat" cmpd="sng" algn="ctr">
                      <a:solidFill>
                        <a:srgbClr val="EDE1D9"/>
                      </a:solidFill>
                      <a:prstDash val="solid"/>
                      <a:round/>
                      <a:headEnd type="none" w="med" len="med"/>
                      <a:tailEnd type="none" w="med" len="med"/>
                    </a:lnB>
                    <a:solidFill>
                      <a:srgbClr val="FFFFFF"/>
                    </a:solidFill>
                  </a:tcPr>
                </a:tc>
                <a:tc>
                  <a:txBody>
                    <a:bodyPr/>
                    <a:lstStyle/>
                    <a:p>
                      <a:pPr indent="0" marL="0">
                        <a:buNone/>
                      </a:pPr>
                      <a:r>
                        <a:rPr lang="en-US" sz="1050" dirty="0">
                          <a:solidFill>
                            <a:srgbClr val="4A4039"/>
                          </a:solidFill>
                          <a:latin typeface="DM Sans" pitchFamily="34" charset="0"/>
                          <a:ea typeface="DM Sans" pitchFamily="34" charset="-122"/>
                          <a:cs typeface="DM Sans" pitchFamily="34" charset="-120"/>
                        </a:rPr>
                        <a:t>Sin evidencia de disposición a pagar</a:t>
                      </a:r>
                      <a:endParaRPr lang="en-US" sz="1050" dirty="0">
                        <a:latin typeface="DM Sans" charset="0"/>
                        <a:ea typeface="DM Sans" charset="0"/>
                        <a:cs typeface="DM Sans" charset="0"/>
                      </a:endParaRPr>
                    </a:p>
                  </a:txBody>
                  <a:tcPr marL="91440" marR="91440" marT="36576" marB="36576" anchor="ctr">
                    <a:lnL w="9525" cap="flat" cmpd="sng" algn="ctr">
                      <a:solidFill>
                        <a:srgbClr val="EDE1D9"/>
                      </a:solidFill>
                      <a:prstDash val="solid"/>
                      <a:round/>
                      <a:headEnd type="none" w="med" len="med"/>
                      <a:tailEnd type="none" w="med" len="med"/>
                    </a:lnL>
                    <a:lnR w="9525" cap="flat" cmpd="sng" algn="ctr">
                      <a:solidFill>
                        <a:srgbClr val="EDE1D9"/>
                      </a:solidFill>
                      <a:prstDash val="solid"/>
                      <a:round/>
                      <a:headEnd type="none" w="med" len="med"/>
                      <a:tailEnd type="none" w="med" len="med"/>
                    </a:lnR>
                    <a:lnT w="9525" cap="flat" cmpd="sng" algn="ctr">
                      <a:solidFill>
                        <a:srgbClr val="EDE1D9"/>
                      </a:solidFill>
                      <a:prstDash val="solid"/>
                      <a:round/>
                      <a:headEnd type="none" w="med" len="med"/>
                      <a:tailEnd type="none" w="med" len="med"/>
                    </a:lnT>
                    <a:lnB w="9525" cap="flat" cmpd="sng" algn="ctr">
                      <a:solidFill>
                        <a:srgbClr val="EDE1D9"/>
                      </a:solidFill>
                      <a:prstDash val="solid"/>
                      <a:round/>
                      <a:headEnd type="none" w="med" len="med"/>
                      <a:tailEnd type="none" w="med" len="med"/>
                    </a:lnB>
                    <a:solidFill>
                      <a:srgbClr val="FFFFFF"/>
                    </a:solidFill>
                  </a:tcPr>
                </a:tc>
                <a:tc>
                  <a:txBody>
                    <a:bodyPr/>
                    <a:lstStyle/>
                    <a:p>
                      <a:pPr indent="0" marL="0">
                        <a:buNone/>
                      </a:pPr>
                      <a:r>
                        <a:rPr lang="en-US" sz="1050" dirty="0">
                          <a:solidFill>
                            <a:srgbClr val="4A4039"/>
                          </a:solidFill>
                          <a:latin typeface="DM Sans" pitchFamily="34" charset="0"/>
                          <a:ea typeface="DM Sans" pitchFamily="34" charset="-122"/>
                          <a:cs typeface="DM Sans" pitchFamily="34" charset="-120"/>
                        </a:rPr>
                        <a:t>25,2 % pagaría el rango objetivo (meta: 50 %)</a:t>
                      </a:r>
                      <a:endParaRPr lang="en-US" sz="1050" dirty="0">
                        <a:latin typeface="DM Sans" charset="0"/>
                        <a:ea typeface="DM Sans" charset="0"/>
                        <a:cs typeface="DM Sans" charset="0"/>
                      </a:endParaRPr>
                    </a:p>
                  </a:txBody>
                  <a:tcPr marL="91440" marR="91440" marT="36576" marB="36576" anchor="ctr">
                    <a:lnL w="9525" cap="flat" cmpd="sng" algn="ctr">
                      <a:solidFill>
                        <a:srgbClr val="EDE1D9"/>
                      </a:solidFill>
                      <a:prstDash val="solid"/>
                      <a:round/>
                      <a:headEnd type="none" w="med" len="med"/>
                      <a:tailEnd type="none" w="med" len="med"/>
                    </a:lnL>
                    <a:lnR w="9525" cap="flat" cmpd="sng" algn="ctr">
                      <a:solidFill>
                        <a:srgbClr val="EDE1D9"/>
                      </a:solidFill>
                      <a:prstDash val="solid"/>
                      <a:round/>
                      <a:headEnd type="none" w="med" len="med"/>
                      <a:tailEnd type="none" w="med" len="med"/>
                    </a:lnR>
                    <a:lnT w="9525" cap="flat" cmpd="sng" algn="ctr">
                      <a:solidFill>
                        <a:srgbClr val="EDE1D9"/>
                      </a:solidFill>
                      <a:prstDash val="solid"/>
                      <a:round/>
                      <a:headEnd type="none" w="med" len="med"/>
                      <a:tailEnd type="none" w="med" len="med"/>
                    </a:lnT>
                    <a:lnB w="9525" cap="flat" cmpd="sng" algn="ctr">
                      <a:solidFill>
                        <a:srgbClr val="EDE1D9"/>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9A3B33"/>
                          </a:solidFill>
                          <a:latin typeface="DM Sans" pitchFamily="34" charset="0"/>
                          <a:ea typeface="DM Sans" pitchFamily="34" charset="-122"/>
                          <a:cs typeface="DM Sans" pitchFamily="34" charset="-120"/>
                        </a:rPr>
                        <a:t>No validada</a:t>
                      </a:r>
                      <a:endParaRPr lang="en-US" sz="1050" dirty="0">
                        <a:latin typeface="DM Sans" charset="0"/>
                        <a:ea typeface="DM Sans" charset="0"/>
                        <a:cs typeface="DM Sans" charset="0"/>
                      </a:endParaRPr>
                    </a:p>
                  </a:txBody>
                  <a:tcPr marL="91440" marR="91440" marT="36576" marB="36576" anchor="ctr">
                    <a:lnL w="9525" cap="flat" cmpd="sng" algn="ctr">
                      <a:solidFill>
                        <a:srgbClr val="EDE1D9"/>
                      </a:solidFill>
                      <a:prstDash val="solid"/>
                      <a:round/>
                      <a:headEnd type="none" w="med" len="med"/>
                      <a:tailEnd type="none" w="med" len="med"/>
                    </a:lnL>
                    <a:lnR w="9525" cap="flat" cmpd="sng" algn="ctr">
                      <a:solidFill>
                        <a:srgbClr val="EDE1D9"/>
                      </a:solidFill>
                      <a:prstDash val="solid"/>
                      <a:round/>
                      <a:headEnd type="none" w="med" len="med"/>
                      <a:tailEnd type="none" w="med" len="med"/>
                    </a:lnR>
                    <a:lnT w="9525" cap="flat" cmpd="sng" algn="ctr">
                      <a:solidFill>
                        <a:srgbClr val="EDE1D9"/>
                      </a:solidFill>
                      <a:prstDash val="solid"/>
                      <a:round/>
                      <a:headEnd type="none" w="med" len="med"/>
                      <a:tailEnd type="none" w="med" len="med"/>
                    </a:lnT>
                    <a:lnB w="9525" cap="flat" cmpd="sng" algn="ctr">
                      <a:solidFill>
                        <a:srgbClr val="EDE1D9"/>
                      </a:solidFill>
                      <a:prstDash val="solid"/>
                      <a:round/>
                      <a:headEnd type="none" w="med" len="med"/>
                      <a:tailEnd type="none" w="med" len="med"/>
                    </a:lnB>
                    <a:solidFill>
                      <a:srgbClr val="F6DDDA"/>
                    </a:solidFill>
                  </a:tcPr>
                </a:tc>
              </a:tr>
            </a:tbl>
          </a:graphicData>
        </a:graphic>
      </p:graphicFrame>
      <p:sp>
        <p:nvSpPr>
          <p:cNvPr id="5" name="Shape 2"/>
          <p:cNvSpPr/>
          <p:nvPr/>
        </p:nvSpPr>
        <p:spPr>
          <a:xfrm>
            <a:off x="548640" y="5486400"/>
            <a:ext cx="11094415" cy="640080"/>
          </a:xfrm>
          <a:prstGeom prst="roundRect">
            <a:avLst>
              <a:gd name="adj" fmla="val 14286"/>
            </a:avLst>
          </a:prstGeom>
          <a:solidFill>
            <a:srgbClr val="F3DCD8"/>
          </a:solidFill>
          <a:ln/>
        </p:spPr>
      </p:sp>
      <p:sp>
        <p:nvSpPr>
          <p:cNvPr id="6" name="Text 3"/>
          <p:cNvSpPr txBox="1"/>
          <p:nvPr/>
        </p:nvSpPr>
        <p:spPr>
          <a:xfrm>
            <a:off x="548640" y="5486400"/>
            <a:ext cx="11094415" cy="640080"/>
          </a:xfrm>
          <a:prstGeom prst="rect">
            <a:avLst/>
          </a:prstGeom>
          <a:noFill/>
          <a:ln/>
        </p:spPr>
        <p:txBody>
          <a:bodyPr wrap="square" lIns="0" tIns="0" rIns="0" bIns="0" rtlCol="0" anchor="ctr"/>
          <a:lstStyle/>
          <a:p>
            <a:pPr algn="ctr" indent="0" marL="0">
              <a:buNone/>
            </a:pPr>
            <a:r>
              <a:rPr lang="en-US" sz="2100" b="1" i="1" dirty="0">
                <a:solidFill>
                  <a:srgbClr val="6B4A43"/>
                </a:solidFill>
                <a:latin typeface="Cormorant Garamond" pitchFamily="34" charset="0"/>
                <a:ea typeface="Cormorant Garamond" pitchFamily="34" charset="-122"/>
                <a:cs typeface="Cormorant Garamond" pitchFamily="34" charset="-120"/>
              </a:rPr>
              <a:t>"El problema está respaldado; el precio todavía no."</a:t>
            </a:r>
            <a:endParaRPr lang="en-US" sz="2100" dirty="0"/>
          </a:p>
        </p:txBody>
      </p:sp>
      <p:sp>
        <p:nvSpPr>
          <p:cNvPr id="7" name="Text 4"/>
          <p:cNvSpPr txBox="1"/>
          <p:nvPr/>
        </p:nvSpPr>
        <p:spPr>
          <a:xfrm>
            <a:off x="548640" y="6355080"/>
            <a:ext cx="11094415" cy="365760"/>
          </a:xfrm>
          <a:prstGeom prst="rect">
            <a:avLst/>
          </a:prstGeom>
          <a:noFill/>
          <a:ln/>
        </p:spPr>
        <p:txBody>
          <a:bodyPr wrap="square" lIns="0" tIns="0" rIns="0" bIns="0" rtlCol="0" anchor="ctr"/>
          <a:lstStyle/>
          <a:p>
            <a:pPr indent="0" marL="0">
              <a:buNone/>
            </a:pPr>
            <a:r>
              <a:rPr lang="en-US" sz="1100" dirty="0">
                <a:solidFill>
                  <a:srgbClr val="8A7A73"/>
                </a:solidFill>
                <a:latin typeface="DM Sans" pitchFamily="34" charset="0"/>
                <a:ea typeface="DM Sans" pitchFamily="34" charset="-122"/>
                <a:cs typeface="DM Sans" pitchFamily="34" charset="-120"/>
              </a:rPr>
              <a:t>Fuente: documento del proyecto (fuentes secundarias); encuesta exploratoria (n = 147, universitarias, muestra por conveniencia) y entrevistas a especialistas, elaboración propia.</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BF5F1"/>
        </a:solidFill>
      </p:bgPr>
    </p:bg>
    <p:spTree>
      <p:nvGrpSpPr>
        <p:cNvPr id="1" name=""/>
        <p:cNvGrpSpPr/>
        <p:nvPr/>
      </p:nvGrpSpPr>
      <p:grpSpPr>
        <a:xfrm>
          <a:off x="0" y="0"/>
          <a:ext cx="0" cy="0"/>
          <a:chOff x="0" y="0"/>
          <a:chExt cx="0" cy="0"/>
        </a:xfrm>
      </p:grpSpPr>
      <p:sp>
        <p:nvSpPr>
          <p:cNvPr id="2" name="Text 0"/>
          <p:cNvSpPr txBox="1"/>
          <p:nvPr/>
        </p:nvSpPr>
        <p:spPr>
          <a:xfrm>
            <a:off x="548640" y="502920"/>
            <a:ext cx="11094415" cy="320040"/>
          </a:xfrm>
          <a:prstGeom prst="rect">
            <a:avLst/>
          </a:prstGeom>
          <a:noFill/>
          <a:ln/>
        </p:spPr>
        <p:txBody>
          <a:bodyPr wrap="square" lIns="0" tIns="0" rIns="0" bIns="0" rtlCol="0" anchor="ctr"/>
          <a:lstStyle/>
          <a:p>
            <a:pPr indent="0" marL="0">
              <a:buNone/>
            </a:pPr>
            <a:r>
              <a:rPr lang="en-US" sz="1300" b="1" spc="200" kern="0" dirty="0">
                <a:solidFill>
                  <a:srgbClr val="A87C45"/>
                </a:solidFill>
                <a:latin typeface="DM Sans" pitchFamily="34" charset="0"/>
                <a:ea typeface="DM Sans" pitchFamily="34" charset="-122"/>
                <a:cs typeface="DM Sans" pitchFamily="34" charset="-120"/>
              </a:rPr>
              <a:t>MARCO TEÓRICO · 1 DE 2</a:t>
            </a:r>
            <a:endParaRPr lang="en-US" sz="1300" dirty="0"/>
          </a:p>
        </p:txBody>
      </p:sp>
      <p:sp>
        <p:nvSpPr>
          <p:cNvPr id="3" name="Text 1"/>
          <p:cNvSpPr txBox="1"/>
          <p:nvPr/>
        </p:nvSpPr>
        <p:spPr>
          <a:xfrm>
            <a:off x="548640" y="822960"/>
            <a:ext cx="11094415" cy="640080"/>
          </a:xfrm>
          <a:prstGeom prst="rect">
            <a:avLst/>
          </a:prstGeom>
          <a:noFill/>
          <a:ln/>
        </p:spPr>
        <p:txBody>
          <a:bodyPr wrap="square" lIns="0" tIns="0" rIns="0" bIns="0" rtlCol="0" anchor="ctr"/>
          <a:lstStyle/>
          <a:p>
            <a:pPr algn="l" indent="0" marL="0">
              <a:buNone/>
            </a:pPr>
            <a:r>
              <a:rPr lang="en-US" sz="2800" b="1" dirty="0">
                <a:solidFill>
                  <a:srgbClr val="241F1D"/>
                </a:solidFill>
                <a:latin typeface="Cormorant Garamond" pitchFamily="34" charset="0"/>
                <a:ea typeface="Cormorant Garamond" pitchFamily="34" charset="-122"/>
                <a:cs typeface="Cormorant Garamond" pitchFamily="34" charset="-120"/>
              </a:rPr>
              <a:t>Ocho conceptos que fundamentan el proyecto</a:t>
            </a:r>
            <a:endParaRPr lang="en-US" sz="2800" dirty="0"/>
          </a:p>
        </p:txBody>
      </p:sp>
      <p:sp>
        <p:nvSpPr>
          <p:cNvPr id="4" name="Shape 2"/>
          <p:cNvSpPr/>
          <p:nvPr/>
        </p:nvSpPr>
        <p:spPr>
          <a:xfrm>
            <a:off x="548640" y="1691640"/>
            <a:ext cx="5432908" cy="1691640"/>
          </a:xfrm>
          <a:prstGeom prst="roundRect">
            <a:avLst>
              <a:gd name="adj" fmla="val 5405"/>
            </a:avLst>
          </a:prstGeom>
          <a:solidFill>
            <a:srgbClr val="FFFFFF"/>
          </a:solidFill>
          <a:ln w="12700">
            <a:solidFill>
              <a:srgbClr val="EDE1D9"/>
            </a:solidFill>
            <a:prstDash val="solid"/>
          </a:ln>
        </p:spPr>
      </p:sp>
      <p:sp>
        <p:nvSpPr>
          <p:cNvPr id="5" name="Text 3"/>
          <p:cNvSpPr txBox="1"/>
          <p:nvPr/>
        </p:nvSpPr>
        <p:spPr>
          <a:xfrm>
            <a:off x="777240" y="1828800"/>
            <a:ext cx="4975708" cy="274320"/>
          </a:xfrm>
          <a:prstGeom prst="rect">
            <a:avLst/>
          </a:prstGeom>
          <a:noFill/>
          <a:ln/>
        </p:spPr>
        <p:txBody>
          <a:bodyPr wrap="square" lIns="0" tIns="0" rIns="0" bIns="0" rtlCol="0" anchor="ctr"/>
          <a:lstStyle/>
          <a:p>
            <a:pPr indent="0" marL="0">
              <a:buNone/>
            </a:pPr>
            <a:r>
              <a:rPr lang="en-US" sz="1200" b="1" dirty="0">
                <a:solidFill>
                  <a:srgbClr val="A87C45"/>
                </a:solidFill>
                <a:latin typeface="DM Sans" pitchFamily="34" charset="0"/>
                <a:ea typeface="DM Sans" pitchFamily="34" charset="-122"/>
                <a:cs typeface="DM Sans" pitchFamily="34" charset="-120"/>
              </a:rPr>
              <a:t>1 · DIFUSIÓN DE INNOVACIONES</a:t>
            </a:r>
            <a:endParaRPr lang="en-US" sz="1200" dirty="0"/>
          </a:p>
        </p:txBody>
      </p:sp>
      <p:sp>
        <p:nvSpPr>
          <p:cNvPr id="6" name="Text 4"/>
          <p:cNvSpPr txBox="1"/>
          <p:nvPr/>
        </p:nvSpPr>
        <p:spPr>
          <a:xfrm>
            <a:off x="777240" y="2103120"/>
            <a:ext cx="4975708" cy="274320"/>
          </a:xfrm>
          <a:prstGeom prst="rect">
            <a:avLst/>
          </a:prstGeom>
          <a:noFill/>
          <a:ln/>
        </p:spPr>
        <p:txBody>
          <a:bodyPr wrap="square" lIns="0" tIns="0" rIns="0" bIns="0" rtlCol="0" anchor="ctr"/>
          <a:lstStyle/>
          <a:p>
            <a:pPr indent="0" marL="0">
              <a:buNone/>
            </a:pPr>
            <a:r>
              <a:rPr lang="en-US" sz="1150" dirty="0">
                <a:solidFill>
                  <a:srgbClr val="8A7A73"/>
                </a:solidFill>
                <a:latin typeface="DM Sans" pitchFamily="34" charset="0"/>
                <a:ea typeface="DM Sans" pitchFamily="34" charset="-122"/>
                <a:cs typeface="DM Sans" pitchFamily="34" charset="-120"/>
              </a:rPr>
              <a:t>Everett M. Rogers · 1962</a:t>
            </a:r>
            <a:endParaRPr lang="en-US" sz="1150" dirty="0"/>
          </a:p>
        </p:txBody>
      </p:sp>
      <p:sp>
        <p:nvSpPr>
          <p:cNvPr id="7" name="Text 5"/>
          <p:cNvSpPr txBox="1"/>
          <p:nvPr/>
        </p:nvSpPr>
        <p:spPr>
          <a:xfrm>
            <a:off x="777240" y="2404872"/>
            <a:ext cx="4975708" cy="502920"/>
          </a:xfrm>
          <a:prstGeom prst="rect">
            <a:avLst/>
          </a:prstGeom>
          <a:noFill/>
          <a:ln/>
        </p:spPr>
        <p:txBody>
          <a:bodyPr wrap="square" lIns="0" tIns="0" rIns="0" bIns="0" rtlCol="0" anchor="ctr"/>
          <a:lstStyle/>
          <a:p>
            <a:pPr indent="0" marL="0">
              <a:buNone/>
            </a:pPr>
            <a:r>
              <a:rPr lang="en-US" sz="1200" dirty="0">
                <a:solidFill>
                  <a:srgbClr val="4A4039"/>
                </a:solidFill>
                <a:latin typeface="DM Sans" pitchFamily="34" charset="0"/>
                <a:ea typeface="DM Sans" pitchFamily="34" charset="-122"/>
                <a:cs typeface="DM Sans" pitchFamily="34" charset="-120"/>
              </a:rPr>
              <a:t>Explica cómo se adopta una categoría nueva, comenzando por adoptantes tempranos.</a:t>
            </a:r>
            <a:endParaRPr lang="en-US" sz="1200" dirty="0"/>
          </a:p>
        </p:txBody>
      </p:sp>
      <p:sp>
        <p:nvSpPr>
          <p:cNvPr id="8" name="Text 6"/>
          <p:cNvSpPr txBox="1"/>
          <p:nvPr/>
        </p:nvSpPr>
        <p:spPr>
          <a:xfrm>
            <a:off x="777240" y="2834640"/>
            <a:ext cx="4975708" cy="457200"/>
          </a:xfrm>
          <a:prstGeom prst="rect">
            <a:avLst/>
          </a:prstGeom>
          <a:noFill/>
          <a:ln/>
        </p:spPr>
        <p:txBody>
          <a:bodyPr wrap="square" lIns="0" tIns="0" rIns="0" bIns="0" rtlCol="0" anchor="ctr"/>
          <a:lstStyle/>
          <a:p>
            <a:pPr indent="0" marL="0">
              <a:buNone/>
            </a:pPr>
            <a:r>
              <a:rPr lang="en-US" sz="1200" b="1" dirty="0">
                <a:solidFill>
                  <a:srgbClr val="6B4A43"/>
                </a:solidFill>
                <a:latin typeface="DM Sans" pitchFamily="34" charset="0"/>
                <a:ea typeface="DM Sans" pitchFamily="34" charset="-122"/>
                <a:cs typeface="DM Sans" pitchFamily="34" charset="-120"/>
              </a:rPr>
              <a:t>Para BlendPure: </a:t>
            </a:r>
            <a:pPr indent="0" marL="0">
              <a:buNone/>
            </a:pPr>
            <a:r>
              <a:rPr lang="en-US" sz="1200" dirty="0">
                <a:solidFill>
                  <a:srgbClr val="6B4A43"/>
                </a:solidFill>
                <a:latin typeface="DM Sans" pitchFamily="34" charset="0"/>
                <a:ea typeface="DM Sans" pitchFamily="34" charset="-122"/>
                <a:cs typeface="DM Sans" pitchFamily="34" charset="-120"/>
              </a:rPr>
              <a:t>Empezar con beauty creators como adoptantes tempranos.</a:t>
            </a:r>
            <a:endParaRPr lang="en-US" sz="1200" dirty="0"/>
          </a:p>
        </p:txBody>
      </p:sp>
      <p:sp>
        <p:nvSpPr>
          <p:cNvPr id="9" name="Shape 7"/>
          <p:cNvSpPr/>
          <p:nvPr/>
        </p:nvSpPr>
        <p:spPr>
          <a:xfrm>
            <a:off x="6210148" y="1691640"/>
            <a:ext cx="5432908" cy="1691640"/>
          </a:xfrm>
          <a:prstGeom prst="roundRect">
            <a:avLst>
              <a:gd name="adj" fmla="val 5405"/>
            </a:avLst>
          </a:prstGeom>
          <a:solidFill>
            <a:srgbClr val="FFFFFF"/>
          </a:solidFill>
          <a:ln w="12700">
            <a:solidFill>
              <a:srgbClr val="EDE1D9"/>
            </a:solidFill>
            <a:prstDash val="solid"/>
          </a:ln>
        </p:spPr>
      </p:sp>
      <p:sp>
        <p:nvSpPr>
          <p:cNvPr id="10" name="Text 8"/>
          <p:cNvSpPr txBox="1"/>
          <p:nvPr/>
        </p:nvSpPr>
        <p:spPr>
          <a:xfrm>
            <a:off x="6438748" y="1828800"/>
            <a:ext cx="4975708" cy="274320"/>
          </a:xfrm>
          <a:prstGeom prst="rect">
            <a:avLst/>
          </a:prstGeom>
          <a:noFill/>
          <a:ln/>
        </p:spPr>
        <p:txBody>
          <a:bodyPr wrap="square" lIns="0" tIns="0" rIns="0" bIns="0" rtlCol="0" anchor="ctr"/>
          <a:lstStyle/>
          <a:p>
            <a:pPr indent="0" marL="0">
              <a:buNone/>
            </a:pPr>
            <a:r>
              <a:rPr lang="en-US" sz="1200" b="1" dirty="0">
                <a:solidFill>
                  <a:srgbClr val="A87C45"/>
                </a:solidFill>
                <a:latin typeface="DM Sans" pitchFamily="34" charset="0"/>
                <a:ea typeface="DM Sans" pitchFamily="34" charset="-122"/>
                <a:cs typeface="DM Sans" pitchFamily="34" charset="-120"/>
              </a:rPr>
              <a:t>2 · ACCIÓN PLANIFICADA</a:t>
            </a:r>
            <a:endParaRPr lang="en-US" sz="1200" dirty="0"/>
          </a:p>
        </p:txBody>
      </p:sp>
      <p:sp>
        <p:nvSpPr>
          <p:cNvPr id="11" name="Text 9"/>
          <p:cNvSpPr txBox="1"/>
          <p:nvPr/>
        </p:nvSpPr>
        <p:spPr>
          <a:xfrm>
            <a:off x="6438748" y="2103120"/>
            <a:ext cx="4975708" cy="274320"/>
          </a:xfrm>
          <a:prstGeom prst="rect">
            <a:avLst/>
          </a:prstGeom>
          <a:noFill/>
          <a:ln/>
        </p:spPr>
        <p:txBody>
          <a:bodyPr wrap="square" lIns="0" tIns="0" rIns="0" bIns="0" rtlCol="0" anchor="ctr"/>
          <a:lstStyle/>
          <a:p>
            <a:pPr indent="0" marL="0">
              <a:buNone/>
            </a:pPr>
            <a:r>
              <a:rPr lang="en-US" sz="1150" dirty="0">
                <a:solidFill>
                  <a:srgbClr val="8A7A73"/>
                </a:solidFill>
                <a:latin typeface="DM Sans" pitchFamily="34" charset="0"/>
                <a:ea typeface="DM Sans" pitchFamily="34" charset="-122"/>
                <a:cs typeface="DM Sans" pitchFamily="34" charset="-120"/>
              </a:rPr>
              <a:t>Icek Ajzen · 1991</a:t>
            </a:r>
            <a:endParaRPr lang="en-US" sz="1150" dirty="0"/>
          </a:p>
        </p:txBody>
      </p:sp>
      <p:sp>
        <p:nvSpPr>
          <p:cNvPr id="12" name="Text 10"/>
          <p:cNvSpPr txBox="1"/>
          <p:nvPr/>
        </p:nvSpPr>
        <p:spPr>
          <a:xfrm>
            <a:off x="6438748" y="2404872"/>
            <a:ext cx="4975708" cy="502920"/>
          </a:xfrm>
          <a:prstGeom prst="rect">
            <a:avLst/>
          </a:prstGeom>
          <a:noFill/>
          <a:ln/>
        </p:spPr>
        <p:txBody>
          <a:bodyPr wrap="square" lIns="0" tIns="0" rIns="0" bIns="0" rtlCol="0" anchor="ctr"/>
          <a:lstStyle/>
          <a:p>
            <a:pPr indent="0" marL="0">
              <a:buNone/>
            </a:pPr>
            <a:r>
              <a:rPr lang="en-US" sz="1200" dirty="0">
                <a:solidFill>
                  <a:srgbClr val="4A4039"/>
                </a:solidFill>
                <a:latin typeface="DM Sans" pitchFamily="34" charset="0"/>
                <a:ea typeface="DM Sans" pitchFamily="34" charset="-122"/>
                <a:cs typeface="DM Sans" pitchFamily="34" charset="-120"/>
              </a:rPr>
              <a:t>Explica la brecha entre la intención y el comportamiento real.</a:t>
            </a:r>
            <a:endParaRPr lang="en-US" sz="1200" dirty="0"/>
          </a:p>
        </p:txBody>
      </p:sp>
      <p:sp>
        <p:nvSpPr>
          <p:cNvPr id="13" name="Text 11"/>
          <p:cNvSpPr txBox="1"/>
          <p:nvPr/>
        </p:nvSpPr>
        <p:spPr>
          <a:xfrm>
            <a:off x="6438748" y="2834640"/>
            <a:ext cx="4975708" cy="457200"/>
          </a:xfrm>
          <a:prstGeom prst="rect">
            <a:avLst/>
          </a:prstGeom>
          <a:noFill/>
          <a:ln/>
        </p:spPr>
        <p:txBody>
          <a:bodyPr wrap="square" lIns="0" tIns="0" rIns="0" bIns="0" rtlCol="0" anchor="ctr"/>
          <a:lstStyle/>
          <a:p>
            <a:pPr indent="0" marL="0">
              <a:buNone/>
            </a:pPr>
            <a:r>
              <a:rPr lang="en-US" sz="1200" b="1" dirty="0">
                <a:solidFill>
                  <a:srgbClr val="6B4A43"/>
                </a:solidFill>
                <a:latin typeface="DM Sans" pitchFamily="34" charset="0"/>
                <a:ea typeface="DM Sans" pitchFamily="34" charset="-122"/>
                <a:cs typeface="DM Sans" pitchFamily="34" charset="-120"/>
              </a:rPr>
              <a:t>Para BlendPure: </a:t>
            </a:r>
            <a:pPr indent="0" marL="0">
              <a:buNone/>
            </a:pPr>
            <a:r>
              <a:rPr lang="en-US" sz="1200" dirty="0">
                <a:solidFill>
                  <a:srgbClr val="6B4A43"/>
                </a:solidFill>
                <a:latin typeface="DM Sans" pitchFamily="34" charset="0"/>
                <a:ea typeface="DM Sans" pitchFamily="34" charset="-122"/>
                <a:cs typeface="DM Sans" pitchFamily="34" charset="-120"/>
              </a:rPr>
              <a:t>Explica por qué saber que hay que limpiar no implica hacerlo.</a:t>
            </a:r>
            <a:endParaRPr lang="en-US" sz="1200" dirty="0"/>
          </a:p>
        </p:txBody>
      </p:sp>
      <p:sp>
        <p:nvSpPr>
          <p:cNvPr id="14" name="Shape 12"/>
          <p:cNvSpPr/>
          <p:nvPr/>
        </p:nvSpPr>
        <p:spPr>
          <a:xfrm>
            <a:off x="548640" y="3611880"/>
            <a:ext cx="5432908" cy="1691640"/>
          </a:xfrm>
          <a:prstGeom prst="roundRect">
            <a:avLst>
              <a:gd name="adj" fmla="val 5405"/>
            </a:avLst>
          </a:prstGeom>
          <a:solidFill>
            <a:srgbClr val="FFFFFF"/>
          </a:solidFill>
          <a:ln w="12700">
            <a:solidFill>
              <a:srgbClr val="EDE1D9"/>
            </a:solidFill>
            <a:prstDash val="solid"/>
          </a:ln>
        </p:spPr>
      </p:sp>
      <p:sp>
        <p:nvSpPr>
          <p:cNvPr id="15" name="Text 13"/>
          <p:cNvSpPr txBox="1"/>
          <p:nvPr/>
        </p:nvSpPr>
        <p:spPr>
          <a:xfrm>
            <a:off x="777240" y="3749040"/>
            <a:ext cx="4975708" cy="274320"/>
          </a:xfrm>
          <a:prstGeom prst="rect">
            <a:avLst/>
          </a:prstGeom>
          <a:noFill/>
          <a:ln/>
        </p:spPr>
        <p:txBody>
          <a:bodyPr wrap="square" lIns="0" tIns="0" rIns="0" bIns="0" rtlCol="0" anchor="ctr"/>
          <a:lstStyle/>
          <a:p>
            <a:pPr indent="0" marL="0">
              <a:buNone/>
            </a:pPr>
            <a:r>
              <a:rPr lang="en-US" sz="1200" b="1" dirty="0">
                <a:solidFill>
                  <a:srgbClr val="A87C45"/>
                </a:solidFill>
                <a:latin typeface="DM Sans" pitchFamily="34" charset="0"/>
                <a:ea typeface="DM Sans" pitchFamily="34" charset="-122"/>
                <a:cs typeface="DM Sans" pitchFamily="34" charset="-120"/>
              </a:rPr>
              <a:t>3 · STP (SEGMENTACIÓN)</a:t>
            </a:r>
            <a:endParaRPr lang="en-US" sz="1200" dirty="0"/>
          </a:p>
        </p:txBody>
      </p:sp>
      <p:sp>
        <p:nvSpPr>
          <p:cNvPr id="16" name="Text 14"/>
          <p:cNvSpPr txBox="1"/>
          <p:nvPr/>
        </p:nvSpPr>
        <p:spPr>
          <a:xfrm>
            <a:off x="777240" y="4023360"/>
            <a:ext cx="4975708" cy="274320"/>
          </a:xfrm>
          <a:prstGeom prst="rect">
            <a:avLst/>
          </a:prstGeom>
          <a:noFill/>
          <a:ln/>
        </p:spPr>
        <p:txBody>
          <a:bodyPr wrap="square" lIns="0" tIns="0" rIns="0" bIns="0" rtlCol="0" anchor="ctr"/>
          <a:lstStyle/>
          <a:p>
            <a:pPr indent="0" marL="0">
              <a:buNone/>
            </a:pPr>
            <a:r>
              <a:rPr lang="en-US" sz="1150" dirty="0">
                <a:solidFill>
                  <a:srgbClr val="8A7A73"/>
                </a:solidFill>
                <a:latin typeface="DM Sans" pitchFamily="34" charset="0"/>
                <a:ea typeface="DM Sans" pitchFamily="34" charset="-122"/>
                <a:cs typeface="DM Sans" pitchFamily="34" charset="-120"/>
              </a:rPr>
              <a:t>Philip Kotler y Gary Armstrong · 2018</a:t>
            </a:r>
            <a:endParaRPr lang="en-US" sz="1150" dirty="0"/>
          </a:p>
        </p:txBody>
      </p:sp>
      <p:sp>
        <p:nvSpPr>
          <p:cNvPr id="17" name="Text 15"/>
          <p:cNvSpPr txBox="1"/>
          <p:nvPr/>
        </p:nvSpPr>
        <p:spPr>
          <a:xfrm>
            <a:off x="777240" y="4325112"/>
            <a:ext cx="4975708" cy="502920"/>
          </a:xfrm>
          <a:prstGeom prst="rect">
            <a:avLst/>
          </a:prstGeom>
          <a:noFill/>
          <a:ln/>
        </p:spPr>
        <p:txBody>
          <a:bodyPr wrap="square" lIns="0" tIns="0" rIns="0" bIns="0" rtlCol="0" anchor="ctr"/>
          <a:lstStyle/>
          <a:p>
            <a:pPr indent="0" marL="0">
              <a:buNone/>
            </a:pPr>
            <a:r>
              <a:rPr lang="en-US" sz="1200" dirty="0">
                <a:solidFill>
                  <a:srgbClr val="4A4039"/>
                </a:solidFill>
                <a:latin typeface="DM Sans" pitchFamily="34" charset="0"/>
                <a:ea typeface="DM Sans" pitchFamily="34" charset="-122"/>
                <a:cs typeface="DM Sans" pitchFamily="34" charset="-120"/>
              </a:rPr>
              <a:t>Segmentar, apuntar a un target y posicionar la oferta.</a:t>
            </a:r>
            <a:endParaRPr lang="en-US" sz="1200" dirty="0"/>
          </a:p>
        </p:txBody>
      </p:sp>
      <p:sp>
        <p:nvSpPr>
          <p:cNvPr id="18" name="Text 16"/>
          <p:cNvSpPr txBox="1"/>
          <p:nvPr/>
        </p:nvSpPr>
        <p:spPr>
          <a:xfrm>
            <a:off x="777240" y="4754880"/>
            <a:ext cx="4975708" cy="457200"/>
          </a:xfrm>
          <a:prstGeom prst="rect">
            <a:avLst/>
          </a:prstGeom>
          <a:noFill/>
          <a:ln/>
        </p:spPr>
        <p:txBody>
          <a:bodyPr wrap="square" lIns="0" tIns="0" rIns="0" bIns="0" rtlCol="0" anchor="ctr"/>
          <a:lstStyle/>
          <a:p>
            <a:pPr indent="0" marL="0">
              <a:buNone/>
            </a:pPr>
            <a:r>
              <a:rPr lang="en-US" sz="1200" b="1" dirty="0">
                <a:solidFill>
                  <a:srgbClr val="6B4A43"/>
                </a:solidFill>
                <a:latin typeface="DM Sans" pitchFamily="34" charset="0"/>
                <a:ea typeface="DM Sans" pitchFamily="34" charset="-122"/>
                <a:cs typeface="DM Sans" pitchFamily="34" charset="-120"/>
              </a:rPr>
              <a:t>Para BlendPure: </a:t>
            </a:r>
            <a:pPr indent="0" marL="0">
              <a:buNone/>
            </a:pPr>
            <a:r>
              <a:rPr lang="en-US" sz="1200" dirty="0">
                <a:solidFill>
                  <a:srgbClr val="6B4A43"/>
                </a:solidFill>
                <a:latin typeface="DM Sans" pitchFamily="34" charset="0"/>
                <a:ea typeface="DM Sans" pitchFamily="34" charset="-122"/>
                <a:cs typeface="DM Sans" pitchFamily="34" charset="-120"/>
              </a:rPr>
              <a:t>Define el segmento prioritario y el posicionamiento "todo en uno".</a:t>
            </a:r>
            <a:endParaRPr lang="en-US" sz="1200" dirty="0"/>
          </a:p>
        </p:txBody>
      </p:sp>
      <p:sp>
        <p:nvSpPr>
          <p:cNvPr id="19" name="Shape 17"/>
          <p:cNvSpPr/>
          <p:nvPr/>
        </p:nvSpPr>
        <p:spPr>
          <a:xfrm>
            <a:off x="6210148" y="3611880"/>
            <a:ext cx="5432908" cy="1691640"/>
          </a:xfrm>
          <a:prstGeom prst="roundRect">
            <a:avLst>
              <a:gd name="adj" fmla="val 5405"/>
            </a:avLst>
          </a:prstGeom>
          <a:solidFill>
            <a:srgbClr val="241F1D"/>
          </a:solidFill>
          <a:ln/>
        </p:spPr>
      </p:sp>
      <p:sp>
        <p:nvSpPr>
          <p:cNvPr id="20" name="Text 18"/>
          <p:cNvSpPr txBox="1"/>
          <p:nvPr/>
        </p:nvSpPr>
        <p:spPr>
          <a:xfrm>
            <a:off x="6438748" y="3749040"/>
            <a:ext cx="4975708" cy="274320"/>
          </a:xfrm>
          <a:prstGeom prst="rect">
            <a:avLst/>
          </a:prstGeom>
          <a:noFill/>
          <a:ln/>
        </p:spPr>
        <p:txBody>
          <a:bodyPr wrap="square" lIns="0" tIns="0" rIns="0" bIns="0" rtlCol="0" anchor="ctr"/>
          <a:lstStyle/>
          <a:p>
            <a:pPr indent="0" marL="0">
              <a:buNone/>
            </a:pPr>
            <a:r>
              <a:rPr lang="en-US" sz="1200" b="1" dirty="0">
                <a:solidFill>
                  <a:srgbClr val="D98C86"/>
                </a:solidFill>
                <a:latin typeface="DM Sans" pitchFamily="34" charset="0"/>
                <a:ea typeface="DM Sans" pitchFamily="34" charset="-122"/>
                <a:cs typeface="DM Sans" pitchFamily="34" charset="-120"/>
              </a:rPr>
              <a:t>4 · VALUE PROPOSITION CANVAS</a:t>
            </a:r>
            <a:endParaRPr lang="en-US" sz="1200" dirty="0"/>
          </a:p>
        </p:txBody>
      </p:sp>
      <p:sp>
        <p:nvSpPr>
          <p:cNvPr id="21" name="Text 19"/>
          <p:cNvSpPr txBox="1"/>
          <p:nvPr/>
        </p:nvSpPr>
        <p:spPr>
          <a:xfrm>
            <a:off x="6438748" y="4023360"/>
            <a:ext cx="4975708" cy="274320"/>
          </a:xfrm>
          <a:prstGeom prst="rect">
            <a:avLst/>
          </a:prstGeom>
          <a:noFill/>
          <a:ln/>
        </p:spPr>
        <p:txBody>
          <a:bodyPr wrap="square" lIns="0" tIns="0" rIns="0" bIns="0" rtlCol="0" anchor="ctr"/>
          <a:lstStyle/>
          <a:p>
            <a:pPr indent="0" marL="0">
              <a:buNone/>
            </a:pPr>
            <a:r>
              <a:rPr lang="en-US" sz="1150" dirty="0">
                <a:solidFill>
                  <a:srgbClr val="C9B8B2"/>
                </a:solidFill>
                <a:latin typeface="DM Sans" pitchFamily="34" charset="0"/>
                <a:ea typeface="DM Sans" pitchFamily="34" charset="-122"/>
                <a:cs typeface="DM Sans" pitchFamily="34" charset="-120"/>
              </a:rPr>
              <a:t>Osterwalder, Pigneur, Bernarda y Smith · 2014</a:t>
            </a:r>
            <a:endParaRPr lang="en-US" sz="1150" dirty="0"/>
          </a:p>
        </p:txBody>
      </p:sp>
      <p:sp>
        <p:nvSpPr>
          <p:cNvPr id="22" name="Text 20"/>
          <p:cNvSpPr txBox="1"/>
          <p:nvPr/>
        </p:nvSpPr>
        <p:spPr>
          <a:xfrm>
            <a:off x="6438748" y="4325112"/>
            <a:ext cx="4975708" cy="502920"/>
          </a:xfrm>
          <a:prstGeom prst="rect">
            <a:avLst/>
          </a:prstGeom>
          <a:noFill/>
          <a:ln/>
        </p:spPr>
        <p:txBody>
          <a:bodyPr wrap="square" lIns="0" tIns="0" rIns="0" bIns="0" rtlCol="0" anchor="ctr"/>
          <a:lstStyle/>
          <a:p>
            <a:pPr indent="0" marL="0">
              <a:buNone/>
            </a:pPr>
            <a:r>
              <a:rPr lang="en-US" sz="1200" dirty="0">
                <a:solidFill>
                  <a:srgbClr val="E6D4CC"/>
                </a:solidFill>
                <a:latin typeface="DM Sans" pitchFamily="34" charset="0"/>
                <a:ea typeface="DM Sans" pitchFamily="34" charset="-122"/>
                <a:cs typeface="DM Sans" pitchFamily="34" charset="-120"/>
              </a:rPr>
              <a:t>Conecta las características del producto con el dolor del consumidor.</a:t>
            </a:r>
            <a:endParaRPr lang="en-US" sz="1200" dirty="0"/>
          </a:p>
        </p:txBody>
      </p:sp>
      <p:sp>
        <p:nvSpPr>
          <p:cNvPr id="23" name="Text 21"/>
          <p:cNvSpPr txBox="1"/>
          <p:nvPr/>
        </p:nvSpPr>
        <p:spPr>
          <a:xfrm>
            <a:off x="6438748" y="4754880"/>
            <a:ext cx="4975708" cy="457200"/>
          </a:xfrm>
          <a:prstGeom prst="rect">
            <a:avLst/>
          </a:prstGeom>
          <a:noFill/>
          <a:ln/>
        </p:spPr>
        <p:txBody>
          <a:bodyPr wrap="square" lIns="0" tIns="0" rIns="0" bIns="0" rtlCol="0" anchor="ctr"/>
          <a:lstStyle/>
          <a:p>
            <a:pPr indent="0" marL="0">
              <a:buNone/>
            </a:pPr>
            <a:r>
              <a:rPr lang="en-US" sz="1200" b="1" dirty="0">
                <a:solidFill>
                  <a:srgbClr val="F5E9E2"/>
                </a:solidFill>
                <a:latin typeface="DM Sans" pitchFamily="34" charset="0"/>
                <a:ea typeface="DM Sans" pitchFamily="34" charset="-122"/>
                <a:cs typeface="DM Sans" pitchFamily="34" charset="-120"/>
              </a:rPr>
              <a:t>Para BlendPure: </a:t>
            </a:r>
            <a:pPr indent="0" marL="0">
              <a:buNone/>
            </a:pPr>
            <a:r>
              <a:rPr lang="en-US" sz="1200" dirty="0">
                <a:solidFill>
                  <a:srgbClr val="F5E9E2"/>
                </a:solidFill>
                <a:latin typeface="DM Sans" pitchFamily="34" charset="0"/>
                <a:ea typeface="DM Sans" pitchFamily="34" charset="-122"/>
                <a:cs typeface="DM Sans" pitchFamily="34" charset="-120"/>
              </a:rPr>
              <a:t>Conecta el producto con el dolor central: tiempo y esfuerzo.</a:t>
            </a:r>
            <a:endParaRPr lang="en-US" sz="1200" dirty="0"/>
          </a:p>
        </p:txBody>
      </p:sp>
      <p:sp>
        <p:nvSpPr>
          <p:cNvPr id="24" name="Text 22"/>
          <p:cNvSpPr txBox="1"/>
          <p:nvPr/>
        </p:nvSpPr>
        <p:spPr>
          <a:xfrm>
            <a:off x="548640" y="6355080"/>
            <a:ext cx="11094415" cy="365760"/>
          </a:xfrm>
          <a:prstGeom prst="rect">
            <a:avLst/>
          </a:prstGeom>
          <a:noFill/>
          <a:ln/>
        </p:spPr>
        <p:txBody>
          <a:bodyPr wrap="square" lIns="0" tIns="0" rIns="0" bIns="0" rtlCol="0" anchor="ctr"/>
          <a:lstStyle/>
          <a:p>
            <a:pPr indent="0" marL="0">
              <a:buNone/>
            </a:pPr>
            <a:r>
              <a:rPr lang="en-US" sz="1100" dirty="0">
                <a:solidFill>
                  <a:srgbClr val="8A7A73"/>
                </a:solidFill>
                <a:latin typeface="DM Sans" pitchFamily="34" charset="0"/>
                <a:ea typeface="DM Sans" pitchFamily="34" charset="-122"/>
                <a:cs typeface="DM Sans" pitchFamily="34" charset="-120"/>
              </a:rPr>
              <a:t>Continúa en la siguiente diapositiva · 4 de 8 conceptos.</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BF5F1"/>
        </a:solidFill>
      </p:bgPr>
    </p:bg>
    <p:spTree>
      <p:nvGrpSpPr>
        <p:cNvPr id="1" name=""/>
        <p:cNvGrpSpPr/>
        <p:nvPr/>
      </p:nvGrpSpPr>
      <p:grpSpPr>
        <a:xfrm>
          <a:off x="0" y="0"/>
          <a:ext cx="0" cy="0"/>
          <a:chOff x="0" y="0"/>
          <a:chExt cx="0" cy="0"/>
        </a:xfrm>
      </p:grpSpPr>
      <p:sp>
        <p:nvSpPr>
          <p:cNvPr id="2" name="Text 0"/>
          <p:cNvSpPr txBox="1"/>
          <p:nvPr/>
        </p:nvSpPr>
        <p:spPr>
          <a:xfrm>
            <a:off x="548640" y="502920"/>
            <a:ext cx="11094415" cy="320040"/>
          </a:xfrm>
          <a:prstGeom prst="rect">
            <a:avLst/>
          </a:prstGeom>
          <a:noFill/>
          <a:ln/>
        </p:spPr>
        <p:txBody>
          <a:bodyPr wrap="square" lIns="0" tIns="0" rIns="0" bIns="0" rtlCol="0" anchor="ctr"/>
          <a:lstStyle/>
          <a:p>
            <a:pPr indent="0" marL="0">
              <a:buNone/>
            </a:pPr>
            <a:r>
              <a:rPr lang="en-US" sz="1300" b="1" spc="200" kern="0" dirty="0">
                <a:solidFill>
                  <a:srgbClr val="A87C45"/>
                </a:solidFill>
                <a:latin typeface="DM Sans" pitchFamily="34" charset="0"/>
                <a:ea typeface="DM Sans" pitchFamily="34" charset="-122"/>
                <a:cs typeface="DM Sans" pitchFamily="34" charset="-120"/>
              </a:rPr>
              <a:t>MARCO TEÓRICO · 2 DE 2</a:t>
            </a:r>
            <a:endParaRPr lang="en-US" sz="1300" dirty="0"/>
          </a:p>
        </p:txBody>
      </p:sp>
      <p:sp>
        <p:nvSpPr>
          <p:cNvPr id="3" name="Text 1"/>
          <p:cNvSpPr txBox="1"/>
          <p:nvPr/>
        </p:nvSpPr>
        <p:spPr>
          <a:xfrm>
            <a:off x="548640" y="822960"/>
            <a:ext cx="11094415" cy="640080"/>
          </a:xfrm>
          <a:prstGeom prst="rect">
            <a:avLst/>
          </a:prstGeom>
          <a:noFill/>
          <a:ln/>
        </p:spPr>
        <p:txBody>
          <a:bodyPr wrap="square" lIns="0" tIns="0" rIns="0" bIns="0" rtlCol="0" anchor="ctr"/>
          <a:lstStyle/>
          <a:p>
            <a:pPr algn="l" indent="0" marL="0">
              <a:buNone/>
            </a:pPr>
            <a:r>
              <a:rPr lang="en-US" sz="2600" b="1" dirty="0">
                <a:solidFill>
                  <a:srgbClr val="241F1D"/>
                </a:solidFill>
                <a:latin typeface="Cormorant Garamond" pitchFamily="34" charset="0"/>
                <a:ea typeface="Cormorant Garamond" pitchFamily="34" charset="-122"/>
                <a:cs typeface="Cormorant Garamond" pitchFamily="34" charset="-120"/>
              </a:rPr>
              <a:t>De la relación con la clienta a su valor de largo plazo</a:t>
            </a:r>
            <a:endParaRPr lang="en-US" sz="2600" dirty="0"/>
          </a:p>
        </p:txBody>
      </p:sp>
      <p:sp>
        <p:nvSpPr>
          <p:cNvPr id="4" name="Shape 2"/>
          <p:cNvSpPr/>
          <p:nvPr/>
        </p:nvSpPr>
        <p:spPr>
          <a:xfrm>
            <a:off x="548640" y="1691640"/>
            <a:ext cx="5432908" cy="1691640"/>
          </a:xfrm>
          <a:prstGeom prst="roundRect">
            <a:avLst>
              <a:gd name="adj" fmla="val 5405"/>
            </a:avLst>
          </a:prstGeom>
          <a:solidFill>
            <a:srgbClr val="FFFFFF"/>
          </a:solidFill>
          <a:ln w="12700">
            <a:solidFill>
              <a:srgbClr val="EDE1D9"/>
            </a:solidFill>
            <a:prstDash val="solid"/>
          </a:ln>
        </p:spPr>
      </p:sp>
      <p:sp>
        <p:nvSpPr>
          <p:cNvPr id="5" name="Text 3"/>
          <p:cNvSpPr txBox="1"/>
          <p:nvPr/>
        </p:nvSpPr>
        <p:spPr>
          <a:xfrm>
            <a:off x="777240" y="1828800"/>
            <a:ext cx="4975708" cy="274320"/>
          </a:xfrm>
          <a:prstGeom prst="rect">
            <a:avLst/>
          </a:prstGeom>
          <a:noFill/>
          <a:ln/>
        </p:spPr>
        <p:txBody>
          <a:bodyPr wrap="square" lIns="0" tIns="0" rIns="0" bIns="0" rtlCol="0" anchor="ctr"/>
          <a:lstStyle/>
          <a:p>
            <a:pPr indent="0" marL="0">
              <a:buNone/>
            </a:pPr>
            <a:r>
              <a:rPr lang="en-US" sz="1200" b="1" dirty="0">
                <a:solidFill>
                  <a:srgbClr val="A87C45"/>
                </a:solidFill>
                <a:latin typeface="DM Sans" pitchFamily="34" charset="0"/>
                <a:ea typeface="DM Sans" pitchFamily="34" charset="-122"/>
                <a:cs typeface="DM Sans" pitchFamily="34" charset="-120"/>
              </a:rPr>
              <a:t>5 · CRM</a:t>
            </a:r>
            <a:endParaRPr lang="en-US" sz="1200" dirty="0"/>
          </a:p>
        </p:txBody>
      </p:sp>
      <p:sp>
        <p:nvSpPr>
          <p:cNvPr id="6" name="Text 4"/>
          <p:cNvSpPr txBox="1"/>
          <p:nvPr/>
        </p:nvSpPr>
        <p:spPr>
          <a:xfrm>
            <a:off x="777240" y="2103120"/>
            <a:ext cx="4975708" cy="274320"/>
          </a:xfrm>
          <a:prstGeom prst="rect">
            <a:avLst/>
          </a:prstGeom>
          <a:noFill/>
          <a:ln/>
        </p:spPr>
        <p:txBody>
          <a:bodyPr wrap="square" lIns="0" tIns="0" rIns="0" bIns="0" rtlCol="0" anchor="ctr"/>
          <a:lstStyle/>
          <a:p>
            <a:pPr indent="0" marL="0">
              <a:buNone/>
            </a:pPr>
            <a:r>
              <a:rPr lang="en-US" sz="1150" dirty="0">
                <a:solidFill>
                  <a:srgbClr val="8A7A73"/>
                </a:solidFill>
                <a:latin typeface="DM Sans" pitchFamily="34" charset="0"/>
                <a:ea typeface="DM Sans" pitchFamily="34" charset="-122"/>
                <a:cs typeface="DM Sans" pitchFamily="34" charset="-120"/>
              </a:rPr>
              <a:t>Adrian Payne y Pennie Frow · 2005</a:t>
            </a:r>
            <a:endParaRPr lang="en-US" sz="1150" dirty="0"/>
          </a:p>
        </p:txBody>
      </p:sp>
      <p:sp>
        <p:nvSpPr>
          <p:cNvPr id="7" name="Text 5"/>
          <p:cNvSpPr txBox="1"/>
          <p:nvPr/>
        </p:nvSpPr>
        <p:spPr>
          <a:xfrm>
            <a:off x="777240" y="2404872"/>
            <a:ext cx="4975708" cy="502920"/>
          </a:xfrm>
          <a:prstGeom prst="rect">
            <a:avLst/>
          </a:prstGeom>
          <a:noFill/>
          <a:ln/>
        </p:spPr>
        <p:txBody>
          <a:bodyPr wrap="square" lIns="0" tIns="0" rIns="0" bIns="0" rtlCol="0" anchor="ctr"/>
          <a:lstStyle/>
          <a:p>
            <a:pPr indent="0" marL="0">
              <a:buNone/>
            </a:pPr>
            <a:r>
              <a:rPr lang="en-US" sz="1200" dirty="0">
                <a:solidFill>
                  <a:srgbClr val="4A4039"/>
                </a:solidFill>
                <a:latin typeface="DM Sans" pitchFamily="34" charset="0"/>
                <a:ea typeface="DM Sans" pitchFamily="34" charset="-122"/>
                <a:cs typeface="DM Sans" pitchFamily="34" charset="-120"/>
              </a:rPr>
              <a:t>Gestión estratégica de la relación con el cliente a lo largo del tiempo.</a:t>
            </a:r>
            <a:endParaRPr lang="en-US" sz="1200" dirty="0"/>
          </a:p>
        </p:txBody>
      </p:sp>
      <p:sp>
        <p:nvSpPr>
          <p:cNvPr id="8" name="Text 6"/>
          <p:cNvSpPr txBox="1"/>
          <p:nvPr/>
        </p:nvSpPr>
        <p:spPr>
          <a:xfrm>
            <a:off x="777240" y="2834640"/>
            <a:ext cx="4975708" cy="457200"/>
          </a:xfrm>
          <a:prstGeom prst="rect">
            <a:avLst/>
          </a:prstGeom>
          <a:noFill/>
          <a:ln/>
        </p:spPr>
        <p:txBody>
          <a:bodyPr wrap="square" lIns="0" tIns="0" rIns="0" bIns="0" rtlCol="0" anchor="ctr"/>
          <a:lstStyle/>
          <a:p>
            <a:pPr indent="0" marL="0">
              <a:buNone/>
            </a:pPr>
            <a:r>
              <a:rPr lang="en-US" sz="1200" b="1" dirty="0">
                <a:solidFill>
                  <a:srgbClr val="6B4A43"/>
                </a:solidFill>
                <a:latin typeface="DM Sans" pitchFamily="34" charset="0"/>
                <a:ea typeface="DM Sans" pitchFamily="34" charset="-122"/>
                <a:cs typeface="DM Sans" pitchFamily="34" charset="-120"/>
              </a:rPr>
              <a:t>Para BlendPure: </a:t>
            </a:r>
            <a:pPr indent="0" marL="0">
              <a:buNone/>
            </a:pPr>
            <a:r>
              <a:rPr lang="en-US" sz="1200" dirty="0">
                <a:solidFill>
                  <a:srgbClr val="6B4A43"/>
                </a:solidFill>
                <a:latin typeface="DM Sans" pitchFamily="34" charset="0"/>
                <a:ea typeface="DM Sans" pitchFamily="34" charset="-122"/>
                <a:cs typeface="DM Sans" pitchFamily="34" charset="-120"/>
              </a:rPr>
              <a:t>Centraliza datos de clientas, leads y seguimiento personalizado.</a:t>
            </a:r>
            <a:endParaRPr lang="en-US" sz="1200" dirty="0"/>
          </a:p>
        </p:txBody>
      </p:sp>
      <p:sp>
        <p:nvSpPr>
          <p:cNvPr id="9" name="Shape 7"/>
          <p:cNvSpPr/>
          <p:nvPr/>
        </p:nvSpPr>
        <p:spPr>
          <a:xfrm>
            <a:off x="6210148" y="1691640"/>
            <a:ext cx="5432908" cy="1691640"/>
          </a:xfrm>
          <a:prstGeom prst="roundRect">
            <a:avLst>
              <a:gd name="adj" fmla="val 5405"/>
            </a:avLst>
          </a:prstGeom>
          <a:solidFill>
            <a:srgbClr val="FFFFFF"/>
          </a:solidFill>
          <a:ln w="12700">
            <a:solidFill>
              <a:srgbClr val="EDE1D9"/>
            </a:solidFill>
            <a:prstDash val="solid"/>
          </a:ln>
        </p:spPr>
      </p:sp>
      <p:sp>
        <p:nvSpPr>
          <p:cNvPr id="10" name="Text 8"/>
          <p:cNvSpPr txBox="1"/>
          <p:nvPr/>
        </p:nvSpPr>
        <p:spPr>
          <a:xfrm>
            <a:off x="6438748" y="1828800"/>
            <a:ext cx="4975708" cy="274320"/>
          </a:xfrm>
          <a:prstGeom prst="rect">
            <a:avLst/>
          </a:prstGeom>
          <a:noFill/>
          <a:ln/>
        </p:spPr>
        <p:txBody>
          <a:bodyPr wrap="square" lIns="0" tIns="0" rIns="0" bIns="0" rtlCol="0" anchor="ctr"/>
          <a:lstStyle/>
          <a:p>
            <a:pPr indent="0" marL="0">
              <a:buNone/>
            </a:pPr>
            <a:r>
              <a:rPr lang="en-US" sz="1200" b="1" dirty="0">
                <a:solidFill>
                  <a:srgbClr val="A87C45"/>
                </a:solidFill>
                <a:latin typeface="DM Sans" pitchFamily="34" charset="0"/>
                <a:ea typeface="DM Sans" pitchFamily="34" charset="-122"/>
                <a:cs typeface="DM Sans" pitchFamily="34" charset="-120"/>
              </a:rPr>
              <a:t>6 · OMNICANALIDAD</a:t>
            </a:r>
            <a:endParaRPr lang="en-US" sz="1200" dirty="0"/>
          </a:p>
        </p:txBody>
      </p:sp>
      <p:sp>
        <p:nvSpPr>
          <p:cNvPr id="11" name="Text 9"/>
          <p:cNvSpPr txBox="1"/>
          <p:nvPr/>
        </p:nvSpPr>
        <p:spPr>
          <a:xfrm>
            <a:off x="6438748" y="2103120"/>
            <a:ext cx="4975708" cy="274320"/>
          </a:xfrm>
          <a:prstGeom prst="rect">
            <a:avLst/>
          </a:prstGeom>
          <a:noFill/>
          <a:ln/>
        </p:spPr>
        <p:txBody>
          <a:bodyPr wrap="square" lIns="0" tIns="0" rIns="0" bIns="0" rtlCol="0" anchor="ctr"/>
          <a:lstStyle/>
          <a:p>
            <a:pPr indent="0" marL="0">
              <a:buNone/>
            </a:pPr>
            <a:r>
              <a:rPr lang="en-US" sz="1150" dirty="0">
                <a:solidFill>
                  <a:srgbClr val="8A7A73"/>
                </a:solidFill>
                <a:latin typeface="DM Sans" pitchFamily="34" charset="0"/>
                <a:ea typeface="DM Sans" pitchFamily="34" charset="-122"/>
                <a:cs typeface="DM Sans" pitchFamily="34" charset="-120"/>
              </a:rPr>
              <a:t>Verhoef, Kannan e Inman · 2015</a:t>
            </a:r>
            <a:endParaRPr lang="en-US" sz="1150" dirty="0"/>
          </a:p>
        </p:txBody>
      </p:sp>
      <p:sp>
        <p:nvSpPr>
          <p:cNvPr id="12" name="Text 10"/>
          <p:cNvSpPr txBox="1"/>
          <p:nvPr/>
        </p:nvSpPr>
        <p:spPr>
          <a:xfrm>
            <a:off x="6438748" y="2404872"/>
            <a:ext cx="4975708" cy="502920"/>
          </a:xfrm>
          <a:prstGeom prst="rect">
            <a:avLst/>
          </a:prstGeom>
          <a:noFill/>
          <a:ln/>
        </p:spPr>
        <p:txBody>
          <a:bodyPr wrap="square" lIns="0" tIns="0" rIns="0" bIns="0" rtlCol="0" anchor="ctr"/>
          <a:lstStyle/>
          <a:p>
            <a:pPr indent="0" marL="0">
              <a:buNone/>
            </a:pPr>
            <a:r>
              <a:rPr lang="en-US" sz="1200" dirty="0">
                <a:solidFill>
                  <a:srgbClr val="4A4039"/>
                </a:solidFill>
                <a:latin typeface="DM Sans" pitchFamily="34" charset="0"/>
                <a:ea typeface="DM Sans" pitchFamily="34" charset="-122"/>
                <a:cs typeface="DM Sans" pitchFamily="34" charset="-120"/>
              </a:rPr>
              <a:t>Integrar canales para una experiencia continua, no fragmentada.</a:t>
            </a:r>
            <a:endParaRPr lang="en-US" sz="1200" dirty="0"/>
          </a:p>
        </p:txBody>
      </p:sp>
      <p:sp>
        <p:nvSpPr>
          <p:cNvPr id="13" name="Text 11"/>
          <p:cNvSpPr txBox="1"/>
          <p:nvPr/>
        </p:nvSpPr>
        <p:spPr>
          <a:xfrm>
            <a:off x="6438748" y="2834640"/>
            <a:ext cx="4975708" cy="457200"/>
          </a:xfrm>
          <a:prstGeom prst="rect">
            <a:avLst/>
          </a:prstGeom>
          <a:noFill/>
          <a:ln/>
        </p:spPr>
        <p:txBody>
          <a:bodyPr wrap="square" lIns="0" tIns="0" rIns="0" bIns="0" rtlCol="0" anchor="ctr"/>
          <a:lstStyle/>
          <a:p>
            <a:pPr indent="0" marL="0">
              <a:buNone/>
            </a:pPr>
            <a:r>
              <a:rPr lang="en-US" sz="1200" b="1" dirty="0">
                <a:solidFill>
                  <a:srgbClr val="6B4A43"/>
                </a:solidFill>
                <a:latin typeface="DM Sans" pitchFamily="34" charset="0"/>
                <a:ea typeface="DM Sans" pitchFamily="34" charset="-122"/>
                <a:cs typeface="DM Sans" pitchFamily="34" charset="-120"/>
              </a:rPr>
              <a:t>Para BlendPure: </a:t>
            </a:r>
            <a:pPr indent="0" marL="0">
              <a:buNone/>
            </a:pPr>
            <a:r>
              <a:rPr lang="en-US" sz="1200" dirty="0">
                <a:solidFill>
                  <a:srgbClr val="6B4A43"/>
                </a:solidFill>
                <a:latin typeface="DM Sans" pitchFamily="34" charset="0"/>
                <a:ea typeface="DM Sans" pitchFamily="34" charset="-122"/>
                <a:cs typeface="DM Sans" pitchFamily="34" charset="-120"/>
              </a:rPr>
              <a:t>Conecta Instagram, TikTok, WhatsApp, correo y tienda online.</a:t>
            </a:r>
            <a:endParaRPr lang="en-US" sz="1200" dirty="0"/>
          </a:p>
        </p:txBody>
      </p:sp>
      <p:sp>
        <p:nvSpPr>
          <p:cNvPr id="14" name="Shape 12"/>
          <p:cNvSpPr/>
          <p:nvPr/>
        </p:nvSpPr>
        <p:spPr>
          <a:xfrm>
            <a:off x="548640" y="3611880"/>
            <a:ext cx="5432908" cy="1691640"/>
          </a:xfrm>
          <a:prstGeom prst="roundRect">
            <a:avLst>
              <a:gd name="adj" fmla="val 5405"/>
            </a:avLst>
          </a:prstGeom>
          <a:solidFill>
            <a:srgbClr val="FFFFFF"/>
          </a:solidFill>
          <a:ln w="12700">
            <a:solidFill>
              <a:srgbClr val="EDE1D9"/>
            </a:solidFill>
            <a:prstDash val="solid"/>
          </a:ln>
        </p:spPr>
      </p:sp>
      <p:sp>
        <p:nvSpPr>
          <p:cNvPr id="15" name="Text 13"/>
          <p:cNvSpPr txBox="1"/>
          <p:nvPr/>
        </p:nvSpPr>
        <p:spPr>
          <a:xfrm>
            <a:off x="777240" y="3749040"/>
            <a:ext cx="4975708" cy="274320"/>
          </a:xfrm>
          <a:prstGeom prst="rect">
            <a:avLst/>
          </a:prstGeom>
          <a:noFill/>
          <a:ln/>
        </p:spPr>
        <p:txBody>
          <a:bodyPr wrap="square" lIns="0" tIns="0" rIns="0" bIns="0" rtlCol="0" anchor="ctr"/>
          <a:lstStyle/>
          <a:p>
            <a:pPr indent="0" marL="0">
              <a:buNone/>
            </a:pPr>
            <a:r>
              <a:rPr lang="en-US" sz="1200" b="1" dirty="0">
                <a:solidFill>
                  <a:srgbClr val="A87C45"/>
                </a:solidFill>
                <a:latin typeface="DM Sans" pitchFamily="34" charset="0"/>
                <a:ea typeface="DM Sans" pitchFamily="34" charset="-122"/>
                <a:cs typeface="DM Sans" pitchFamily="34" charset="-120"/>
              </a:rPr>
              <a:t>7 · CUSTOMER JOURNEY</a:t>
            </a:r>
            <a:endParaRPr lang="en-US" sz="1200" dirty="0"/>
          </a:p>
        </p:txBody>
      </p:sp>
      <p:sp>
        <p:nvSpPr>
          <p:cNvPr id="16" name="Text 14"/>
          <p:cNvSpPr txBox="1"/>
          <p:nvPr/>
        </p:nvSpPr>
        <p:spPr>
          <a:xfrm>
            <a:off x="777240" y="4023360"/>
            <a:ext cx="4975708" cy="274320"/>
          </a:xfrm>
          <a:prstGeom prst="rect">
            <a:avLst/>
          </a:prstGeom>
          <a:noFill/>
          <a:ln/>
        </p:spPr>
        <p:txBody>
          <a:bodyPr wrap="square" lIns="0" tIns="0" rIns="0" bIns="0" rtlCol="0" anchor="ctr"/>
          <a:lstStyle/>
          <a:p>
            <a:pPr indent="0" marL="0">
              <a:buNone/>
            </a:pPr>
            <a:r>
              <a:rPr lang="en-US" sz="1150" dirty="0">
                <a:solidFill>
                  <a:srgbClr val="8A7A73"/>
                </a:solidFill>
                <a:latin typeface="DM Sans" pitchFamily="34" charset="0"/>
                <a:ea typeface="DM Sans" pitchFamily="34" charset="-122"/>
                <a:cs typeface="DM Sans" pitchFamily="34" charset="-120"/>
              </a:rPr>
              <a:t>Katherine Lemon y Peter Verhoef · 2016</a:t>
            </a:r>
            <a:endParaRPr lang="en-US" sz="1150" dirty="0"/>
          </a:p>
        </p:txBody>
      </p:sp>
      <p:sp>
        <p:nvSpPr>
          <p:cNvPr id="17" name="Text 15"/>
          <p:cNvSpPr txBox="1"/>
          <p:nvPr/>
        </p:nvSpPr>
        <p:spPr>
          <a:xfrm>
            <a:off x="777240" y="4325112"/>
            <a:ext cx="4975708" cy="502920"/>
          </a:xfrm>
          <a:prstGeom prst="rect">
            <a:avLst/>
          </a:prstGeom>
          <a:noFill/>
          <a:ln/>
        </p:spPr>
        <p:txBody>
          <a:bodyPr wrap="square" lIns="0" tIns="0" rIns="0" bIns="0" rtlCol="0" anchor="ctr"/>
          <a:lstStyle/>
          <a:p>
            <a:pPr indent="0" marL="0">
              <a:buNone/>
            </a:pPr>
            <a:r>
              <a:rPr lang="en-US" sz="1200" dirty="0">
                <a:solidFill>
                  <a:srgbClr val="4A4039"/>
                </a:solidFill>
                <a:latin typeface="DM Sans" pitchFamily="34" charset="0"/>
                <a:ea typeface="DM Sans" pitchFamily="34" charset="-122"/>
                <a:cs typeface="DM Sans" pitchFamily="34" charset="-120"/>
              </a:rPr>
              <a:t>La experiencia completa antes, durante y después de la compra.</a:t>
            </a:r>
            <a:endParaRPr lang="en-US" sz="1200" dirty="0"/>
          </a:p>
        </p:txBody>
      </p:sp>
      <p:sp>
        <p:nvSpPr>
          <p:cNvPr id="18" name="Text 16"/>
          <p:cNvSpPr txBox="1"/>
          <p:nvPr/>
        </p:nvSpPr>
        <p:spPr>
          <a:xfrm>
            <a:off x="777240" y="4754880"/>
            <a:ext cx="4975708" cy="457200"/>
          </a:xfrm>
          <a:prstGeom prst="rect">
            <a:avLst/>
          </a:prstGeom>
          <a:noFill/>
          <a:ln/>
        </p:spPr>
        <p:txBody>
          <a:bodyPr wrap="square" lIns="0" tIns="0" rIns="0" bIns="0" rtlCol="0" anchor="ctr"/>
          <a:lstStyle/>
          <a:p>
            <a:pPr indent="0" marL="0">
              <a:buNone/>
            </a:pPr>
            <a:r>
              <a:rPr lang="en-US" sz="1200" b="1" dirty="0">
                <a:solidFill>
                  <a:srgbClr val="6B4A43"/>
                </a:solidFill>
                <a:latin typeface="DM Sans" pitchFamily="34" charset="0"/>
                <a:ea typeface="DM Sans" pitchFamily="34" charset="-122"/>
                <a:cs typeface="DM Sans" pitchFamily="34" charset="-120"/>
              </a:rPr>
              <a:t>Para BlendPure: </a:t>
            </a:r>
            <a:pPr indent="0" marL="0">
              <a:buNone/>
            </a:pPr>
            <a:r>
              <a:rPr lang="en-US" sz="1200" dirty="0">
                <a:solidFill>
                  <a:srgbClr val="6B4A43"/>
                </a:solidFill>
                <a:latin typeface="DM Sans" pitchFamily="34" charset="0"/>
                <a:ea typeface="DM Sans" pitchFamily="34" charset="-122"/>
                <a:cs typeface="DM Sans" pitchFamily="34" charset="-120"/>
              </a:rPr>
              <a:t>Acompaña a la clienta en cada etapa de su recorrido.</a:t>
            </a:r>
            <a:endParaRPr lang="en-US" sz="1200" dirty="0"/>
          </a:p>
        </p:txBody>
      </p:sp>
      <p:sp>
        <p:nvSpPr>
          <p:cNvPr id="19" name="Shape 17"/>
          <p:cNvSpPr/>
          <p:nvPr/>
        </p:nvSpPr>
        <p:spPr>
          <a:xfrm>
            <a:off x="6210148" y="3611880"/>
            <a:ext cx="5432908" cy="1691640"/>
          </a:xfrm>
          <a:prstGeom prst="roundRect">
            <a:avLst>
              <a:gd name="adj" fmla="val 5405"/>
            </a:avLst>
          </a:prstGeom>
          <a:solidFill>
            <a:srgbClr val="241F1D"/>
          </a:solidFill>
          <a:ln/>
        </p:spPr>
      </p:sp>
      <p:sp>
        <p:nvSpPr>
          <p:cNvPr id="20" name="Text 18"/>
          <p:cNvSpPr txBox="1"/>
          <p:nvPr/>
        </p:nvSpPr>
        <p:spPr>
          <a:xfrm>
            <a:off x="6438748" y="3749040"/>
            <a:ext cx="4975708" cy="274320"/>
          </a:xfrm>
          <a:prstGeom prst="rect">
            <a:avLst/>
          </a:prstGeom>
          <a:noFill/>
          <a:ln/>
        </p:spPr>
        <p:txBody>
          <a:bodyPr wrap="square" lIns="0" tIns="0" rIns="0" bIns="0" rtlCol="0" anchor="ctr"/>
          <a:lstStyle/>
          <a:p>
            <a:pPr indent="0" marL="0">
              <a:buNone/>
            </a:pPr>
            <a:r>
              <a:rPr lang="en-US" sz="1200" b="1" dirty="0">
                <a:solidFill>
                  <a:srgbClr val="D98C86"/>
                </a:solidFill>
                <a:latin typeface="DM Sans" pitchFamily="34" charset="0"/>
                <a:ea typeface="DM Sans" pitchFamily="34" charset="-122"/>
                <a:cs typeface="DM Sans" pitchFamily="34" charset="-120"/>
              </a:rPr>
              <a:t>8 · CUSTOMER LIFETIME VALUE</a:t>
            </a:r>
            <a:endParaRPr lang="en-US" sz="1200" dirty="0"/>
          </a:p>
        </p:txBody>
      </p:sp>
      <p:sp>
        <p:nvSpPr>
          <p:cNvPr id="21" name="Text 19"/>
          <p:cNvSpPr txBox="1"/>
          <p:nvPr/>
        </p:nvSpPr>
        <p:spPr>
          <a:xfrm>
            <a:off x="6438748" y="4023360"/>
            <a:ext cx="4975708" cy="274320"/>
          </a:xfrm>
          <a:prstGeom prst="rect">
            <a:avLst/>
          </a:prstGeom>
          <a:noFill/>
          <a:ln/>
        </p:spPr>
        <p:txBody>
          <a:bodyPr wrap="square" lIns="0" tIns="0" rIns="0" bIns="0" rtlCol="0" anchor="ctr"/>
          <a:lstStyle/>
          <a:p>
            <a:pPr indent="0" marL="0">
              <a:buNone/>
            </a:pPr>
            <a:r>
              <a:rPr lang="en-US" sz="1150" dirty="0">
                <a:solidFill>
                  <a:srgbClr val="C9B8B2"/>
                </a:solidFill>
                <a:latin typeface="DM Sans" pitchFamily="34" charset="0"/>
                <a:ea typeface="DM Sans" pitchFamily="34" charset="-122"/>
                <a:cs typeface="DM Sans" pitchFamily="34" charset="-120"/>
              </a:rPr>
              <a:t>Sunil Gupta y Donald Lehmann · 2003</a:t>
            </a:r>
            <a:endParaRPr lang="en-US" sz="1150" dirty="0"/>
          </a:p>
        </p:txBody>
      </p:sp>
      <p:sp>
        <p:nvSpPr>
          <p:cNvPr id="22" name="Text 20"/>
          <p:cNvSpPr txBox="1"/>
          <p:nvPr/>
        </p:nvSpPr>
        <p:spPr>
          <a:xfrm>
            <a:off x="6438748" y="4325112"/>
            <a:ext cx="4975708" cy="502920"/>
          </a:xfrm>
          <a:prstGeom prst="rect">
            <a:avLst/>
          </a:prstGeom>
          <a:noFill/>
          <a:ln/>
        </p:spPr>
        <p:txBody>
          <a:bodyPr wrap="square" lIns="0" tIns="0" rIns="0" bIns="0" rtlCol="0" anchor="ctr"/>
          <a:lstStyle/>
          <a:p>
            <a:pPr indent="0" marL="0">
              <a:buNone/>
            </a:pPr>
            <a:r>
              <a:rPr lang="en-US" sz="1200" dirty="0">
                <a:solidFill>
                  <a:srgbClr val="E6D4CC"/>
                </a:solidFill>
                <a:latin typeface="DM Sans" pitchFamily="34" charset="0"/>
                <a:ea typeface="DM Sans" pitchFamily="34" charset="-122"/>
                <a:cs typeface="DM Sans" pitchFamily="34" charset="-120"/>
              </a:rPr>
              <a:t>El valor total que un cliente genera durante toda su relación con la marca.</a:t>
            </a:r>
            <a:endParaRPr lang="en-US" sz="1200" dirty="0"/>
          </a:p>
        </p:txBody>
      </p:sp>
      <p:sp>
        <p:nvSpPr>
          <p:cNvPr id="23" name="Text 21"/>
          <p:cNvSpPr txBox="1"/>
          <p:nvPr/>
        </p:nvSpPr>
        <p:spPr>
          <a:xfrm>
            <a:off x="6438748" y="4754880"/>
            <a:ext cx="4975708" cy="457200"/>
          </a:xfrm>
          <a:prstGeom prst="rect">
            <a:avLst/>
          </a:prstGeom>
          <a:noFill/>
          <a:ln/>
        </p:spPr>
        <p:txBody>
          <a:bodyPr wrap="square" lIns="0" tIns="0" rIns="0" bIns="0" rtlCol="0" anchor="ctr"/>
          <a:lstStyle/>
          <a:p>
            <a:pPr indent="0" marL="0">
              <a:buNone/>
            </a:pPr>
            <a:r>
              <a:rPr lang="en-US" sz="1200" b="1" dirty="0">
                <a:solidFill>
                  <a:srgbClr val="F5E9E2"/>
                </a:solidFill>
                <a:latin typeface="DM Sans" pitchFamily="34" charset="0"/>
                <a:ea typeface="DM Sans" pitchFamily="34" charset="-122"/>
                <a:cs typeface="DM Sans" pitchFamily="34" charset="-120"/>
              </a:rPr>
              <a:t>Para BlendPure: </a:t>
            </a:r>
            <a:pPr indent="0" marL="0">
              <a:buNone/>
            </a:pPr>
            <a:r>
              <a:rPr lang="en-US" sz="1200" dirty="0">
                <a:solidFill>
                  <a:srgbClr val="F5E9E2"/>
                </a:solidFill>
                <a:latin typeface="DM Sans" pitchFamily="34" charset="0"/>
                <a:ea typeface="DM Sans" pitchFamily="34" charset="-122"/>
                <a:cs typeface="DM Sans" pitchFamily="34" charset="-120"/>
              </a:rPr>
              <a:t>Justifica el BlendPure Refill Club y la recompra de cápsulas.</a:t>
            </a:r>
            <a:endParaRPr lang="en-US" sz="1200" dirty="0"/>
          </a:p>
        </p:txBody>
      </p:sp>
      <p:sp>
        <p:nvSpPr>
          <p:cNvPr id="24" name="Text 22"/>
          <p:cNvSpPr txBox="1"/>
          <p:nvPr/>
        </p:nvSpPr>
        <p:spPr>
          <a:xfrm>
            <a:off x="548640" y="6355080"/>
            <a:ext cx="11094415" cy="365760"/>
          </a:xfrm>
          <a:prstGeom prst="rect">
            <a:avLst/>
          </a:prstGeom>
          <a:noFill/>
          <a:ln/>
        </p:spPr>
        <p:txBody>
          <a:bodyPr wrap="square" lIns="0" tIns="0" rIns="0" bIns="0" rtlCol="0" anchor="ctr"/>
          <a:lstStyle/>
          <a:p>
            <a:pPr indent="0" marL="0">
              <a:buNone/>
            </a:pPr>
            <a:r>
              <a:rPr lang="en-US" sz="1100" dirty="0">
                <a:solidFill>
                  <a:srgbClr val="8A7A73"/>
                </a:solidFill>
                <a:latin typeface="DM Sans" pitchFamily="34" charset="0"/>
                <a:ea typeface="DM Sans" pitchFamily="34" charset="-122"/>
                <a:cs typeface="DM Sans" pitchFamily="34" charset="-120"/>
              </a:rPr>
              <a:t>8 de 8 conceptos · bibliografía completa en el documento del proyecto.</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BF5F1"/>
        </a:solidFill>
      </p:bgPr>
    </p:bg>
    <p:spTree>
      <p:nvGrpSpPr>
        <p:cNvPr id="1" name=""/>
        <p:cNvGrpSpPr/>
        <p:nvPr/>
      </p:nvGrpSpPr>
      <p:grpSpPr>
        <a:xfrm>
          <a:off x="0" y="0"/>
          <a:ext cx="0" cy="0"/>
          <a:chOff x="0" y="0"/>
          <a:chExt cx="0" cy="0"/>
        </a:xfrm>
      </p:grpSpPr>
      <p:sp>
        <p:nvSpPr>
          <p:cNvPr id="2" name="Text 0"/>
          <p:cNvSpPr txBox="1"/>
          <p:nvPr/>
        </p:nvSpPr>
        <p:spPr>
          <a:xfrm>
            <a:off x="548640" y="502920"/>
            <a:ext cx="11094415" cy="320040"/>
          </a:xfrm>
          <a:prstGeom prst="rect">
            <a:avLst/>
          </a:prstGeom>
          <a:noFill/>
          <a:ln/>
        </p:spPr>
        <p:txBody>
          <a:bodyPr wrap="square" lIns="0" tIns="0" rIns="0" bIns="0" rtlCol="0" anchor="ctr"/>
          <a:lstStyle/>
          <a:p>
            <a:pPr indent="0" marL="0">
              <a:buNone/>
            </a:pPr>
            <a:r>
              <a:rPr lang="en-US" sz="1300" b="1" spc="200" kern="0" dirty="0">
                <a:solidFill>
                  <a:srgbClr val="A87C45"/>
                </a:solidFill>
                <a:latin typeface="DM Sans" pitchFamily="34" charset="0"/>
                <a:ea typeface="DM Sans" pitchFamily="34" charset="-122"/>
                <a:cs typeface="DM Sans" pitchFamily="34" charset="-120"/>
              </a:rPr>
              <a:t>MARCO TEÓRICO APLICADO</a:t>
            </a:r>
            <a:endParaRPr lang="en-US" sz="1300" dirty="0"/>
          </a:p>
        </p:txBody>
      </p:sp>
      <p:sp>
        <p:nvSpPr>
          <p:cNvPr id="3" name="Text 1"/>
          <p:cNvSpPr txBox="1"/>
          <p:nvPr/>
        </p:nvSpPr>
        <p:spPr>
          <a:xfrm>
            <a:off x="548640" y="822960"/>
            <a:ext cx="11094415" cy="822960"/>
          </a:xfrm>
          <a:prstGeom prst="rect">
            <a:avLst/>
          </a:prstGeom>
          <a:noFill/>
          <a:ln/>
        </p:spPr>
        <p:txBody>
          <a:bodyPr wrap="square" lIns="0" tIns="0" rIns="0" bIns="0" rtlCol="0" anchor="ctr"/>
          <a:lstStyle/>
          <a:p>
            <a:pPr algn="l" indent="0" marL="0">
              <a:buNone/>
            </a:pPr>
            <a:r>
              <a:rPr lang="en-US" sz="3200" b="1" dirty="0">
                <a:solidFill>
                  <a:srgbClr val="241F1D"/>
                </a:solidFill>
                <a:latin typeface="Cormorant Garamond" pitchFamily="34" charset="0"/>
                <a:ea typeface="Cormorant Garamond" pitchFamily="34" charset="-122"/>
                <a:cs typeface="Cormorant Garamond" pitchFamily="34" charset="-120"/>
              </a:rPr>
              <a:t>De la teoría a BlendPure</a:t>
            </a:r>
            <a:endParaRPr lang="en-US" sz="32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94415" cy="4572000"/>
        </p:xfrm>
        <a:graphic>
          <a:graphicData uri="http://schemas.openxmlformats.org/drawingml/2006/table">
            <a:tbl>
              <a:tblPr/>
              <a:tblGrid>
                <a:gridCol w="4206240"/>
                <a:gridCol w="6885432"/>
              </a:tblGrid>
              <a:tr h="508000">
                <a:tc>
                  <a:txBody>
                    <a:bodyPr/>
                    <a:lstStyle/>
                    <a:p>
                      <a:pPr algn="l" indent="0" marL="0">
                        <a:buNone/>
                      </a:pPr>
                      <a:r>
                        <a:rPr lang="en-US" sz="1300" b="1" dirty="0">
                          <a:solidFill>
                            <a:srgbClr val="F5E9E2"/>
                          </a:solidFill>
                          <a:latin typeface="DM Sans" pitchFamily="34" charset="0"/>
                          <a:ea typeface="DM Sans" pitchFamily="34" charset="-122"/>
                          <a:cs typeface="DM Sans" pitchFamily="34" charset="-120"/>
                        </a:rPr>
                        <a:t>Teoría</a:t>
                      </a:r>
                      <a:endParaRPr lang="en-US" sz="1300" dirty="0">
                        <a:latin typeface="DM Sans" charset="0"/>
                        <a:ea typeface="DM Sans" charset="0"/>
                        <a:cs typeface="DM Sans"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41F1D"/>
                    </a:solidFill>
                  </a:tcPr>
                </a:tc>
                <a:tc>
                  <a:txBody>
                    <a:bodyPr/>
                    <a:lstStyle/>
                    <a:p>
                      <a:pPr algn="l" indent="0" marL="0">
                        <a:buNone/>
                      </a:pPr>
                      <a:r>
                        <a:rPr lang="en-US" sz="1300" b="1" dirty="0">
                          <a:solidFill>
                            <a:srgbClr val="F5E9E2"/>
                          </a:solidFill>
                          <a:latin typeface="DM Sans" pitchFamily="34" charset="0"/>
                          <a:ea typeface="DM Sans" pitchFamily="34" charset="-122"/>
                          <a:cs typeface="DM Sans" pitchFamily="34" charset="-120"/>
                        </a:rPr>
                        <a:t>Decisión concreta en BlendPure</a:t>
                      </a:r>
                      <a:endParaRPr lang="en-US" sz="1300" dirty="0">
                        <a:latin typeface="DM Sans" charset="0"/>
                        <a:ea typeface="DM Sans" charset="0"/>
                        <a:cs typeface="DM Sans"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41F1D"/>
                    </a:solidFill>
                  </a:tcPr>
                </a:tc>
              </a:tr>
              <a:tr h="508000">
                <a:tc>
                  <a:txBody>
                    <a:bodyPr/>
                    <a:lstStyle/>
                    <a:p>
                      <a:pPr algn="l" indent="0" marL="0">
                        <a:buNone/>
                      </a:pPr>
                      <a:r>
                        <a:rPr lang="en-US" sz="1300" b="1" dirty="0">
                          <a:solidFill>
                            <a:srgbClr val="2B2420"/>
                          </a:solidFill>
                          <a:latin typeface="DM Sans" pitchFamily="34" charset="0"/>
                          <a:ea typeface="DM Sans" pitchFamily="34" charset="-122"/>
                          <a:cs typeface="DM Sans" pitchFamily="34" charset="-120"/>
                        </a:rPr>
                        <a:t>Difusión de innovaciones (Rogers)</a:t>
                      </a:r>
                      <a:endParaRPr lang="en-US" sz="1300" dirty="0">
                        <a:latin typeface="DM Sans" charset="0"/>
                        <a:ea typeface="DM Sans" charset="0"/>
                        <a:cs typeface="DM Sans"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300" dirty="0">
                          <a:solidFill>
                            <a:srgbClr val="5B5250"/>
                          </a:solidFill>
                          <a:latin typeface="DM Sans" pitchFamily="34" charset="0"/>
                          <a:ea typeface="DM Sans" pitchFamily="34" charset="-122"/>
                          <a:cs typeface="DM Sans" pitchFamily="34" charset="-120"/>
                        </a:rPr>
                        <a:t>Empezar con beauty creators como adoptantes tempranos</a:t>
                      </a:r>
                      <a:endParaRPr lang="en-US" sz="1300" dirty="0">
                        <a:latin typeface="DM Sans" charset="0"/>
                        <a:ea typeface="DM Sans" charset="0"/>
                        <a:cs typeface="DM Sans"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r>
              <a:tr h="508000">
                <a:tc>
                  <a:txBody>
                    <a:bodyPr/>
                    <a:lstStyle/>
                    <a:p>
                      <a:pPr algn="l" indent="0" marL="0">
                        <a:buNone/>
                      </a:pPr>
                      <a:r>
                        <a:rPr lang="en-US" sz="1300" b="1" dirty="0">
                          <a:solidFill>
                            <a:srgbClr val="2B2420"/>
                          </a:solidFill>
                          <a:latin typeface="DM Sans" pitchFamily="34" charset="0"/>
                          <a:ea typeface="DM Sans" pitchFamily="34" charset="-122"/>
                          <a:cs typeface="DM Sans" pitchFamily="34" charset="-120"/>
                        </a:rPr>
                        <a:t>Acción planificada (Ajzen)</a:t>
                      </a:r>
                      <a:endParaRPr lang="en-US" sz="1300" dirty="0">
                        <a:latin typeface="DM Sans" charset="0"/>
                        <a:ea typeface="DM Sans" charset="0"/>
                        <a:cs typeface="DM Sans"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7EFEA"/>
                    </a:solidFill>
                  </a:tcPr>
                </a:tc>
                <a:tc>
                  <a:txBody>
                    <a:bodyPr/>
                    <a:lstStyle/>
                    <a:p>
                      <a:pPr algn="l" indent="0" marL="0">
                        <a:buNone/>
                      </a:pPr>
                      <a:r>
                        <a:rPr lang="en-US" sz="1300" dirty="0">
                          <a:solidFill>
                            <a:srgbClr val="5B5250"/>
                          </a:solidFill>
                          <a:latin typeface="DM Sans" pitchFamily="34" charset="0"/>
                          <a:ea typeface="DM Sans" pitchFamily="34" charset="-122"/>
                          <a:cs typeface="DM Sans" pitchFamily="34" charset="-120"/>
                        </a:rPr>
                        <a:t>Reducir la fricción del proceso de limpieza</a:t>
                      </a:r>
                      <a:endParaRPr lang="en-US" sz="1300" dirty="0">
                        <a:latin typeface="DM Sans" charset="0"/>
                        <a:ea typeface="DM Sans" charset="0"/>
                        <a:cs typeface="DM Sans"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7EFEA"/>
                    </a:solidFill>
                  </a:tcPr>
                </a:tc>
              </a:tr>
              <a:tr h="508000">
                <a:tc>
                  <a:txBody>
                    <a:bodyPr/>
                    <a:lstStyle/>
                    <a:p>
                      <a:pPr algn="l" indent="0" marL="0">
                        <a:buNone/>
                      </a:pPr>
                      <a:r>
                        <a:rPr lang="en-US" sz="1300" b="1" dirty="0">
                          <a:solidFill>
                            <a:srgbClr val="2B2420"/>
                          </a:solidFill>
                          <a:latin typeface="DM Sans" pitchFamily="34" charset="0"/>
                          <a:ea typeface="DM Sans" pitchFamily="34" charset="-122"/>
                          <a:cs typeface="DM Sans" pitchFamily="34" charset="-120"/>
                        </a:rPr>
                        <a:t>STP (Kotler y Armstrong)</a:t>
                      </a:r>
                      <a:endParaRPr lang="en-US" sz="1300" dirty="0">
                        <a:latin typeface="DM Sans" charset="0"/>
                        <a:ea typeface="DM Sans" charset="0"/>
                        <a:cs typeface="DM Sans"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300" dirty="0">
                          <a:solidFill>
                            <a:srgbClr val="5B5250"/>
                          </a:solidFill>
                          <a:latin typeface="DM Sans" pitchFamily="34" charset="0"/>
                          <a:ea typeface="DM Sans" pitchFamily="34" charset="-122"/>
                          <a:cs typeface="DM Sans" pitchFamily="34" charset="-120"/>
                        </a:rPr>
                        <a:t>Enfocar en mujeres de 18–35 años en Bogotá</a:t>
                      </a:r>
                      <a:endParaRPr lang="en-US" sz="1300" dirty="0">
                        <a:latin typeface="DM Sans" charset="0"/>
                        <a:ea typeface="DM Sans" charset="0"/>
                        <a:cs typeface="DM Sans"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r>
              <a:tr h="508000">
                <a:tc>
                  <a:txBody>
                    <a:bodyPr/>
                    <a:lstStyle/>
                    <a:p>
                      <a:pPr algn="l" indent="0" marL="0">
                        <a:buNone/>
                      </a:pPr>
                      <a:r>
                        <a:rPr lang="en-US" sz="1300" b="1" dirty="0">
                          <a:solidFill>
                            <a:srgbClr val="2B2420"/>
                          </a:solidFill>
                          <a:latin typeface="DM Sans" pitchFamily="34" charset="0"/>
                          <a:ea typeface="DM Sans" pitchFamily="34" charset="-122"/>
                          <a:cs typeface="DM Sans" pitchFamily="34" charset="-120"/>
                        </a:rPr>
                        <a:t>Value Proposition Canvas</a:t>
                      </a:r>
                      <a:endParaRPr lang="en-US" sz="1300" dirty="0">
                        <a:latin typeface="DM Sans" charset="0"/>
                        <a:ea typeface="DM Sans" charset="0"/>
                        <a:cs typeface="DM Sans"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7EFEA"/>
                    </a:solidFill>
                  </a:tcPr>
                </a:tc>
                <a:tc>
                  <a:txBody>
                    <a:bodyPr/>
                    <a:lstStyle/>
                    <a:p>
                      <a:pPr algn="l" indent="0" marL="0">
                        <a:buNone/>
                      </a:pPr>
                      <a:r>
                        <a:rPr lang="en-US" sz="1300" dirty="0">
                          <a:solidFill>
                            <a:srgbClr val="5B5250"/>
                          </a:solidFill>
                          <a:latin typeface="DM Sans" pitchFamily="34" charset="0"/>
                          <a:ea typeface="DM Sans" pitchFamily="34" charset="-122"/>
                          <a:cs typeface="DM Sans" pitchFamily="34" charset="-120"/>
                        </a:rPr>
                        <a:t>Vender ahorro de tiempo, no solo limpieza</a:t>
                      </a:r>
                      <a:endParaRPr lang="en-US" sz="1300" dirty="0">
                        <a:latin typeface="DM Sans" charset="0"/>
                        <a:ea typeface="DM Sans" charset="0"/>
                        <a:cs typeface="DM Sans"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7EFEA"/>
                    </a:solidFill>
                  </a:tcPr>
                </a:tc>
              </a:tr>
              <a:tr h="508000">
                <a:tc>
                  <a:txBody>
                    <a:bodyPr/>
                    <a:lstStyle/>
                    <a:p>
                      <a:pPr algn="l" indent="0" marL="0">
                        <a:buNone/>
                      </a:pPr>
                      <a:r>
                        <a:rPr lang="en-US" sz="1300" b="1" dirty="0">
                          <a:solidFill>
                            <a:srgbClr val="2B2420"/>
                          </a:solidFill>
                          <a:latin typeface="DM Sans" pitchFamily="34" charset="0"/>
                          <a:ea typeface="DM Sans" pitchFamily="34" charset="-122"/>
                          <a:cs typeface="DM Sans" pitchFamily="34" charset="-120"/>
                        </a:rPr>
                        <a:t>CRM (Payne y Frow)</a:t>
                      </a:r>
                      <a:endParaRPr lang="en-US" sz="1300" dirty="0">
                        <a:latin typeface="DM Sans" charset="0"/>
                        <a:ea typeface="DM Sans" charset="0"/>
                        <a:cs typeface="DM Sans"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300" dirty="0">
                          <a:solidFill>
                            <a:srgbClr val="5B5250"/>
                          </a:solidFill>
                          <a:latin typeface="DM Sans" pitchFamily="34" charset="0"/>
                          <a:ea typeface="DM Sans" pitchFamily="34" charset="-122"/>
                          <a:cs typeface="DM Sans" pitchFamily="34" charset="-120"/>
                        </a:rPr>
                        <a:t>Seguimiento personalizado de cada clienta</a:t>
                      </a:r>
                      <a:endParaRPr lang="en-US" sz="1300" dirty="0">
                        <a:latin typeface="DM Sans" charset="0"/>
                        <a:ea typeface="DM Sans" charset="0"/>
                        <a:cs typeface="DM Sans"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r>
              <a:tr h="508000">
                <a:tc>
                  <a:txBody>
                    <a:bodyPr/>
                    <a:lstStyle/>
                    <a:p>
                      <a:pPr algn="l" indent="0" marL="0">
                        <a:buNone/>
                      </a:pPr>
                      <a:r>
                        <a:rPr lang="en-US" sz="1300" b="1" dirty="0">
                          <a:solidFill>
                            <a:srgbClr val="2B2420"/>
                          </a:solidFill>
                          <a:latin typeface="DM Sans" pitchFamily="34" charset="0"/>
                          <a:ea typeface="DM Sans" pitchFamily="34" charset="-122"/>
                          <a:cs typeface="DM Sans" pitchFamily="34" charset="-120"/>
                        </a:rPr>
                        <a:t>Omnicanalidad</a:t>
                      </a:r>
                      <a:endParaRPr lang="en-US" sz="1300" dirty="0">
                        <a:latin typeface="DM Sans" charset="0"/>
                        <a:ea typeface="DM Sans" charset="0"/>
                        <a:cs typeface="DM Sans"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7EFEA"/>
                    </a:solidFill>
                  </a:tcPr>
                </a:tc>
                <a:tc>
                  <a:txBody>
                    <a:bodyPr/>
                    <a:lstStyle/>
                    <a:p>
                      <a:pPr algn="l" indent="0" marL="0">
                        <a:buNone/>
                      </a:pPr>
                      <a:r>
                        <a:rPr lang="en-US" sz="1300" dirty="0">
                          <a:solidFill>
                            <a:srgbClr val="5B5250"/>
                          </a:solidFill>
                          <a:latin typeface="DM Sans" pitchFamily="34" charset="0"/>
                          <a:ea typeface="DM Sans" pitchFamily="34" charset="-122"/>
                          <a:cs typeface="DM Sans" pitchFamily="34" charset="-120"/>
                        </a:rPr>
                        <a:t>Instagram + TikTok + WhatsApp + tienda web</a:t>
                      </a:r>
                      <a:endParaRPr lang="en-US" sz="1300" dirty="0">
                        <a:latin typeface="DM Sans" charset="0"/>
                        <a:ea typeface="DM Sans" charset="0"/>
                        <a:cs typeface="DM Sans"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7EFEA"/>
                    </a:solidFill>
                  </a:tcPr>
                </a:tc>
              </a:tr>
              <a:tr h="508000">
                <a:tc>
                  <a:txBody>
                    <a:bodyPr/>
                    <a:lstStyle/>
                    <a:p>
                      <a:pPr algn="l" indent="0" marL="0">
                        <a:buNone/>
                      </a:pPr>
                      <a:r>
                        <a:rPr lang="en-US" sz="1300" b="1" dirty="0">
                          <a:solidFill>
                            <a:srgbClr val="2B2420"/>
                          </a:solidFill>
                          <a:latin typeface="DM Sans" pitchFamily="34" charset="0"/>
                          <a:ea typeface="DM Sans" pitchFamily="34" charset="-122"/>
                          <a:cs typeface="DM Sans" pitchFamily="34" charset="-120"/>
                        </a:rPr>
                        <a:t>Customer Journey</a:t>
                      </a:r>
                      <a:endParaRPr lang="en-US" sz="1300" dirty="0">
                        <a:latin typeface="DM Sans" charset="0"/>
                        <a:ea typeface="DM Sans" charset="0"/>
                        <a:cs typeface="DM Sans"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300" dirty="0">
                          <a:solidFill>
                            <a:srgbClr val="5B5250"/>
                          </a:solidFill>
                          <a:latin typeface="DM Sans" pitchFamily="34" charset="0"/>
                          <a:ea typeface="DM Sans" pitchFamily="34" charset="-122"/>
                          <a:cs typeface="DM Sans" pitchFamily="34" charset="-120"/>
                        </a:rPr>
                        <a:t>Acompañamiento antes, durante y después de la compra</a:t>
                      </a:r>
                      <a:endParaRPr lang="en-US" sz="1300" dirty="0">
                        <a:latin typeface="DM Sans" charset="0"/>
                        <a:ea typeface="DM Sans" charset="0"/>
                        <a:cs typeface="DM Sans"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r>
              <a:tr h="508000">
                <a:tc>
                  <a:txBody>
                    <a:bodyPr/>
                    <a:lstStyle/>
                    <a:p>
                      <a:pPr algn="l" indent="0" marL="0">
                        <a:buNone/>
                      </a:pPr>
                      <a:r>
                        <a:rPr lang="en-US" sz="1300" b="1" dirty="0">
                          <a:solidFill>
                            <a:srgbClr val="2B1715"/>
                          </a:solidFill>
                          <a:latin typeface="DM Sans" pitchFamily="34" charset="0"/>
                          <a:ea typeface="DM Sans" pitchFamily="34" charset="-122"/>
                          <a:cs typeface="DM Sans" pitchFamily="34" charset="-120"/>
                        </a:rPr>
                        <a:t>Customer Lifetime Value</a:t>
                      </a:r>
                      <a:endParaRPr lang="en-US" sz="1300" dirty="0">
                        <a:latin typeface="DM Sans" charset="0"/>
                        <a:ea typeface="DM Sans" charset="0"/>
                        <a:cs typeface="DM Sans"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D98C86"/>
                    </a:solidFill>
                  </a:tcPr>
                </a:tc>
                <a:tc>
                  <a:txBody>
                    <a:bodyPr/>
                    <a:lstStyle/>
                    <a:p>
                      <a:pPr algn="l" indent="0" marL="0">
                        <a:buNone/>
                      </a:pPr>
                      <a:r>
                        <a:rPr lang="en-US" sz="1300" b="1" dirty="0">
                          <a:solidFill>
                            <a:srgbClr val="2B1715"/>
                          </a:solidFill>
                          <a:latin typeface="DM Sans" pitchFamily="34" charset="0"/>
                          <a:ea typeface="DM Sans" pitchFamily="34" charset="-122"/>
                          <a:cs typeface="DM Sans" pitchFamily="34" charset="-120"/>
                        </a:rPr>
                        <a:t>BlendPure Refill Club y recompra de cápsulas</a:t>
                      </a:r>
                      <a:endParaRPr lang="en-US" sz="1300" dirty="0">
                        <a:latin typeface="DM Sans" charset="0"/>
                        <a:ea typeface="DM Sans" charset="0"/>
                        <a:cs typeface="DM Sans"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D98C86"/>
                    </a:solidFill>
                  </a:tcPr>
                </a:tc>
              </a:tr>
            </a:tbl>
          </a:graphicData>
        </a:graphic>
      </p:graphicFrame>
      <p:sp>
        <p:nvSpPr>
          <p:cNvPr id="5" name="Text 2"/>
          <p:cNvSpPr txBox="1"/>
          <p:nvPr/>
        </p:nvSpPr>
        <p:spPr>
          <a:xfrm>
            <a:off x="548640" y="6355080"/>
            <a:ext cx="11094415" cy="365760"/>
          </a:xfrm>
          <a:prstGeom prst="rect">
            <a:avLst/>
          </a:prstGeom>
          <a:noFill/>
          <a:ln/>
        </p:spPr>
        <p:txBody>
          <a:bodyPr wrap="square" lIns="0" tIns="0" rIns="0" bIns="0" rtlCol="0" anchor="ctr"/>
          <a:lstStyle/>
          <a:p>
            <a:pPr indent="0" marL="0">
              <a:buNone/>
            </a:pPr>
            <a:r>
              <a:rPr lang="en-US" sz="1100" dirty="0">
                <a:solidFill>
                  <a:srgbClr val="8A7A73"/>
                </a:solidFill>
                <a:latin typeface="DM Sans" pitchFamily="34" charset="0"/>
                <a:ea typeface="DM Sans" pitchFamily="34" charset="-122"/>
                <a:cs typeface="DM Sans" pitchFamily="34" charset="-120"/>
              </a:rPr>
              <a:t>El marco teórico no es un requisito académico: fundamenta decisiones concretas del proyecto.</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BF5F1"/>
        </a:solidFill>
      </p:bgPr>
    </p:bg>
    <p:spTree>
      <p:nvGrpSpPr>
        <p:cNvPr id="1" name=""/>
        <p:cNvGrpSpPr/>
        <p:nvPr/>
      </p:nvGrpSpPr>
      <p:grpSpPr>
        <a:xfrm>
          <a:off x="0" y="0"/>
          <a:ext cx="0" cy="0"/>
          <a:chOff x="0" y="0"/>
          <a:chExt cx="0" cy="0"/>
        </a:xfrm>
      </p:grpSpPr>
      <p:sp>
        <p:nvSpPr>
          <p:cNvPr id="2" name="Text 0"/>
          <p:cNvSpPr txBox="1"/>
          <p:nvPr/>
        </p:nvSpPr>
        <p:spPr>
          <a:xfrm>
            <a:off x="548640" y="502920"/>
            <a:ext cx="11094415" cy="320040"/>
          </a:xfrm>
          <a:prstGeom prst="rect">
            <a:avLst/>
          </a:prstGeom>
          <a:noFill/>
          <a:ln/>
        </p:spPr>
        <p:txBody>
          <a:bodyPr wrap="square" lIns="0" tIns="0" rIns="0" bIns="0" rtlCol="0" anchor="ctr"/>
          <a:lstStyle/>
          <a:p>
            <a:pPr indent="0" marL="0">
              <a:buNone/>
            </a:pPr>
            <a:r>
              <a:rPr lang="en-US" sz="1300" b="1" spc="200" kern="0" dirty="0">
                <a:solidFill>
                  <a:srgbClr val="A87C45"/>
                </a:solidFill>
                <a:latin typeface="DM Sans" pitchFamily="34" charset="0"/>
                <a:ea typeface="DM Sans" pitchFamily="34" charset="-122"/>
                <a:cs typeface="DM Sans" pitchFamily="34" charset="-120"/>
              </a:rPr>
              <a:t>MARCO TEÓRICO · CONTRASTE CON LOS DATOS</a:t>
            </a:r>
            <a:endParaRPr lang="en-US" sz="1300" dirty="0"/>
          </a:p>
        </p:txBody>
      </p:sp>
      <p:sp>
        <p:nvSpPr>
          <p:cNvPr id="3" name="Text 1"/>
          <p:cNvSpPr txBox="1"/>
          <p:nvPr/>
        </p:nvSpPr>
        <p:spPr>
          <a:xfrm>
            <a:off x="548640" y="822960"/>
            <a:ext cx="11094415" cy="822960"/>
          </a:xfrm>
          <a:prstGeom prst="rect">
            <a:avLst/>
          </a:prstGeom>
          <a:noFill/>
          <a:ln/>
        </p:spPr>
        <p:txBody>
          <a:bodyPr wrap="square" lIns="0" tIns="0" rIns="0" bIns="0" rtlCol="0" anchor="ctr"/>
          <a:lstStyle/>
          <a:p>
            <a:pPr algn="l" indent="0" marL="0">
              <a:buNone/>
            </a:pPr>
            <a:r>
              <a:rPr lang="en-US" sz="2800" b="1" dirty="0">
                <a:solidFill>
                  <a:srgbClr val="241F1D"/>
                </a:solidFill>
                <a:latin typeface="Cormorant Garamond" pitchFamily="34" charset="0"/>
                <a:ea typeface="Cormorant Garamond" pitchFamily="34" charset="-122"/>
                <a:cs typeface="Cormorant Garamond" pitchFamily="34" charset="-120"/>
              </a:rPr>
              <a:t>¿Qué teorías respalda la evidencia y cuáles no?</a:t>
            </a:r>
            <a:endParaRPr lang="en-US" sz="28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2651760"/>
                <a:gridCol w="2926080"/>
                <a:gridCol w="3749040"/>
                <a:gridCol w="1764792"/>
              </a:tblGrid>
              <a:tr h="411480">
                <a:tc>
                  <a:txBody>
                    <a:bodyPr/>
                    <a:lstStyle/>
                    <a:p>
                      <a:pPr indent="0" marL="0">
                        <a:buNone/>
                      </a:pPr>
                      <a:r>
                        <a:rPr lang="en-US" sz="1150" b="1" dirty="0">
                          <a:solidFill>
                            <a:srgbClr val="FBF5F1"/>
                          </a:solidFill>
                          <a:latin typeface="DM Sans" pitchFamily="34" charset="0"/>
                          <a:ea typeface="DM Sans" pitchFamily="34" charset="-122"/>
                          <a:cs typeface="DM Sans" pitchFamily="34" charset="-120"/>
                        </a:rPr>
                        <a:t>Concepto</a:t>
                      </a:r>
                      <a:endParaRPr lang="en-US" sz="1150" dirty="0">
                        <a:latin typeface="DM Sans" charset="0"/>
                        <a:ea typeface="DM Sans" charset="0"/>
                        <a:cs typeface="DM Sans" charset="0"/>
                      </a:endParaRPr>
                    </a:p>
                  </a:txBody>
                  <a:tcPr marL="91440" marR="91440" marT="36576" marB="36576" anchor="ctr">
                    <a:lnL w="9525" cap="flat" cmpd="sng" algn="ctr">
                      <a:solidFill>
                        <a:srgbClr val="EDE1D9"/>
                      </a:solidFill>
                      <a:prstDash val="solid"/>
                      <a:round/>
                      <a:headEnd type="none" w="med" len="med"/>
                      <a:tailEnd type="none" w="med" len="med"/>
                    </a:lnL>
                    <a:lnR w="9525" cap="flat" cmpd="sng" algn="ctr">
                      <a:solidFill>
                        <a:srgbClr val="EDE1D9"/>
                      </a:solidFill>
                      <a:prstDash val="solid"/>
                      <a:round/>
                      <a:headEnd type="none" w="med" len="med"/>
                      <a:tailEnd type="none" w="med" len="med"/>
                    </a:lnR>
                    <a:lnT w="9525" cap="flat" cmpd="sng" algn="ctr">
                      <a:solidFill>
                        <a:srgbClr val="EDE1D9"/>
                      </a:solidFill>
                      <a:prstDash val="solid"/>
                      <a:round/>
                      <a:headEnd type="none" w="med" len="med"/>
                      <a:tailEnd type="none" w="med" len="med"/>
                    </a:lnT>
                    <a:lnB w="9525" cap="flat" cmpd="sng" algn="ctr">
                      <a:solidFill>
                        <a:srgbClr val="EDE1D9"/>
                      </a:solidFill>
                      <a:prstDash val="solid"/>
                      <a:round/>
                      <a:headEnd type="none" w="med" len="med"/>
                      <a:tailEnd type="none" w="med" len="med"/>
                    </a:lnB>
                    <a:solidFill>
                      <a:srgbClr val="241F1D"/>
                    </a:solidFill>
                  </a:tcPr>
                </a:tc>
                <a:tc>
                  <a:txBody>
                    <a:bodyPr/>
                    <a:lstStyle/>
                    <a:p>
                      <a:pPr indent="0" marL="0">
                        <a:buNone/>
                      </a:pPr>
                      <a:r>
                        <a:rPr lang="en-US" sz="1150" b="1" dirty="0">
                          <a:solidFill>
                            <a:srgbClr val="FBF5F1"/>
                          </a:solidFill>
                          <a:latin typeface="DM Sans" pitchFamily="34" charset="0"/>
                          <a:ea typeface="DM Sans" pitchFamily="34" charset="-122"/>
                          <a:cs typeface="DM Sans" pitchFamily="34" charset="-120"/>
                        </a:rPr>
                        <a:t>Qué predice para BlendPure</a:t>
                      </a:r>
                      <a:endParaRPr lang="en-US" sz="1150" dirty="0">
                        <a:latin typeface="DM Sans" charset="0"/>
                        <a:ea typeface="DM Sans" charset="0"/>
                        <a:cs typeface="DM Sans" charset="0"/>
                      </a:endParaRPr>
                    </a:p>
                  </a:txBody>
                  <a:tcPr marL="91440" marR="91440" marT="36576" marB="36576" anchor="ctr">
                    <a:lnL w="9525" cap="flat" cmpd="sng" algn="ctr">
                      <a:solidFill>
                        <a:srgbClr val="EDE1D9"/>
                      </a:solidFill>
                      <a:prstDash val="solid"/>
                      <a:round/>
                      <a:headEnd type="none" w="med" len="med"/>
                      <a:tailEnd type="none" w="med" len="med"/>
                    </a:lnL>
                    <a:lnR w="9525" cap="flat" cmpd="sng" algn="ctr">
                      <a:solidFill>
                        <a:srgbClr val="EDE1D9"/>
                      </a:solidFill>
                      <a:prstDash val="solid"/>
                      <a:round/>
                      <a:headEnd type="none" w="med" len="med"/>
                      <a:tailEnd type="none" w="med" len="med"/>
                    </a:lnR>
                    <a:lnT w="9525" cap="flat" cmpd="sng" algn="ctr">
                      <a:solidFill>
                        <a:srgbClr val="EDE1D9"/>
                      </a:solidFill>
                      <a:prstDash val="solid"/>
                      <a:round/>
                      <a:headEnd type="none" w="med" len="med"/>
                      <a:tailEnd type="none" w="med" len="med"/>
                    </a:lnT>
                    <a:lnB w="9525" cap="flat" cmpd="sng" algn="ctr">
                      <a:solidFill>
                        <a:srgbClr val="EDE1D9"/>
                      </a:solidFill>
                      <a:prstDash val="solid"/>
                      <a:round/>
                      <a:headEnd type="none" w="med" len="med"/>
                      <a:tailEnd type="none" w="med" len="med"/>
                    </a:lnB>
                    <a:solidFill>
                      <a:srgbClr val="241F1D"/>
                    </a:solidFill>
                  </a:tcPr>
                </a:tc>
                <a:tc>
                  <a:txBody>
                    <a:bodyPr/>
                    <a:lstStyle/>
                    <a:p>
                      <a:pPr indent="0" marL="0">
                        <a:buNone/>
                      </a:pPr>
                      <a:r>
                        <a:rPr lang="en-US" sz="1150" b="1" dirty="0">
                          <a:solidFill>
                            <a:srgbClr val="FBF5F1"/>
                          </a:solidFill>
                          <a:latin typeface="DM Sans" pitchFamily="34" charset="0"/>
                          <a:ea typeface="DM Sans" pitchFamily="34" charset="-122"/>
                          <a:cs typeface="DM Sans" pitchFamily="34" charset="-120"/>
                        </a:rPr>
                        <a:t>Qué encontramos</a:t>
                      </a:r>
                      <a:endParaRPr lang="en-US" sz="1150" dirty="0">
                        <a:latin typeface="DM Sans" charset="0"/>
                        <a:ea typeface="DM Sans" charset="0"/>
                        <a:cs typeface="DM Sans" charset="0"/>
                      </a:endParaRPr>
                    </a:p>
                  </a:txBody>
                  <a:tcPr marL="91440" marR="91440" marT="36576" marB="36576" anchor="ctr">
                    <a:lnL w="9525" cap="flat" cmpd="sng" algn="ctr">
                      <a:solidFill>
                        <a:srgbClr val="EDE1D9"/>
                      </a:solidFill>
                      <a:prstDash val="solid"/>
                      <a:round/>
                      <a:headEnd type="none" w="med" len="med"/>
                      <a:tailEnd type="none" w="med" len="med"/>
                    </a:lnL>
                    <a:lnR w="9525" cap="flat" cmpd="sng" algn="ctr">
                      <a:solidFill>
                        <a:srgbClr val="EDE1D9"/>
                      </a:solidFill>
                      <a:prstDash val="solid"/>
                      <a:round/>
                      <a:headEnd type="none" w="med" len="med"/>
                      <a:tailEnd type="none" w="med" len="med"/>
                    </a:lnR>
                    <a:lnT w="9525" cap="flat" cmpd="sng" algn="ctr">
                      <a:solidFill>
                        <a:srgbClr val="EDE1D9"/>
                      </a:solidFill>
                      <a:prstDash val="solid"/>
                      <a:round/>
                      <a:headEnd type="none" w="med" len="med"/>
                      <a:tailEnd type="none" w="med" len="med"/>
                    </a:lnT>
                    <a:lnB w="9525" cap="flat" cmpd="sng" algn="ctr">
                      <a:solidFill>
                        <a:srgbClr val="EDE1D9"/>
                      </a:solidFill>
                      <a:prstDash val="solid"/>
                      <a:round/>
                      <a:headEnd type="none" w="med" len="med"/>
                      <a:tailEnd type="none" w="med" len="med"/>
                    </a:lnB>
                    <a:solidFill>
                      <a:srgbClr val="241F1D"/>
                    </a:solidFill>
                  </a:tcPr>
                </a:tc>
                <a:tc>
                  <a:txBody>
                    <a:bodyPr/>
                    <a:lstStyle/>
                    <a:p>
                      <a:pPr indent="0" marL="0">
                        <a:buNone/>
                      </a:pPr>
                      <a:r>
                        <a:rPr lang="en-US" sz="1150" b="1" dirty="0">
                          <a:solidFill>
                            <a:srgbClr val="FBF5F1"/>
                          </a:solidFill>
                          <a:latin typeface="DM Sans" pitchFamily="34" charset="0"/>
                          <a:ea typeface="DM Sans" pitchFamily="34" charset="-122"/>
                          <a:cs typeface="DM Sans" pitchFamily="34" charset="-120"/>
                        </a:rPr>
                        <a:t>Lectura</a:t>
                      </a:r>
                      <a:endParaRPr lang="en-US" sz="1150" dirty="0">
                        <a:latin typeface="DM Sans" charset="0"/>
                        <a:ea typeface="DM Sans" charset="0"/>
                        <a:cs typeface="DM Sans" charset="0"/>
                      </a:endParaRPr>
                    </a:p>
                  </a:txBody>
                  <a:tcPr marL="91440" marR="91440" marT="36576" marB="36576" anchor="ctr">
                    <a:lnL w="9525" cap="flat" cmpd="sng" algn="ctr">
                      <a:solidFill>
                        <a:srgbClr val="EDE1D9"/>
                      </a:solidFill>
                      <a:prstDash val="solid"/>
                      <a:round/>
                      <a:headEnd type="none" w="med" len="med"/>
                      <a:tailEnd type="none" w="med" len="med"/>
                    </a:lnL>
                    <a:lnR w="9525" cap="flat" cmpd="sng" algn="ctr">
                      <a:solidFill>
                        <a:srgbClr val="EDE1D9"/>
                      </a:solidFill>
                      <a:prstDash val="solid"/>
                      <a:round/>
                      <a:headEnd type="none" w="med" len="med"/>
                      <a:tailEnd type="none" w="med" len="med"/>
                    </a:lnR>
                    <a:lnT w="9525" cap="flat" cmpd="sng" algn="ctr">
                      <a:solidFill>
                        <a:srgbClr val="EDE1D9"/>
                      </a:solidFill>
                      <a:prstDash val="solid"/>
                      <a:round/>
                      <a:headEnd type="none" w="med" len="med"/>
                      <a:tailEnd type="none" w="med" len="med"/>
                    </a:lnT>
                    <a:lnB w="9525" cap="flat" cmpd="sng" algn="ctr">
                      <a:solidFill>
                        <a:srgbClr val="EDE1D9"/>
                      </a:solidFill>
                      <a:prstDash val="solid"/>
                      <a:round/>
                      <a:headEnd type="none" w="med" len="med"/>
                      <a:tailEnd type="none" w="med" len="med"/>
                    </a:lnB>
                    <a:solidFill>
                      <a:srgbClr val="241F1D"/>
                    </a:solidFill>
                  </a:tcPr>
                </a:tc>
              </a:tr>
              <a:tr h="731520">
                <a:tc>
                  <a:txBody>
                    <a:bodyPr/>
                    <a:lstStyle/>
                    <a:p>
                      <a:pPr indent="0" marL="0">
                        <a:buNone/>
                      </a:pPr>
                      <a:r>
                        <a:rPr lang="en-US" sz="1050" b="1" dirty="0">
                          <a:solidFill>
                            <a:srgbClr val="4A4039"/>
                          </a:solidFill>
                          <a:latin typeface="DM Sans" pitchFamily="34" charset="0"/>
                          <a:ea typeface="DM Sans" pitchFamily="34" charset="-122"/>
                          <a:cs typeface="DM Sans" pitchFamily="34" charset="-120"/>
                        </a:rPr>
                        <a:t>Acción planificada</a:t>
                      </a:r>
                      <a:endParaRPr lang="en-US" sz="1050" dirty="0">
                        <a:latin typeface="DM Sans" charset="0"/>
                        <a:ea typeface="DM Sans" charset="0"/>
                        <a:cs typeface="DM Sans" charset="0"/>
                      </a:endParaRPr>
                    </a:p>
                    <a:p>
                      <a:pPr indent="0" marL="0">
                        <a:buNone/>
                      </a:pPr>
                      <a:r>
                        <a:rPr lang="en-US" sz="1050" b="1" dirty="0">
                          <a:solidFill>
                            <a:srgbClr val="4A4039"/>
                          </a:solidFill>
                          <a:latin typeface="DM Sans" pitchFamily="34" charset="0"/>
                          <a:ea typeface="DM Sans" pitchFamily="34" charset="-122"/>
                          <a:cs typeface="DM Sans" pitchFamily="34" charset="-120"/>
                        </a:rPr>
                        <a:t>(Ajzen, 1991)</a:t>
                      </a:r>
                      <a:endParaRPr lang="en-US" sz="1050" dirty="0">
                        <a:latin typeface="DM Sans" charset="0"/>
                        <a:ea typeface="DM Sans" charset="0"/>
                        <a:cs typeface="DM Sans" charset="0"/>
                      </a:endParaRPr>
                    </a:p>
                  </a:txBody>
                  <a:tcPr marL="91440" marR="91440" marT="36576" marB="36576" anchor="ctr">
                    <a:lnL w="9525" cap="flat" cmpd="sng" algn="ctr">
                      <a:solidFill>
                        <a:srgbClr val="EDE1D9"/>
                      </a:solidFill>
                      <a:prstDash val="solid"/>
                      <a:round/>
                      <a:headEnd type="none" w="med" len="med"/>
                      <a:tailEnd type="none" w="med" len="med"/>
                    </a:lnL>
                    <a:lnR w="9525" cap="flat" cmpd="sng" algn="ctr">
                      <a:solidFill>
                        <a:srgbClr val="EDE1D9"/>
                      </a:solidFill>
                      <a:prstDash val="solid"/>
                      <a:round/>
                      <a:headEnd type="none" w="med" len="med"/>
                      <a:tailEnd type="none" w="med" len="med"/>
                    </a:lnR>
                    <a:lnT w="9525" cap="flat" cmpd="sng" algn="ctr">
                      <a:solidFill>
                        <a:srgbClr val="EDE1D9"/>
                      </a:solidFill>
                      <a:prstDash val="solid"/>
                      <a:round/>
                      <a:headEnd type="none" w="med" len="med"/>
                      <a:tailEnd type="none" w="med" len="med"/>
                    </a:lnT>
                    <a:lnB w="9525" cap="flat" cmpd="sng" algn="ctr">
                      <a:solidFill>
                        <a:srgbClr val="EDE1D9"/>
                      </a:solidFill>
                      <a:prstDash val="solid"/>
                      <a:round/>
                      <a:headEnd type="none" w="med" len="med"/>
                      <a:tailEnd type="none" w="med" len="med"/>
                    </a:lnB>
                    <a:solidFill>
                      <a:srgbClr val="FFFFFF"/>
                    </a:solidFill>
                  </a:tcPr>
                </a:tc>
                <a:tc>
                  <a:txBody>
                    <a:bodyPr/>
                    <a:lstStyle/>
                    <a:p>
                      <a:pPr indent="0" marL="0">
                        <a:buNone/>
                      </a:pPr>
                      <a:r>
                        <a:rPr lang="en-US" sz="1050" dirty="0">
                          <a:solidFill>
                            <a:srgbClr val="4A4039"/>
                          </a:solidFill>
                          <a:latin typeface="DM Sans" pitchFamily="34" charset="0"/>
                          <a:ea typeface="DM Sans" pitchFamily="34" charset="-122"/>
                          <a:cs typeface="DM Sans" pitchFamily="34" charset="-120"/>
                        </a:rPr>
                        <a:t>La intención no se traduce en conducta</a:t>
                      </a:r>
                      <a:endParaRPr lang="en-US" sz="1050" dirty="0">
                        <a:latin typeface="DM Sans" charset="0"/>
                        <a:ea typeface="DM Sans" charset="0"/>
                        <a:cs typeface="DM Sans" charset="0"/>
                      </a:endParaRPr>
                    </a:p>
                  </a:txBody>
                  <a:tcPr marL="91440" marR="91440" marT="36576" marB="36576" anchor="ctr">
                    <a:lnL w="9525" cap="flat" cmpd="sng" algn="ctr">
                      <a:solidFill>
                        <a:srgbClr val="EDE1D9"/>
                      </a:solidFill>
                      <a:prstDash val="solid"/>
                      <a:round/>
                      <a:headEnd type="none" w="med" len="med"/>
                      <a:tailEnd type="none" w="med" len="med"/>
                    </a:lnL>
                    <a:lnR w="9525" cap="flat" cmpd="sng" algn="ctr">
                      <a:solidFill>
                        <a:srgbClr val="EDE1D9"/>
                      </a:solidFill>
                      <a:prstDash val="solid"/>
                      <a:round/>
                      <a:headEnd type="none" w="med" len="med"/>
                      <a:tailEnd type="none" w="med" len="med"/>
                    </a:lnR>
                    <a:lnT w="9525" cap="flat" cmpd="sng" algn="ctr">
                      <a:solidFill>
                        <a:srgbClr val="EDE1D9"/>
                      </a:solidFill>
                      <a:prstDash val="solid"/>
                      <a:round/>
                      <a:headEnd type="none" w="med" len="med"/>
                      <a:tailEnd type="none" w="med" len="med"/>
                    </a:lnT>
                    <a:lnB w="9525" cap="flat" cmpd="sng" algn="ctr">
                      <a:solidFill>
                        <a:srgbClr val="EDE1D9"/>
                      </a:solidFill>
                      <a:prstDash val="solid"/>
                      <a:round/>
                      <a:headEnd type="none" w="med" len="med"/>
                      <a:tailEnd type="none" w="med" len="med"/>
                    </a:lnB>
                    <a:solidFill>
                      <a:srgbClr val="FFFFFF"/>
                    </a:solidFill>
                  </a:tcPr>
                </a:tc>
                <a:tc>
                  <a:txBody>
                    <a:bodyPr/>
                    <a:lstStyle/>
                    <a:p>
                      <a:pPr indent="0" marL="0">
                        <a:buNone/>
                      </a:pPr>
                      <a:r>
                        <a:rPr lang="en-US" sz="1050" dirty="0">
                          <a:solidFill>
                            <a:srgbClr val="4A4039"/>
                          </a:solidFill>
                          <a:latin typeface="DM Sans" pitchFamily="34" charset="0"/>
                          <a:ea typeface="DM Sans" pitchFamily="34" charset="-122"/>
                          <a:cs typeface="DM Sans" pitchFamily="34" charset="-120"/>
                        </a:rPr>
                        <a:t>95,2 % ve utilidad, pero 68 % limpia una vez al mes o menos; 87,7 % cita fricción</a:t>
                      </a:r>
                      <a:endParaRPr lang="en-US" sz="1050" dirty="0">
                        <a:latin typeface="DM Sans" charset="0"/>
                        <a:ea typeface="DM Sans" charset="0"/>
                        <a:cs typeface="DM Sans" charset="0"/>
                      </a:endParaRPr>
                    </a:p>
                  </a:txBody>
                  <a:tcPr marL="91440" marR="91440" marT="36576" marB="36576" anchor="ctr">
                    <a:lnL w="9525" cap="flat" cmpd="sng" algn="ctr">
                      <a:solidFill>
                        <a:srgbClr val="EDE1D9"/>
                      </a:solidFill>
                      <a:prstDash val="solid"/>
                      <a:round/>
                      <a:headEnd type="none" w="med" len="med"/>
                      <a:tailEnd type="none" w="med" len="med"/>
                    </a:lnL>
                    <a:lnR w="9525" cap="flat" cmpd="sng" algn="ctr">
                      <a:solidFill>
                        <a:srgbClr val="EDE1D9"/>
                      </a:solidFill>
                      <a:prstDash val="solid"/>
                      <a:round/>
                      <a:headEnd type="none" w="med" len="med"/>
                      <a:tailEnd type="none" w="med" len="med"/>
                    </a:lnR>
                    <a:lnT w="9525" cap="flat" cmpd="sng" algn="ctr">
                      <a:solidFill>
                        <a:srgbClr val="EDE1D9"/>
                      </a:solidFill>
                      <a:prstDash val="solid"/>
                      <a:round/>
                      <a:headEnd type="none" w="med" len="med"/>
                      <a:tailEnd type="none" w="med" len="med"/>
                    </a:lnT>
                    <a:lnB w="9525" cap="flat" cmpd="sng" algn="ctr">
                      <a:solidFill>
                        <a:srgbClr val="EDE1D9"/>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2F6B4F"/>
                          </a:solidFill>
                          <a:latin typeface="DM Sans" pitchFamily="34" charset="0"/>
                          <a:ea typeface="DM Sans" pitchFamily="34" charset="-122"/>
                          <a:cs typeface="DM Sans" pitchFamily="34" charset="-120"/>
                        </a:rPr>
                        <a:t>Respaldada</a:t>
                      </a:r>
                      <a:endParaRPr lang="en-US" sz="1050" dirty="0">
                        <a:latin typeface="DM Sans" charset="0"/>
                        <a:ea typeface="DM Sans" charset="0"/>
                        <a:cs typeface="DM Sans" charset="0"/>
                      </a:endParaRPr>
                    </a:p>
                  </a:txBody>
                  <a:tcPr marL="91440" marR="91440" marT="36576" marB="36576" anchor="ctr">
                    <a:lnL w="9525" cap="flat" cmpd="sng" algn="ctr">
                      <a:solidFill>
                        <a:srgbClr val="EDE1D9"/>
                      </a:solidFill>
                      <a:prstDash val="solid"/>
                      <a:round/>
                      <a:headEnd type="none" w="med" len="med"/>
                      <a:tailEnd type="none" w="med" len="med"/>
                    </a:lnL>
                    <a:lnR w="9525" cap="flat" cmpd="sng" algn="ctr">
                      <a:solidFill>
                        <a:srgbClr val="EDE1D9"/>
                      </a:solidFill>
                      <a:prstDash val="solid"/>
                      <a:round/>
                      <a:headEnd type="none" w="med" len="med"/>
                      <a:tailEnd type="none" w="med" len="med"/>
                    </a:lnR>
                    <a:lnT w="9525" cap="flat" cmpd="sng" algn="ctr">
                      <a:solidFill>
                        <a:srgbClr val="EDE1D9"/>
                      </a:solidFill>
                      <a:prstDash val="solid"/>
                      <a:round/>
                      <a:headEnd type="none" w="med" len="med"/>
                      <a:tailEnd type="none" w="med" len="med"/>
                    </a:lnT>
                    <a:lnB w="9525" cap="flat" cmpd="sng" algn="ctr">
                      <a:solidFill>
                        <a:srgbClr val="EDE1D9"/>
                      </a:solidFill>
                      <a:prstDash val="solid"/>
                      <a:round/>
                      <a:headEnd type="none" w="med" len="med"/>
                      <a:tailEnd type="none" w="med" len="med"/>
                    </a:lnB>
                    <a:solidFill>
                      <a:srgbClr val="E4F0E9"/>
                    </a:solidFill>
                  </a:tcPr>
                </a:tc>
              </a:tr>
              <a:tr h="731520">
                <a:tc>
                  <a:txBody>
                    <a:bodyPr/>
                    <a:lstStyle/>
                    <a:p>
                      <a:pPr indent="0" marL="0">
                        <a:buNone/>
                      </a:pPr>
                      <a:r>
                        <a:rPr lang="en-US" sz="1050" b="1" dirty="0">
                          <a:solidFill>
                            <a:srgbClr val="4A4039"/>
                          </a:solidFill>
                          <a:latin typeface="DM Sans" pitchFamily="34" charset="0"/>
                          <a:ea typeface="DM Sans" pitchFamily="34" charset="-122"/>
                          <a:cs typeface="DM Sans" pitchFamily="34" charset="-120"/>
                        </a:rPr>
                        <a:t>Difusión de innovaciones</a:t>
                      </a:r>
                      <a:endParaRPr lang="en-US" sz="1050" dirty="0">
                        <a:latin typeface="DM Sans" charset="0"/>
                        <a:ea typeface="DM Sans" charset="0"/>
                        <a:cs typeface="DM Sans" charset="0"/>
                      </a:endParaRPr>
                    </a:p>
                    <a:p>
                      <a:pPr indent="0" marL="0">
                        <a:buNone/>
                      </a:pPr>
                      <a:r>
                        <a:rPr lang="en-US" sz="1050" b="1" dirty="0">
                          <a:solidFill>
                            <a:srgbClr val="4A4039"/>
                          </a:solidFill>
                          <a:latin typeface="DM Sans" pitchFamily="34" charset="0"/>
                          <a:ea typeface="DM Sans" pitchFamily="34" charset="-122"/>
                          <a:cs typeface="DM Sans" pitchFamily="34" charset="-120"/>
                        </a:rPr>
                        <a:t>(Rogers, 1962)</a:t>
                      </a:r>
                      <a:endParaRPr lang="en-US" sz="1050" dirty="0">
                        <a:latin typeface="DM Sans" charset="0"/>
                        <a:ea typeface="DM Sans" charset="0"/>
                        <a:cs typeface="DM Sans" charset="0"/>
                      </a:endParaRPr>
                    </a:p>
                  </a:txBody>
                  <a:tcPr marL="91440" marR="91440" marT="36576" marB="36576" anchor="ctr">
                    <a:lnL w="9525" cap="flat" cmpd="sng" algn="ctr">
                      <a:solidFill>
                        <a:srgbClr val="EDE1D9"/>
                      </a:solidFill>
                      <a:prstDash val="solid"/>
                      <a:round/>
                      <a:headEnd type="none" w="med" len="med"/>
                      <a:tailEnd type="none" w="med" len="med"/>
                    </a:lnL>
                    <a:lnR w="9525" cap="flat" cmpd="sng" algn="ctr">
                      <a:solidFill>
                        <a:srgbClr val="EDE1D9"/>
                      </a:solidFill>
                      <a:prstDash val="solid"/>
                      <a:round/>
                      <a:headEnd type="none" w="med" len="med"/>
                      <a:tailEnd type="none" w="med" len="med"/>
                    </a:lnR>
                    <a:lnT w="9525" cap="flat" cmpd="sng" algn="ctr">
                      <a:solidFill>
                        <a:srgbClr val="EDE1D9"/>
                      </a:solidFill>
                      <a:prstDash val="solid"/>
                      <a:round/>
                      <a:headEnd type="none" w="med" len="med"/>
                      <a:tailEnd type="none" w="med" len="med"/>
                    </a:lnT>
                    <a:lnB w="9525" cap="flat" cmpd="sng" algn="ctr">
                      <a:solidFill>
                        <a:srgbClr val="EDE1D9"/>
                      </a:solidFill>
                      <a:prstDash val="solid"/>
                      <a:round/>
                      <a:headEnd type="none" w="med" len="med"/>
                      <a:tailEnd type="none" w="med" len="med"/>
                    </a:lnB>
                    <a:solidFill>
                      <a:srgbClr val="FFFFFF"/>
                    </a:solidFill>
                  </a:tcPr>
                </a:tc>
                <a:tc>
                  <a:txBody>
                    <a:bodyPr/>
                    <a:lstStyle/>
                    <a:p>
                      <a:pPr indent="0" marL="0">
                        <a:buNone/>
                      </a:pPr>
                      <a:r>
                        <a:rPr lang="en-US" sz="1050" dirty="0">
                          <a:solidFill>
                            <a:srgbClr val="4A4039"/>
                          </a:solidFill>
                          <a:latin typeface="DM Sans" pitchFamily="34" charset="0"/>
                          <a:ea typeface="DM Sans" pitchFamily="34" charset="-122"/>
                          <a:cs typeface="DM Sans" pitchFamily="34" charset="-120"/>
                        </a:rPr>
                        <a:t>Empezar con adoptantes tempranos (beauty creators)</a:t>
                      </a:r>
                      <a:endParaRPr lang="en-US" sz="1050" dirty="0">
                        <a:latin typeface="DM Sans" charset="0"/>
                        <a:ea typeface="DM Sans" charset="0"/>
                        <a:cs typeface="DM Sans" charset="0"/>
                      </a:endParaRPr>
                    </a:p>
                  </a:txBody>
                  <a:tcPr marL="91440" marR="91440" marT="36576" marB="36576" anchor="ctr">
                    <a:lnL w="9525" cap="flat" cmpd="sng" algn="ctr">
                      <a:solidFill>
                        <a:srgbClr val="EDE1D9"/>
                      </a:solidFill>
                      <a:prstDash val="solid"/>
                      <a:round/>
                      <a:headEnd type="none" w="med" len="med"/>
                      <a:tailEnd type="none" w="med" len="med"/>
                    </a:lnL>
                    <a:lnR w="9525" cap="flat" cmpd="sng" algn="ctr">
                      <a:solidFill>
                        <a:srgbClr val="EDE1D9"/>
                      </a:solidFill>
                      <a:prstDash val="solid"/>
                      <a:round/>
                      <a:headEnd type="none" w="med" len="med"/>
                      <a:tailEnd type="none" w="med" len="med"/>
                    </a:lnR>
                    <a:lnT w="9525" cap="flat" cmpd="sng" algn="ctr">
                      <a:solidFill>
                        <a:srgbClr val="EDE1D9"/>
                      </a:solidFill>
                      <a:prstDash val="solid"/>
                      <a:round/>
                      <a:headEnd type="none" w="med" len="med"/>
                      <a:tailEnd type="none" w="med" len="med"/>
                    </a:lnT>
                    <a:lnB w="9525" cap="flat" cmpd="sng" algn="ctr">
                      <a:solidFill>
                        <a:srgbClr val="EDE1D9"/>
                      </a:solidFill>
                      <a:prstDash val="solid"/>
                      <a:round/>
                      <a:headEnd type="none" w="med" len="med"/>
                      <a:tailEnd type="none" w="med" len="med"/>
                    </a:lnB>
                    <a:solidFill>
                      <a:srgbClr val="FFFFFF"/>
                    </a:solidFill>
                  </a:tcPr>
                </a:tc>
                <a:tc>
                  <a:txBody>
                    <a:bodyPr/>
                    <a:lstStyle/>
                    <a:p>
                      <a:pPr indent="0" marL="0">
                        <a:buNone/>
                      </a:pPr>
                      <a:r>
                        <a:rPr lang="en-US" sz="1050" dirty="0">
                          <a:solidFill>
                            <a:srgbClr val="4A4039"/>
                          </a:solidFill>
                          <a:latin typeface="DM Sans" pitchFamily="34" charset="0"/>
                          <a:ea typeface="DM Sans" pitchFamily="34" charset="-122"/>
                          <a:cs typeface="DM Sans" pitchFamily="34" charset="-120"/>
                        </a:rPr>
                        <a:t>81 % decide por video y reseñas de creadoras; la creadora entrevistada recomienda microcreadores</a:t>
                      </a:r>
                      <a:endParaRPr lang="en-US" sz="1050" dirty="0">
                        <a:latin typeface="DM Sans" charset="0"/>
                        <a:ea typeface="DM Sans" charset="0"/>
                        <a:cs typeface="DM Sans" charset="0"/>
                      </a:endParaRPr>
                    </a:p>
                  </a:txBody>
                  <a:tcPr marL="91440" marR="91440" marT="36576" marB="36576" anchor="ctr">
                    <a:lnL w="9525" cap="flat" cmpd="sng" algn="ctr">
                      <a:solidFill>
                        <a:srgbClr val="EDE1D9"/>
                      </a:solidFill>
                      <a:prstDash val="solid"/>
                      <a:round/>
                      <a:headEnd type="none" w="med" len="med"/>
                      <a:tailEnd type="none" w="med" len="med"/>
                    </a:lnL>
                    <a:lnR w="9525" cap="flat" cmpd="sng" algn="ctr">
                      <a:solidFill>
                        <a:srgbClr val="EDE1D9"/>
                      </a:solidFill>
                      <a:prstDash val="solid"/>
                      <a:round/>
                      <a:headEnd type="none" w="med" len="med"/>
                      <a:tailEnd type="none" w="med" len="med"/>
                    </a:lnR>
                    <a:lnT w="9525" cap="flat" cmpd="sng" algn="ctr">
                      <a:solidFill>
                        <a:srgbClr val="EDE1D9"/>
                      </a:solidFill>
                      <a:prstDash val="solid"/>
                      <a:round/>
                      <a:headEnd type="none" w="med" len="med"/>
                      <a:tailEnd type="none" w="med" len="med"/>
                    </a:lnT>
                    <a:lnB w="9525" cap="flat" cmpd="sng" algn="ctr">
                      <a:solidFill>
                        <a:srgbClr val="EDE1D9"/>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2F6B4F"/>
                          </a:solidFill>
                          <a:latin typeface="DM Sans" pitchFamily="34" charset="0"/>
                          <a:ea typeface="DM Sans" pitchFamily="34" charset="-122"/>
                          <a:cs typeface="DM Sans" pitchFamily="34" charset="-120"/>
                        </a:rPr>
                        <a:t>Respaldada (cualitativa)</a:t>
                      </a:r>
                      <a:endParaRPr lang="en-US" sz="1050" dirty="0">
                        <a:latin typeface="DM Sans" charset="0"/>
                        <a:ea typeface="DM Sans" charset="0"/>
                        <a:cs typeface="DM Sans" charset="0"/>
                      </a:endParaRPr>
                    </a:p>
                  </a:txBody>
                  <a:tcPr marL="91440" marR="91440" marT="36576" marB="36576" anchor="ctr">
                    <a:lnL w="9525" cap="flat" cmpd="sng" algn="ctr">
                      <a:solidFill>
                        <a:srgbClr val="EDE1D9"/>
                      </a:solidFill>
                      <a:prstDash val="solid"/>
                      <a:round/>
                      <a:headEnd type="none" w="med" len="med"/>
                      <a:tailEnd type="none" w="med" len="med"/>
                    </a:lnL>
                    <a:lnR w="9525" cap="flat" cmpd="sng" algn="ctr">
                      <a:solidFill>
                        <a:srgbClr val="EDE1D9"/>
                      </a:solidFill>
                      <a:prstDash val="solid"/>
                      <a:round/>
                      <a:headEnd type="none" w="med" len="med"/>
                      <a:tailEnd type="none" w="med" len="med"/>
                    </a:lnR>
                    <a:lnT w="9525" cap="flat" cmpd="sng" algn="ctr">
                      <a:solidFill>
                        <a:srgbClr val="EDE1D9"/>
                      </a:solidFill>
                      <a:prstDash val="solid"/>
                      <a:round/>
                      <a:headEnd type="none" w="med" len="med"/>
                      <a:tailEnd type="none" w="med" len="med"/>
                    </a:lnT>
                    <a:lnB w="9525" cap="flat" cmpd="sng" algn="ctr">
                      <a:solidFill>
                        <a:srgbClr val="EDE1D9"/>
                      </a:solidFill>
                      <a:prstDash val="solid"/>
                      <a:round/>
                      <a:headEnd type="none" w="med" len="med"/>
                      <a:tailEnd type="none" w="med" len="med"/>
                    </a:lnB>
                    <a:solidFill>
                      <a:srgbClr val="E4F0E9"/>
                    </a:solidFill>
                  </a:tcPr>
                </a:tc>
              </a:tr>
              <a:tr h="731520">
                <a:tc>
                  <a:txBody>
                    <a:bodyPr/>
                    <a:lstStyle/>
                    <a:p>
                      <a:pPr indent="0" marL="0">
                        <a:buNone/>
                      </a:pPr>
                      <a:r>
                        <a:rPr lang="en-US" sz="1050" b="1" dirty="0">
                          <a:solidFill>
                            <a:srgbClr val="4A4039"/>
                          </a:solidFill>
                          <a:latin typeface="DM Sans" pitchFamily="34" charset="0"/>
                          <a:ea typeface="DM Sans" pitchFamily="34" charset="-122"/>
                          <a:cs typeface="DM Sans" pitchFamily="34" charset="-120"/>
                        </a:rPr>
                        <a:t>Value Proposition Canvas</a:t>
                      </a:r>
                      <a:endParaRPr lang="en-US" sz="1050" dirty="0">
                        <a:latin typeface="DM Sans" charset="0"/>
                        <a:ea typeface="DM Sans" charset="0"/>
                        <a:cs typeface="DM Sans" charset="0"/>
                      </a:endParaRPr>
                    </a:p>
                    <a:p>
                      <a:pPr indent="0" marL="0">
                        <a:buNone/>
                      </a:pPr>
                      <a:r>
                        <a:rPr lang="en-US" sz="1050" b="1" dirty="0">
                          <a:solidFill>
                            <a:srgbClr val="4A4039"/>
                          </a:solidFill>
                          <a:latin typeface="DM Sans" pitchFamily="34" charset="0"/>
                          <a:ea typeface="DM Sans" pitchFamily="34" charset="-122"/>
                          <a:cs typeface="DM Sans" pitchFamily="34" charset="-120"/>
                        </a:rPr>
                        <a:t>(Osterwalder et al., 2014)</a:t>
                      </a:r>
                      <a:endParaRPr lang="en-US" sz="1050" dirty="0">
                        <a:latin typeface="DM Sans" charset="0"/>
                        <a:ea typeface="DM Sans" charset="0"/>
                        <a:cs typeface="DM Sans" charset="0"/>
                      </a:endParaRPr>
                    </a:p>
                  </a:txBody>
                  <a:tcPr marL="91440" marR="91440" marT="36576" marB="36576" anchor="ctr">
                    <a:lnL w="9525" cap="flat" cmpd="sng" algn="ctr">
                      <a:solidFill>
                        <a:srgbClr val="EDE1D9"/>
                      </a:solidFill>
                      <a:prstDash val="solid"/>
                      <a:round/>
                      <a:headEnd type="none" w="med" len="med"/>
                      <a:tailEnd type="none" w="med" len="med"/>
                    </a:lnL>
                    <a:lnR w="9525" cap="flat" cmpd="sng" algn="ctr">
                      <a:solidFill>
                        <a:srgbClr val="EDE1D9"/>
                      </a:solidFill>
                      <a:prstDash val="solid"/>
                      <a:round/>
                      <a:headEnd type="none" w="med" len="med"/>
                      <a:tailEnd type="none" w="med" len="med"/>
                    </a:lnR>
                    <a:lnT w="9525" cap="flat" cmpd="sng" algn="ctr">
                      <a:solidFill>
                        <a:srgbClr val="EDE1D9"/>
                      </a:solidFill>
                      <a:prstDash val="solid"/>
                      <a:round/>
                      <a:headEnd type="none" w="med" len="med"/>
                      <a:tailEnd type="none" w="med" len="med"/>
                    </a:lnT>
                    <a:lnB w="9525" cap="flat" cmpd="sng" algn="ctr">
                      <a:solidFill>
                        <a:srgbClr val="EDE1D9"/>
                      </a:solidFill>
                      <a:prstDash val="solid"/>
                      <a:round/>
                      <a:headEnd type="none" w="med" len="med"/>
                      <a:tailEnd type="none" w="med" len="med"/>
                    </a:lnB>
                    <a:solidFill>
                      <a:srgbClr val="FFFFFF"/>
                    </a:solidFill>
                  </a:tcPr>
                </a:tc>
                <a:tc>
                  <a:txBody>
                    <a:bodyPr/>
                    <a:lstStyle/>
                    <a:p>
                      <a:pPr indent="0" marL="0">
                        <a:buNone/>
                      </a:pPr>
                      <a:r>
                        <a:rPr lang="en-US" sz="1050" dirty="0">
                          <a:solidFill>
                            <a:srgbClr val="4A4039"/>
                          </a:solidFill>
                          <a:latin typeface="DM Sans" pitchFamily="34" charset="0"/>
                          <a:ea typeface="DM Sans" pitchFamily="34" charset="-122"/>
                          <a:cs typeface="DM Sans" pitchFamily="34" charset="-120"/>
                        </a:rPr>
                        <a:t>Aliviar el dolor de tiempo y esfuerzo</a:t>
                      </a:r>
                      <a:endParaRPr lang="en-US" sz="1050" dirty="0">
                        <a:latin typeface="DM Sans" charset="0"/>
                        <a:ea typeface="DM Sans" charset="0"/>
                        <a:cs typeface="DM Sans" charset="0"/>
                      </a:endParaRPr>
                    </a:p>
                  </a:txBody>
                  <a:tcPr marL="91440" marR="91440" marT="36576" marB="36576" anchor="ctr">
                    <a:lnL w="9525" cap="flat" cmpd="sng" algn="ctr">
                      <a:solidFill>
                        <a:srgbClr val="EDE1D9"/>
                      </a:solidFill>
                      <a:prstDash val="solid"/>
                      <a:round/>
                      <a:headEnd type="none" w="med" len="med"/>
                      <a:tailEnd type="none" w="med" len="med"/>
                    </a:lnL>
                    <a:lnR w="9525" cap="flat" cmpd="sng" algn="ctr">
                      <a:solidFill>
                        <a:srgbClr val="EDE1D9"/>
                      </a:solidFill>
                      <a:prstDash val="solid"/>
                      <a:round/>
                      <a:headEnd type="none" w="med" len="med"/>
                      <a:tailEnd type="none" w="med" len="med"/>
                    </a:lnR>
                    <a:lnT w="9525" cap="flat" cmpd="sng" algn="ctr">
                      <a:solidFill>
                        <a:srgbClr val="EDE1D9"/>
                      </a:solidFill>
                      <a:prstDash val="solid"/>
                      <a:round/>
                      <a:headEnd type="none" w="med" len="med"/>
                      <a:tailEnd type="none" w="med" len="med"/>
                    </a:lnT>
                    <a:lnB w="9525" cap="flat" cmpd="sng" algn="ctr">
                      <a:solidFill>
                        <a:srgbClr val="EDE1D9"/>
                      </a:solidFill>
                      <a:prstDash val="solid"/>
                      <a:round/>
                      <a:headEnd type="none" w="med" len="med"/>
                      <a:tailEnd type="none" w="med" len="med"/>
                    </a:lnB>
                    <a:solidFill>
                      <a:srgbClr val="FFFFFF"/>
                    </a:solidFill>
                  </a:tcPr>
                </a:tc>
                <a:tc>
                  <a:txBody>
                    <a:bodyPr/>
                    <a:lstStyle/>
                    <a:p>
                      <a:pPr indent="0" marL="0">
                        <a:buNone/>
                      </a:pPr>
                      <a:r>
                        <a:rPr lang="en-US" sz="1050" dirty="0">
                          <a:solidFill>
                            <a:srgbClr val="4A4039"/>
                          </a:solidFill>
                          <a:latin typeface="DM Sans" pitchFamily="34" charset="0"/>
                          <a:ea typeface="DM Sans" pitchFamily="34" charset="-122"/>
                          <a:cs typeface="DM Sans" pitchFamily="34" charset="-120"/>
                        </a:rPr>
                        <a:t>El secado y la espera son la queja central; una maquilladora esperaría máx. 3 minutos</a:t>
                      </a:r>
                      <a:endParaRPr lang="en-US" sz="1050" dirty="0">
                        <a:latin typeface="DM Sans" charset="0"/>
                        <a:ea typeface="DM Sans" charset="0"/>
                        <a:cs typeface="DM Sans" charset="0"/>
                      </a:endParaRPr>
                    </a:p>
                  </a:txBody>
                  <a:tcPr marL="91440" marR="91440" marT="36576" marB="36576" anchor="ctr">
                    <a:lnL w="9525" cap="flat" cmpd="sng" algn="ctr">
                      <a:solidFill>
                        <a:srgbClr val="EDE1D9"/>
                      </a:solidFill>
                      <a:prstDash val="solid"/>
                      <a:round/>
                      <a:headEnd type="none" w="med" len="med"/>
                      <a:tailEnd type="none" w="med" len="med"/>
                    </a:lnL>
                    <a:lnR w="9525" cap="flat" cmpd="sng" algn="ctr">
                      <a:solidFill>
                        <a:srgbClr val="EDE1D9"/>
                      </a:solidFill>
                      <a:prstDash val="solid"/>
                      <a:round/>
                      <a:headEnd type="none" w="med" len="med"/>
                      <a:tailEnd type="none" w="med" len="med"/>
                    </a:lnR>
                    <a:lnT w="9525" cap="flat" cmpd="sng" algn="ctr">
                      <a:solidFill>
                        <a:srgbClr val="EDE1D9"/>
                      </a:solidFill>
                      <a:prstDash val="solid"/>
                      <a:round/>
                      <a:headEnd type="none" w="med" len="med"/>
                      <a:tailEnd type="none" w="med" len="med"/>
                    </a:lnT>
                    <a:lnB w="9525" cap="flat" cmpd="sng" algn="ctr">
                      <a:solidFill>
                        <a:srgbClr val="EDE1D9"/>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2F6B4F"/>
                          </a:solidFill>
                          <a:latin typeface="DM Sans" pitchFamily="34" charset="0"/>
                          <a:ea typeface="DM Sans" pitchFamily="34" charset="-122"/>
                          <a:cs typeface="DM Sans" pitchFamily="34" charset="-120"/>
                        </a:rPr>
                        <a:t>Respaldada</a:t>
                      </a:r>
                      <a:endParaRPr lang="en-US" sz="1050" dirty="0">
                        <a:latin typeface="DM Sans" charset="0"/>
                        <a:ea typeface="DM Sans" charset="0"/>
                        <a:cs typeface="DM Sans" charset="0"/>
                      </a:endParaRPr>
                    </a:p>
                  </a:txBody>
                  <a:tcPr marL="91440" marR="91440" marT="36576" marB="36576" anchor="ctr">
                    <a:lnL w="9525" cap="flat" cmpd="sng" algn="ctr">
                      <a:solidFill>
                        <a:srgbClr val="EDE1D9"/>
                      </a:solidFill>
                      <a:prstDash val="solid"/>
                      <a:round/>
                      <a:headEnd type="none" w="med" len="med"/>
                      <a:tailEnd type="none" w="med" len="med"/>
                    </a:lnL>
                    <a:lnR w="9525" cap="flat" cmpd="sng" algn="ctr">
                      <a:solidFill>
                        <a:srgbClr val="EDE1D9"/>
                      </a:solidFill>
                      <a:prstDash val="solid"/>
                      <a:round/>
                      <a:headEnd type="none" w="med" len="med"/>
                      <a:tailEnd type="none" w="med" len="med"/>
                    </a:lnR>
                    <a:lnT w="9525" cap="flat" cmpd="sng" algn="ctr">
                      <a:solidFill>
                        <a:srgbClr val="EDE1D9"/>
                      </a:solidFill>
                      <a:prstDash val="solid"/>
                      <a:round/>
                      <a:headEnd type="none" w="med" len="med"/>
                      <a:tailEnd type="none" w="med" len="med"/>
                    </a:lnT>
                    <a:lnB w="9525" cap="flat" cmpd="sng" algn="ctr">
                      <a:solidFill>
                        <a:srgbClr val="EDE1D9"/>
                      </a:solidFill>
                      <a:prstDash val="solid"/>
                      <a:round/>
                      <a:headEnd type="none" w="med" len="med"/>
                      <a:tailEnd type="none" w="med" len="med"/>
                    </a:lnB>
                    <a:solidFill>
                      <a:srgbClr val="E4F0E9"/>
                    </a:solidFill>
                  </a:tcPr>
                </a:tc>
              </a:tr>
              <a:tr h="731520">
                <a:tc>
                  <a:txBody>
                    <a:bodyPr/>
                    <a:lstStyle/>
                    <a:p>
                      <a:pPr indent="0" marL="0">
                        <a:buNone/>
                      </a:pPr>
                      <a:r>
                        <a:rPr lang="en-US" sz="1050" b="1" dirty="0">
                          <a:solidFill>
                            <a:srgbClr val="4A4039"/>
                          </a:solidFill>
                          <a:latin typeface="DM Sans" pitchFamily="34" charset="0"/>
                          <a:ea typeface="DM Sans" pitchFamily="34" charset="-122"/>
                          <a:cs typeface="DM Sans" pitchFamily="34" charset="-120"/>
                        </a:rPr>
                        <a:t>STP</a:t>
                      </a:r>
                      <a:endParaRPr lang="en-US" sz="1050" dirty="0">
                        <a:latin typeface="DM Sans" charset="0"/>
                        <a:ea typeface="DM Sans" charset="0"/>
                        <a:cs typeface="DM Sans" charset="0"/>
                      </a:endParaRPr>
                    </a:p>
                    <a:p>
                      <a:pPr indent="0" marL="0">
                        <a:buNone/>
                      </a:pPr>
                      <a:r>
                        <a:rPr lang="en-US" sz="1050" b="1" dirty="0">
                          <a:solidFill>
                            <a:srgbClr val="4A4039"/>
                          </a:solidFill>
                          <a:latin typeface="DM Sans" pitchFamily="34" charset="0"/>
                          <a:ea typeface="DM Sans" pitchFamily="34" charset="-122"/>
                          <a:cs typeface="DM Sans" pitchFamily="34" charset="-120"/>
                        </a:rPr>
                        <a:t>(Kotler y Armstrong, 2018)</a:t>
                      </a:r>
                      <a:endParaRPr lang="en-US" sz="1050" dirty="0">
                        <a:latin typeface="DM Sans" charset="0"/>
                        <a:ea typeface="DM Sans" charset="0"/>
                        <a:cs typeface="DM Sans" charset="0"/>
                      </a:endParaRPr>
                    </a:p>
                  </a:txBody>
                  <a:tcPr marL="91440" marR="91440" marT="36576" marB="36576" anchor="ctr">
                    <a:lnL w="9525" cap="flat" cmpd="sng" algn="ctr">
                      <a:solidFill>
                        <a:srgbClr val="EDE1D9"/>
                      </a:solidFill>
                      <a:prstDash val="solid"/>
                      <a:round/>
                      <a:headEnd type="none" w="med" len="med"/>
                      <a:tailEnd type="none" w="med" len="med"/>
                    </a:lnL>
                    <a:lnR w="9525" cap="flat" cmpd="sng" algn="ctr">
                      <a:solidFill>
                        <a:srgbClr val="EDE1D9"/>
                      </a:solidFill>
                      <a:prstDash val="solid"/>
                      <a:round/>
                      <a:headEnd type="none" w="med" len="med"/>
                      <a:tailEnd type="none" w="med" len="med"/>
                    </a:lnR>
                    <a:lnT w="9525" cap="flat" cmpd="sng" algn="ctr">
                      <a:solidFill>
                        <a:srgbClr val="EDE1D9"/>
                      </a:solidFill>
                      <a:prstDash val="solid"/>
                      <a:round/>
                      <a:headEnd type="none" w="med" len="med"/>
                      <a:tailEnd type="none" w="med" len="med"/>
                    </a:lnT>
                    <a:lnB w="9525" cap="flat" cmpd="sng" algn="ctr">
                      <a:solidFill>
                        <a:srgbClr val="EDE1D9"/>
                      </a:solidFill>
                      <a:prstDash val="solid"/>
                      <a:round/>
                      <a:headEnd type="none" w="med" len="med"/>
                      <a:tailEnd type="none" w="med" len="med"/>
                    </a:lnB>
                    <a:solidFill>
                      <a:srgbClr val="FFFFFF"/>
                    </a:solidFill>
                  </a:tcPr>
                </a:tc>
                <a:tc>
                  <a:txBody>
                    <a:bodyPr/>
                    <a:lstStyle/>
                    <a:p>
                      <a:pPr indent="0" marL="0">
                        <a:buNone/>
                      </a:pPr>
                      <a:r>
                        <a:rPr lang="en-US" sz="1050" dirty="0">
                          <a:solidFill>
                            <a:srgbClr val="4A4039"/>
                          </a:solidFill>
                          <a:latin typeface="DM Sans" pitchFamily="34" charset="0"/>
                          <a:ea typeface="DM Sans" pitchFamily="34" charset="-122"/>
                          <a:cs typeface="DM Sans" pitchFamily="34" charset="-120"/>
                        </a:rPr>
                        <a:t>Segmento prioritario: mujeres de 18-35 en Bogotá</a:t>
                      </a:r>
                      <a:endParaRPr lang="en-US" sz="1050" dirty="0">
                        <a:latin typeface="DM Sans" charset="0"/>
                        <a:ea typeface="DM Sans" charset="0"/>
                        <a:cs typeface="DM Sans" charset="0"/>
                      </a:endParaRPr>
                    </a:p>
                  </a:txBody>
                  <a:tcPr marL="91440" marR="91440" marT="36576" marB="36576" anchor="ctr">
                    <a:lnL w="9525" cap="flat" cmpd="sng" algn="ctr">
                      <a:solidFill>
                        <a:srgbClr val="EDE1D9"/>
                      </a:solidFill>
                      <a:prstDash val="solid"/>
                      <a:round/>
                      <a:headEnd type="none" w="med" len="med"/>
                      <a:tailEnd type="none" w="med" len="med"/>
                    </a:lnL>
                    <a:lnR w="9525" cap="flat" cmpd="sng" algn="ctr">
                      <a:solidFill>
                        <a:srgbClr val="EDE1D9"/>
                      </a:solidFill>
                      <a:prstDash val="solid"/>
                      <a:round/>
                      <a:headEnd type="none" w="med" len="med"/>
                      <a:tailEnd type="none" w="med" len="med"/>
                    </a:lnR>
                    <a:lnT w="9525" cap="flat" cmpd="sng" algn="ctr">
                      <a:solidFill>
                        <a:srgbClr val="EDE1D9"/>
                      </a:solidFill>
                      <a:prstDash val="solid"/>
                      <a:round/>
                      <a:headEnd type="none" w="med" len="med"/>
                      <a:tailEnd type="none" w="med" len="med"/>
                    </a:lnT>
                    <a:lnB w="9525" cap="flat" cmpd="sng" algn="ctr">
                      <a:solidFill>
                        <a:srgbClr val="EDE1D9"/>
                      </a:solidFill>
                      <a:prstDash val="solid"/>
                      <a:round/>
                      <a:headEnd type="none" w="med" len="med"/>
                      <a:tailEnd type="none" w="med" len="med"/>
                    </a:lnB>
                    <a:solidFill>
                      <a:srgbClr val="FFFFFF"/>
                    </a:solidFill>
                  </a:tcPr>
                </a:tc>
                <a:tc>
                  <a:txBody>
                    <a:bodyPr/>
                    <a:lstStyle/>
                    <a:p>
                      <a:pPr indent="0" marL="0">
                        <a:buNone/>
                      </a:pPr>
                      <a:r>
                        <a:rPr lang="en-US" sz="1050" dirty="0">
                          <a:solidFill>
                            <a:srgbClr val="4A4039"/>
                          </a:solidFill>
                          <a:latin typeface="DM Sans" pitchFamily="34" charset="0"/>
                          <a:ea typeface="DM Sans" pitchFamily="34" charset="-122"/>
                          <a:cs typeface="DM Sans" pitchFamily="34" charset="-120"/>
                        </a:rPr>
                        <a:t>La muestra fue solo universitarias; una maquilladora de moda no usa esponjas; solo 25,2 % paga el rango</a:t>
                      </a:r>
                      <a:endParaRPr lang="en-US" sz="1050" dirty="0">
                        <a:latin typeface="DM Sans" charset="0"/>
                        <a:ea typeface="DM Sans" charset="0"/>
                        <a:cs typeface="DM Sans" charset="0"/>
                      </a:endParaRPr>
                    </a:p>
                  </a:txBody>
                  <a:tcPr marL="91440" marR="91440" marT="36576" marB="36576" anchor="ctr">
                    <a:lnL w="9525" cap="flat" cmpd="sng" algn="ctr">
                      <a:solidFill>
                        <a:srgbClr val="EDE1D9"/>
                      </a:solidFill>
                      <a:prstDash val="solid"/>
                      <a:round/>
                      <a:headEnd type="none" w="med" len="med"/>
                      <a:tailEnd type="none" w="med" len="med"/>
                    </a:lnL>
                    <a:lnR w="9525" cap="flat" cmpd="sng" algn="ctr">
                      <a:solidFill>
                        <a:srgbClr val="EDE1D9"/>
                      </a:solidFill>
                      <a:prstDash val="solid"/>
                      <a:round/>
                      <a:headEnd type="none" w="med" len="med"/>
                      <a:tailEnd type="none" w="med" len="med"/>
                    </a:lnR>
                    <a:lnT w="9525" cap="flat" cmpd="sng" algn="ctr">
                      <a:solidFill>
                        <a:srgbClr val="EDE1D9"/>
                      </a:solidFill>
                      <a:prstDash val="solid"/>
                      <a:round/>
                      <a:headEnd type="none" w="med" len="med"/>
                      <a:tailEnd type="none" w="med" len="med"/>
                    </a:lnT>
                    <a:lnB w="9525" cap="flat" cmpd="sng" algn="ctr">
                      <a:solidFill>
                        <a:srgbClr val="EDE1D9"/>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A87C45"/>
                          </a:solidFill>
                          <a:latin typeface="DM Sans" pitchFamily="34" charset="0"/>
                          <a:ea typeface="DM Sans" pitchFamily="34" charset="-122"/>
                          <a:cs typeface="DM Sans" pitchFamily="34" charset="-120"/>
                        </a:rPr>
                        <a:t>Segmento por redefinir</a:t>
                      </a:r>
                      <a:endParaRPr lang="en-US" sz="1050" dirty="0">
                        <a:latin typeface="DM Sans" charset="0"/>
                        <a:ea typeface="DM Sans" charset="0"/>
                        <a:cs typeface="DM Sans" charset="0"/>
                      </a:endParaRPr>
                    </a:p>
                  </a:txBody>
                  <a:tcPr marL="91440" marR="91440" marT="36576" marB="36576" anchor="ctr">
                    <a:lnL w="9525" cap="flat" cmpd="sng" algn="ctr">
                      <a:solidFill>
                        <a:srgbClr val="EDE1D9"/>
                      </a:solidFill>
                      <a:prstDash val="solid"/>
                      <a:round/>
                      <a:headEnd type="none" w="med" len="med"/>
                      <a:tailEnd type="none" w="med" len="med"/>
                    </a:lnL>
                    <a:lnR w="9525" cap="flat" cmpd="sng" algn="ctr">
                      <a:solidFill>
                        <a:srgbClr val="EDE1D9"/>
                      </a:solidFill>
                      <a:prstDash val="solid"/>
                      <a:round/>
                      <a:headEnd type="none" w="med" len="med"/>
                      <a:tailEnd type="none" w="med" len="med"/>
                    </a:lnR>
                    <a:lnT w="9525" cap="flat" cmpd="sng" algn="ctr">
                      <a:solidFill>
                        <a:srgbClr val="EDE1D9"/>
                      </a:solidFill>
                      <a:prstDash val="solid"/>
                      <a:round/>
                      <a:headEnd type="none" w="med" len="med"/>
                      <a:tailEnd type="none" w="med" len="med"/>
                    </a:lnT>
                    <a:lnB w="9525" cap="flat" cmpd="sng" algn="ctr">
                      <a:solidFill>
                        <a:srgbClr val="EDE1D9"/>
                      </a:solidFill>
                      <a:prstDash val="solid"/>
                      <a:round/>
                      <a:headEnd type="none" w="med" len="med"/>
                      <a:tailEnd type="none" w="med" len="med"/>
                    </a:lnB>
                    <a:solidFill>
                      <a:srgbClr val="F3DCD8"/>
                    </a:solidFill>
                  </a:tcPr>
                </a:tc>
              </a:tr>
              <a:tr h="731520">
                <a:tc>
                  <a:txBody>
                    <a:bodyPr/>
                    <a:lstStyle/>
                    <a:p>
                      <a:pPr indent="0" marL="0">
                        <a:buNone/>
                      </a:pPr>
                      <a:r>
                        <a:rPr lang="en-US" sz="1050" b="1" dirty="0">
                          <a:solidFill>
                            <a:srgbClr val="4A4039"/>
                          </a:solidFill>
                          <a:latin typeface="DM Sans" pitchFamily="34" charset="0"/>
                          <a:ea typeface="DM Sans" pitchFamily="34" charset="-122"/>
                          <a:cs typeface="DM Sans" pitchFamily="34" charset="-120"/>
                        </a:rPr>
                        <a:t>Customer Lifetime Value</a:t>
                      </a:r>
                      <a:endParaRPr lang="en-US" sz="1050" dirty="0">
                        <a:latin typeface="DM Sans" charset="0"/>
                        <a:ea typeface="DM Sans" charset="0"/>
                        <a:cs typeface="DM Sans" charset="0"/>
                      </a:endParaRPr>
                    </a:p>
                    <a:p>
                      <a:pPr indent="0" marL="0">
                        <a:buNone/>
                      </a:pPr>
                      <a:r>
                        <a:rPr lang="en-US" sz="1050" b="1" dirty="0">
                          <a:solidFill>
                            <a:srgbClr val="4A4039"/>
                          </a:solidFill>
                          <a:latin typeface="DM Sans" pitchFamily="34" charset="0"/>
                          <a:ea typeface="DM Sans" pitchFamily="34" charset="-122"/>
                          <a:cs typeface="DM Sans" pitchFamily="34" charset="-120"/>
                        </a:rPr>
                        <a:t>(Gupta y Lehmann, 2003)</a:t>
                      </a:r>
                      <a:endParaRPr lang="en-US" sz="1050" dirty="0">
                        <a:latin typeface="DM Sans" charset="0"/>
                        <a:ea typeface="DM Sans" charset="0"/>
                        <a:cs typeface="DM Sans" charset="0"/>
                      </a:endParaRPr>
                    </a:p>
                  </a:txBody>
                  <a:tcPr marL="91440" marR="91440" marT="36576" marB="36576" anchor="ctr">
                    <a:lnL w="9525" cap="flat" cmpd="sng" algn="ctr">
                      <a:solidFill>
                        <a:srgbClr val="EDE1D9"/>
                      </a:solidFill>
                      <a:prstDash val="solid"/>
                      <a:round/>
                      <a:headEnd type="none" w="med" len="med"/>
                      <a:tailEnd type="none" w="med" len="med"/>
                    </a:lnL>
                    <a:lnR w="9525" cap="flat" cmpd="sng" algn="ctr">
                      <a:solidFill>
                        <a:srgbClr val="EDE1D9"/>
                      </a:solidFill>
                      <a:prstDash val="solid"/>
                      <a:round/>
                      <a:headEnd type="none" w="med" len="med"/>
                      <a:tailEnd type="none" w="med" len="med"/>
                    </a:lnR>
                    <a:lnT w="9525" cap="flat" cmpd="sng" algn="ctr">
                      <a:solidFill>
                        <a:srgbClr val="EDE1D9"/>
                      </a:solidFill>
                      <a:prstDash val="solid"/>
                      <a:round/>
                      <a:headEnd type="none" w="med" len="med"/>
                      <a:tailEnd type="none" w="med" len="med"/>
                    </a:lnT>
                    <a:lnB w="9525" cap="flat" cmpd="sng" algn="ctr">
                      <a:solidFill>
                        <a:srgbClr val="EDE1D9"/>
                      </a:solidFill>
                      <a:prstDash val="solid"/>
                      <a:round/>
                      <a:headEnd type="none" w="med" len="med"/>
                      <a:tailEnd type="none" w="med" len="med"/>
                    </a:lnB>
                    <a:solidFill>
                      <a:srgbClr val="FFFFFF"/>
                    </a:solidFill>
                  </a:tcPr>
                </a:tc>
                <a:tc>
                  <a:txBody>
                    <a:bodyPr/>
                    <a:lstStyle/>
                    <a:p>
                      <a:pPr indent="0" marL="0">
                        <a:buNone/>
                      </a:pPr>
                      <a:r>
                        <a:rPr lang="en-US" sz="1050" dirty="0">
                          <a:solidFill>
                            <a:srgbClr val="4A4039"/>
                          </a:solidFill>
                          <a:latin typeface="DM Sans" pitchFamily="34" charset="0"/>
                          <a:ea typeface="DM Sans" pitchFamily="34" charset="-122"/>
                          <a:cs typeface="DM Sans" pitchFamily="34" charset="-120"/>
                        </a:rPr>
                        <a:t>Recompra de cápsulas (Refill Club)</a:t>
                      </a:r>
                      <a:endParaRPr lang="en-US" sz="1050" dirty="0">
                        <a:latin typeface="DM Sans" charset="0"/>
                        <a:ea typeface="DM Sans" charset="0"/>
                        <a:cs typeface="DM Sans" charset="0"/>
                      </a:endParaRPr>
                    </a:p>
                  </a:txBody>
                  <a:tcPr marL="91440" marR="91440" marT="36576" marB="36576" anchor="ctr">
                    <a:lnL w="9525" cap="flat" cmpd="sng" algn="ctr">
                      <a:solidFill>
                        <a:srgbClr val="EDE1D9"/>
                      </a:solidFill>
                      <a:prstDash val="solid"/>
                      <a:round/>
                      <a:headEnd type="none" w="med" len="med"/>
                      <a:tailEnd type="none" w="med" len="med"/>
                    </a:lnL>
                    <a:lnR w="9525" cap="flat" cmpd="sng" algn="ctr">
                      <a:solidFill>
                        <a:srgbClr val="EDE1D9"/>
                      </a:solidFill>
                      <a:prstDash val="solid"/>
                      <a:round/>
                      <a:headEnd type="none" w="med" len="med"/>
                      <a:tailEnd type="none" w="med" len="med"/>
                    </a:lnR>
                    <a:lnT w="9525" cap="flat" cmpd="sng" algn="ctr">
                      <a:solidFill>
                        <a:srgbClr val="EDE1D9"/>
                      </a:solidFill>
                      <a:prstDash val="solid"/>
                      <a:round/>
                      <a:headEnd type="none" w="med" len="med"/>
                      <a:tailEnd type="none" w="med" len="med"/>
                    </a:lnT>
                    <a:lnB w="9525" cap="flat" cmpd="sng" algn="ctr">
                      <a:solidFill>
                        <a:srgbClr val="EDE1D9"/>
                      </a:solidFill>
                      <a:prstDash val="solid"/>
                      <a:round/>
                      <a:headEnd type="none" w="med" len="med"/>
                      <a:tailEnd type="none" w="med" len="med"/>
                    </a:lnB>
                    <a:solidFill>
                      <a:srgbClr val="FFFFFF"/>
                    </a:solidFill>
                  </a:tcPr>
                </a:tc>
                <a:tc>
                  <a:txBody>
                    <a:bodyPr/>
                    <a:lstStyle/>
                    <a:p>
                      <a:pPr indent="0" marL="0">
                        <a:buNone/>
                      </a:pPr>
                      <a:r>
                        <a:rPr lang="en-US" sz="1050" dirty="0">
                          <a:solidFill>
                            <a:srgbClr val="4A4039"/>
                          </a:solidFill>
                          <a:latin typeface="DM Sans" pitchFamily="34" charset="0"/>
                          <a:ea typeface="DM Sans" pitchFamily="34" charset="-122"/>
                          <a:cs typeface="DM Sans" pitchFamily="34" charset="-120"/>
                        </a:rPr>
                        <a:t>No se midió en la encuesta ni en las entrevistas</a:t>
                      </a:r>
                      <a:endParaRPr lang="en-US" sz="1050" dirty="0">
                        <a:latin typeface="DM Sans" charset="0"/>
                        <a:ea typeface="DM Sans" charset="0"/>
                        <a:cs typeface="DM Sans" charset="0"/>
                      </a:endParaRPr>
                    </a:p>
                  </a:txBody>
                  <a:tcPr marL="91440" marR="91440" marT="36576" marB="36576" anchor="ctr">
                    <a:lnL w="9525" cap="flat" cmpd="sng" algn="ctr">
                      <a:solidFill>
                        <a:srgbClr val="EDE1D9"/>
                      </a:solidFill>
                      <a:prstDash val="solid"/>
                      <a:round/>
                      <a:headEnd type="none" w="med" len="med"/>
                      <a:tailEnd type="none" w="med" len="med"/>
                    </a:lnL>
                    <a:lnR w="9525" cap="flat" cmpd="sng" algn="ctr">
                      <a:solidFill>
                        <a:srgbClr val="EDE1D9"/>
                      </a:solidFill>
                      <a:prstDash val="solid"/>
                      <a:round/>
                      <a:headEnd type="none" w="med" len="med"/>
                      <a:tailEnd type="none" w="med" len="med"/>
                    </a:lnR>
                    <a:lnT w="9525" cap="flat" cmpd="sng" algn="ctr">
                      <a:solidFill>
                        <a:srgbClr val="EDE1D9"/>
                      </a:solidFill>
                      <a:prstDash val="solid"/>
                      <a:round/>
                      <a:headEnd type="none" w="med" len="med"/>
                      <a:tailEnd type="none" w="med" len="med"/>
                    </a:lnT>
                    <a:lnB w="9525" cap="flat" cmpd="sng" algn="ctr">
                      <a:solidFill>
                        <a:srgbClr val="EDE1D9"/>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9A3B33"/>
                          </a:solidFill>
                          <a:latin typeface="DM Sans" pitchFamily="34" charset="0"/>
                          <a:ea typeface="DM Sans" pitchFamily="34" charset="-122"/>
                          <a:cs typeface="DM Sans" pitchFamily="34" charset="-120"/>
                        </a:rPr>
                        <a:t>Sin evidencia aún</a:t>
                      </a:r>
                      <a:endParaRPr lang="en-US" sz="1050" dirty="0">
                        <a:latin typeface="DM Sans" charset="0"/>
                        <a:ea typeface="DM Sans" charset="0"/>
                        <a:cs typeface="DM Sans" charset="0"/>
                      </a:endParaRPr>
                    </a:p>
                  </a:txBody>
                  <a:tcPr marL="91440" marR="91440" marT="36576" marB="36576" anchor="ctr">
                    <a:lnL w="9525" cap="flat" cmpd="sng" algn="ctr">
                      <a:solidFill>
                        <a:srgbClr val="EDE1D9"/>
                      </a:solidFill>
                      <a:prstDash val="solid"/>
                      <a:round/>
                      <a:headEnd type="none" w="med" len="med"/>
                      <a:tailEnd type="none" w="med" len="med"/>
                    </a:lnL>
                    <a:lnR w="9525" cap="flat" cmpd="sng" algn="ctr">
                      <a:solidFill>
                        <a:srgbClr val="EDE1D9"/>
                      </a:solidFill>
                      <a:prstDash val="solid"/>
                      <a:round/>
                      <a:headEnd type="none" w="med" len="med"/>
                      <a:tailEnd type="none" w="med" len="med"/>
                    </a:lnR>
                    <a:lnT w="9525" cap="flat" cmpd="sng" algn="ctr">
                      <a:solidFill>
                        <a:srgbClr val="EDE1D9"/>
                      </a:solidFill>
                      <a:prstDash val="solid"/>
                      <a:round/>
                      <a:headEnd type="none" w="med" len="med"/>
                      <a:tailEnd type="none" w="med" len="med"/>
                    </a:lnT>
                    <a:lnB w="9525" cap="flat" cmpd="sng" algn="ctr">
                      <a:solidFill>
                        <a:srgbClr val="EDE1D9"/>
                      </a:solidFill>
                      <a:prstDash val="solid"/>
                      <a:round/>
                      <a:headEnd type="none" w="med" len="med"/>
                      <a:tailEnd type="none" w="med" len="med"/>
                    </a:lnB>
                    <a:solidFill>
                      <a:srgbClr val="F6DDDA"/>
                    </a:solidFill>
                  </a:tcPr>
                </a:tc>
              </a:tr>
            </a:tbl>
          </a:graphicData>
        </a:graphic>
      </p:graphicFrame>
      <p:sp>
        <p:nvSpPr>
          <p:cNvPr id="5" name="Text 2"/>
          <p:cNvSpPr txBox="1"/>
          <p:nvPr/>
        </p:nvSpPr>
        <p:spPr>
          <a:xfrm>
            <a:off x="548640" y="6355080"/>
            <a:ext cx="11094415" cy="365760"/>
          </a:xfrm>
          <a:prstGeom prst="rect">
            <a:avLst/>
          </a:prstGeom>
          <a:noFill/>
          <a:ln/>
        </p:spPr>
        <p:txBody>
          <a:bodyPr wrap="square" lIns="0" tIns="0" rIns="0" bIns="0" rtlCol="0" anchor="ctr"/>
          <a:lstStyle/>
          <a:p>
            <a:pPr indent="0" marL="0">
              <a:buNone/>
            </a:pPr>
            <a:r>
              <a:rPr lang="en-US" sz="1100" dirty="0">
                <a:solidFill>
                  <a:srgbClr val="8A7A73"/>
                </a:solidFill>
                <a:latin typeface="DM Sans" pitchFamily="34" charset="0"/>
                <a:ea typeface="DM Sans" pitchFamily="34" charset="-122"/>
                <a:cs typeface="DM Sans" pitchFamily="34" charset="-120"/>
              </a:rPr>
              <a:t>Fuente: marco teórico del documento del proyecto; encuesta (n = 147) y entrevistas de elaboración propia. Evidencia exploratoria: contrasta, no prueba, las teorías.</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241F1D"/>
        </a:solidFill>
      </p:bgPr>
    </p:bg>
    <p:spTree>
      <p:nvGrpSpPr>
        <p:cNvPr id="1" name=""/>
        <p:cNvGrpSpPr/>
        <p:nvPr/>
      </p:nvGrpSpPr>
      <p:grpSpPr>
        <a:xfrm>
          <a:off x="0" y="0"/>
          <a:ext cx="0" cy="0"/>
          <a:chOff x="0" y="0"/>
          <a:chExt cx="0" cy="0"/>
        </a:xfrm>
      </p:grpSpPr>
      <p:sp>
        <p:nvSpPr>
          <p:cNvPr id="2" name="Shape 0"/>
          <p:cNvSpPr/>
          <p:nvPr/>
        </p:nvSpPr>
        <p:spPr>
          <a:xfrm>
            <a:off x="8686800" y="-2011680"/>
            <a:ext cx="4572000" cy="4572000"/>
          </a:xfrm>
          <a:prstGeom prst="ellipse">
            <a:avLst/>
          </a:prstGeom>
          <a:solidFill>
            <a:srgbClr val="D98C86">
              <a:alpha val="30000"/>
            </a:srgbClr>
          </a:solidFill>
          <a:ln/>
        </p:spPr>
      </p:sp>
      <p:sp>
        <p:nvSpPr>
          <p:cNvPr id="3" name="Text 1"/>
          <p:cNvSpPr txBox="1"/>
          <p:nvPr/>
        </p:nvSpPr>
        <p:spPr>
          <a:xfrm>
            <a:off x="0" y="457200"/>
            <a:ext cx="12191695" cy="320040"/>
          </a:xfrm>
          <a:prstGeom prst="rect">
            <a:avLst/>
          </a:prstGeom>
          <a:noFill/>
          <a:ln/>
        </p:spPr>
        <p:txBody>
          <a:bodyPr wrap="square" lIns="0" tIns="0" rIns="0" bIns="0" rtlCol="0" anchor="ctr"/>
          <a:lstStyle/>
          <a:p>
            <a:pPr algn="ctr" indent="0" marL="0">
              <a:buNone/>
            </a:pPr>
            <a:r>
              <a:rPr lang="en-US" sz="1400" b="1" spc="300" kern="0" dirty="0">
                <a:solidFill>
                  <a:srgbClr val="D98C86"/>
                </a:solidFill>
                <a:latin typeface="DM Sans" pitchFamily="34" charset="0"/>
                <a:ea typeface="DM Sans" pitchFamily="34" charset="-122"/>
                <a:cs typeface="DM Sans" pitchFamily="34" charset="-120"/>
              </a:rPr>
              <a:t>PROPUESTA DE VALOR</a:t>
            </a:r>
            <a:endParaRPr lang="en-US" sz="1400" dirty="0"/>
          </a:p>
        </p:txBody>
      </p:sp>
      <p:sp>
        <p:nvSpPr>
          <p:cNvPr id="4" name="Text 2"/>
          <p:cNvSpPr txBox="1"/>
          <p:nvPr/>
        </p:nvSpPr>
        <p:spPr>
          <a:xfrm>
            <a:off x="0" y="777240"/>
            <a:ext cx="12191695" cy="868680"/>
          </a:xfrm>
          <a:prstGeom prst="rect">
            <a:avLst/>
          </a:prstGeom>
          <a:noFill/>
          <a:ln/>
        </p:spPr>
        <p:txBody>
          <a:bodyPr wrap="square" lIns="0" tIns="0" rIns="0" bIns="0" rtlCol="0" anchor="ctr"/>
          <a:lstStyle/>
          <a:p>
            <a:pPr algn="ctr" indent="0" marL="0">
              <a:buNone/>
            </a:pPr>
            <a:r>
              <a:rPr lang="en-US" sz="5200" b="1" dirty="0">
                <a:solidFill>
                  <a:srgbClr val="FBF5F1"/>
                </a:solidFill>
                <a:latin typeface="Cormorant Garamond" pitchFamily="34" charset="0"/>
                <a:ea typeface="Cormorant Garamond" pitchFamily="34" charset="-122"/>
                <a:cs typeface="Cormorant Garamond" pitchFamily="34" charset="-120"/>
              </a:rPr>
              <a:t>BLENDPURE</a:t>
            </a:r>
            <a:endParaRPr lang="en-US" sz="5200" dirty="0"/>
          </a:p>
        </p:txBody>
      </p:sp>
      <p:sp>
        <p:nvSpPr>
          <p:cNvPr id="5" name="Text 3"/>
          <p:cNvSpPr txBox="1"/>
          <p:nvPr/>
        </p:nvSpPr>
        <p:spPr>
          <a:xfrm>
            <a:off x="0" y="1645920"/>
            <a:ext cx="12191695" cy="457200"/>
          </a:xfrm>
          <a:prstGeom prst="rect">
            <a:avLst/>
          </a:prstGeom>
          <a:noFill/>
          <a:ln/>
        </p:spPr>
        <p:txBody>
          <a:bodyPr wrap="square" lIns="0" tIns="0" rIns="0" bIns="0" rtlCol="0" anchor="ctr"/>
          <a:lstStyle/>
          <a:p>
            <a:pPr algn="ctr" indent="0" marL="0">
              <a:buNone/>
            </a:pPr>
            <a:r>
              <a:rPr lang="en-US" sz="2400" i="1" dirty="0">
                <a:solidFill>
                  <a:srgbClr val="E6D4CC"/>
                </a:solidFill>
                <a:latin typeface="Cormorant Garamond" pitchFamily="34" charset="0"/>
                <a:ea typeface="Cormorant Garamond" pitchFamily="34" charset="-122"/>
                <a:cs typeface="Cormorant Garamond" pitchFamily="34" charset="-120"/>
              </a:rPr>
              <a:t>Limpia. Enjuaga. Desinfecta. Seca.</a:t>
            </a:r>
            <a:endParaRPr lang="en-US" sz="2400" dirty="0"/>
          </a:p>
        </p:txBody>
      </p:sp>
      <p:sp>
        <p:nvSpPr>
          <p:cNvPr id="6" name="Shape 4"/>
          <p:cNvSpPr/>
          <p:nvPr/>
        </p:nvSpPr>
        <p:spPr>
          <a:xfrm>
            <a:off x="548640" y="2377440"/>
            <a:ext cx="3545738" cy="1920240"/>
          </a:xfrm>
          <a:prstGeom prst="roundRect">
            <a:avLst>
              <a:gd name="adj" fmla="val 5714"/>
            </a:avLst>
          </a:prstGeom>
          <a:solidFill>
            <a:srgbClr val="2E2825"/>
          </a:solidFill>
          <a:ln/>
        </p:spPr>
      </p:sp>
      <p:sp>
        <p:nvSpPr>
          <p:cNvPr id="7" name="Text 5"/>
          <p:cNvSpPr txBox="1"/>
          <p:nvPr/>
        </p:nvSpPr>
        <p:spPr>
          <a:xfrm>
            <a:off x="731520" y="2651760"/>
            <a:ext cx="3179978" cy="457200"/>
          </a:xfrm>
          <a:prstGeom prst="rect">
            <a:avLst/>
          </a:prstGeom>
          <a:noFill/>
          <a:ln/>
        </p:spPr>
        <p:txBody>
          <a:bodyPr wrap="square" lIns="0" tIns="0" rIns="0" bIns="0" rtlCol="0" anchor="ctr"/>
          <a:lstStyle/>
          <a:p>
            <a:pPr algn="ctr" indent="0" marL="0">
              <a:buNone/>
            </a:pPr>
            <a:r>
              <a:rPr lang="en-US" sz="1600" b="1" dirty="0">
                <a:solidFill>
                  <a:srgbClr val="F5E9E2"/>
                </a:solidFill>
                <a:latin typeface="DM Sans" pitchFamily="34" charset="0"/>
                <a:ea typeface="DM Sans" pitchFamily="34" charset="-122"/>
                <a:cs typeface="DM Sans" pitchFamily="34" charset="-120"/>
              </a:rPr>
              <a:t>Ahorro de tiempo</a:t>
            </a:r>
            <a:endParaRPr lang="en-US" sz="1600" dirty="0"/>
          </a:p>
        </p:txBody>
      </p:sp>
      <p:sp>
        <p:nvSpPr>
          <p:cNvPr id="8" name="Text 6"/>
          <p:cNvSpPr txBox="1"/>
          <p:nvPr/>
        </p:nvSpPr>
        <p:spPr>
          <a:xfrm>
            <a:off x="777240" y="3200400"/>
            <a:ext cx="3088538" cy="1005840"/>
          </a:xfrm>
          <a:prstGeom prst="rect">
            <a:avLst/>
          </a:prstGeom>
          <a:noFill/>
          <a:ln/>
        </p:spPr>
        <p:txBody>
          <a:bodyPr wrap="square" lIns="0" tIns="0" rIns="0" bIns="0" rtlCol="0" anchor="ctr"/>
          <a:lstStyle/>
          <a:p>
            <a:pPr algn="ctr" indent="0" marL="0">
              <a:buNone/>
            </a:pPr>
            <a:r>
              <a:rPr lang="en-US" sz="1250" dirty="0">
                <a:solidFill>
                  <a:srgbClr val="C9B8B2"/>
                </a:solidFill>
                <a:latin typeface="DM Sans" pitchFamily="34" charset="0"/>
                <a:ea typeface="DM Sans" pitchFamily="34" charset="-122"/>
                <a:cs typeface="DM Sans" pitchFamily="34" charset="-120"/>
              </a:rPr>
              <a:t>Un solo ciclo automático reemplaza mojar, jabonar, frotar, enjuagar y esperar horas a que seque.</a:t>
            </a:r>
            <a:endParaRPr lang="en-US" sz="1250" dirty="0"/>
          </a:p>
        </p:txBody>
      </p:sp>
      <p:sp>
        <p:nvSpPr>
          <p:cNvPr id="9" name="Shape 7"/>
          <p:cNvSpPr/>
          <p:nvPr/>
        </p:nvSpPr>
        <p:spPr>
          <a:xfrm>
            <a:off x="4322978" y="2377440"/>
            <a:ext cx="3545738" cy="1920240"/>
          </a:xfrm>
          <a:prstGeom prst="roundRect">
            <a:avLst>
              <a:gd name="adj" fmla="val 5714"/>
            </a:avLst>
          </a:prstGeom>
          <a:solidFill>
            <a:srgbClr val="2E2825"/>
          </a:solidFill>
          <a:ln/>
        </p:spPr>
      </p:sp>
      <p:sp>
        <p:nvSpPr>
          <p:cNvPr id="10" name="Text 8"/>
          <p:cNvSpPr txBox="1"/>
          <p:nvPr/>
        </p:nvSpPr>
        <p:spPr>
          <a:xfrm>
            <a:off x="4505858" y="2651760"/>
            <a:ext cx="3179978" cy="457200"/>
          </a:xfrm>
          <a:prstGeom prst="rect">
            <a:avLst/>
          </a:prstGeom>
          <a:noFill/>
          <a:ln/>
        </p:spPr>
        <p:txBody>
          <a:bodyPr wrap="square" lIns="0" tIns="0" rIns="0" bIns="0" rtlCol="0" anchor="ctr"/>
          <a:lstStyle/>
          <a:p>
            <a:pPr algn="ctr" indent="0" marL="0">
              <a:buNone/>
            </a:pPr>
            <a:r>
              <a:rPr lang="en-US" sz="1600" b="1" dirty="0">
                <a:solidFill>
                  <a:srgbClr val="F5E9E2"/>
                </a:solidFill>
                <a:latin typeface="DM Sans" pitchFamily="34" charset="0"/>
                <a:ea typeface="DM Sans" pitchFamily="34" charset="-122"/>
                <a:cs typeface="DM Sans" pitchFamily="34" charset="-120"/>
              </a:rPr>
              <a:t>Simplicidad</a:t>
            </a:r>
            <a:endParaRPr lang="en-US" sz="1600" dirty="0"/>
          </a:p>
        </p:txBody>
      </p:sp>
      <p:sp>
        <p:nvSpPr>
          <p:cNvPr id="11" name="Text 9"/>
          <p:cNvSpPr txBox="1"/>
          <p:nvPr/>
        </p:nvSpPr>
        <p:spPr>
          <a:xfrm>
            <a:off x="4551578" y="3200400"/>
            <a:ext cx="3088538" cy="1005840"/>
          </a:xfrm>
          <a:prstGeom prst="rect">
            <a:avLst/>
          </a:prstGeom>
          <a:noFill/>
          <a:ln/>
        </p:spPr>
        <p:txBody>
          <a:bodyPr wrap="square" lIns="0" tIns="0" rIns="0" bIns="0" rtlCol="0" anchor="ctr"/>
          <a:lstStyle/>
          <a:p>
            <a:pPr algn="ctr" indent="0" marL="0">
              <a:buNone/>
            </a:pPr>
            <a:r>
              <a:rPr lang="en-US" sz="1250" dirty="0">
                <a:solidFill>
                  <a:srgbClr val="C9B8B2"/>
                </a:solidFill>
                <a:latin typeface="DM Sans" pitchFamily="34" charset="0"/>
                <a:ea typeface="DM Sans" pitchFamily="34" charset="-122"/>
                <a:cs typeface="DM Sans" pitchFamily="34" charset="-120"/>
              </a:rPr>
              <a:t>Un proceso sin fricción: la usuaria no tiene que pensar en el paso a paso.</a:t>
            </a:r>
            <a:endParaRPr lang="en-US" sz="1250" dirty="0"/>
          </a:p>
        </p:txBody>
      </p:sp>
      <p:sp>
        <p:nvSpPr>
          <p:cNvPr id="12" name="Shape 10"/>
          <p:cNvSpPr/>
          <p:nvPr/>
        </p:nvSpPr>
        <p:spPr>
          <a:xfrm>
            <a:off x="8097317" y="2377440"/>
            <a:ext cx="3545738" cy="1920240"/>
          </a:xfrm>
          <a:prstGeom prst="roundRect">
            <a:avLst>
              <a:gd name="adj" fmla="val 5714"/>
            </a:avLst>
          </a:prstGeom>
          <a:solidFill>
            <a:srgbClr val="2E2825"/>
          </a:solidFill>
          <a:ln/>
        </p:spPr>
      </p:sp>
      <p:sp>
        <p:nvSpPr>
          <p:cNvPr id="13" name="Text 11"/>
          <p:cNvSpPr txBox="1"/>
          <p:nvPr/>
        </p:nvSpPr>
        <p:spPr>
          <a:xfrm>
            <a:off x="8280197" y="2651760"/>
            <a:ext cx="3179978" cy="457200"/>
          </a:xfrm>
          <a:prstGeom prst="rect">
            <a:avLst/>
          </a:prstGeom>
          <a:noFill/>
          <a:ln/>
        </p:spPr>
        <p:txBody>
          <a:bodyPr wrap="square" lIns="0" tIns="0" rIns="0" bIns="0" rtlCol="0" anchor="ctr"/>
          <a:lstStyle/>
          <a:p>
            <a:pPr algn="ctr" indent="0" marL="0">
              <a:buNone/>
            </a:pPr>
            <a:r>
              <a:rPr lang="en-US" sz="1600" b="1" dirty="0">
                <a:solidFill>
                  <a:srgbClr val="F5E9E2"/>
                </a:solidFill>
                <a:latin typeface="DM Sans" pitchFamily="34" charset="0"/>
                <a:ea typeface="DM Sans" pitchFamily="34" charset="-122"/>
                <a:cs typeface="DM Sans" pitchFamily="34" charset="-120"/>
              </a:rPr>
              <a:t>Cuidado de la herramienta</a:t>
            </a:r>
            <a:endParaRPr lang="en-US" sz="1600" dirty="0"/>
          </a:p>
        </p:txBody>
      </p:sp>
      <p:sp>
        <p:nvSpPr>
          <p:cNvPr id="14" name="Text 12"/>
          <p:cNvSpPr txBox="1"/>
          <p:nvPr/>
        </p:nvSpPr>
        <p:spPr>
          <a:xfrm>
            <a:off x="8325917" y="3200400"/>
            <a:ext cx="3088538" cy="1005840"/>
          </a:xfrm>
          <a:prstGeom prst="rect">
            <a:avLst/>
          </a:prstGeom>
          <a:noFill/>
          <a:ln/>
        </p:spPr>
        <p:txBody>
          <a:bodyPr wrap="square" lIns="0" tIns="0" rIns="0" bIns="0" rtlCol="0" anchor="ctr"/>
          <a:lstStyle/>
          <a:p>
            <a:pPr algn="ctr" indent="0" marL="0">
              <a:buNone/>
            </a:pPr>
            <a:r>
              <a:rPr lang="en-US" sz="1250" dirty="0">
                <a:solidFill>
                  <a:srgbClr val="C9B8B2"/>
                </a:solidFill>
                <a:latin typeface="DM Sans" pitchFamily="34" charset="0"/>
                <a:ea typeface="DM Sans" pitchFamily="34" charset="-122"/>
                <a:cs typeface="DM Sans" pitchFamily="34" charset="-120"/>
              </a:rPr>
              <a:t>Un ciclo pensado específicamente para el material de la esponja, no uno genérico.</a:t>
            </a:r>
            <a:endParaRPr lang="en-US" sz="1250" dirty="0"/>
          </a:p>
        </p:txBody>
      </p:sp>
      <p:sp>
        <p:nvSpPr>
          <p:cNvPr id="15" name="Shape 13"/>
          <p:cNvSpPr/>
          <p:nvPr/>
        </p:nvSpPr>
        <p:spPr>
          <a:xfrm>
            <a:off x="548640" y="4663440"/>
            <a:ext cx="11094415" cy="777240"/>
          </a:xfrm>
          <a:prstGeom prst="roundRect">
            <a:avLst>
              <a:gd name="adj" fmla="val 11765"/>
            </a:avLst>
          </a:prstGeom>
          <a:solidFill>
            <a:srgbClr val="3A332F"/>
          </a:solidFill>
          <a:ln/>
        </p:spPr>
      </p:sp>
      <p:sp>
        <p:nvSpPr>
          <p:cNvPr id="16" name="Text 14"/>
          <p:cNvSpPr txBox="1"/>
          <p:nvPr/>
        </p:nvSpPr>
        <p:spPr>
          <a:xfrm>
            <a:off x="822960" y="4663440"/>
            <a:ext cx="10545775" cy="777240"/>
          </a:xfrm>
          <a:prstGeom prst="rect">
            <a:avLst/>
          </a:prstGeom>
          <a:noFill/>
          <a:ln/>
        </p:spPr>
        <p:txBody>
          <a:bodyPr wrap="square" lIns="0" tIns="0" rIns="0" bIns="0" rtlCol="0" anchor="ctr"/>
          <a:lstStyle/>
          <a:p>
            <a:pPr algn="l" indent="0" marL="0">
              <a:buNone/>
            </a:pPr>
            <a:r>
              <a:rPr lang="en-US" sz="1300" dirty="0">
                <a:solidFill>
                  <a:srgbClr val="C9B8B2"/>
                </a:solidFill>
                <a:latin typeface="DM Sans" pitchFamily="34" charset="0"/>
                <a:ea typeface="DM Sans" pitchFamily="34" charset="-122"/>
                <a:cs typeface="DM Sans" pitchFamily="34" charset="-120"/>
              </a:rPr>
              <a:t>No se presentan afirmaciones sanitarias exageradas ni porcentajes de reducción de bacterias: la eficacia técnica de BlendPure aún no ha sido validada.</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BF5F1"/>
        </a:solidFill>
      </p:bgPr>
    </p:bg>
    <p:spTree>
      <p:nvGrpSpPr>
        <p:cNvPr id="1" name=""/>
        <p:cNvGrpSpPr/>
        <p:nvPr/>
      </p:nvGrpSpPr>
      <p:grpSpPr>
        <a:xfrm>
          <a:off x="0" y="0"/>
          <a:ext cx="0" cy="0"/>
          <a:chOff x="0" y="0"/>
          <a:chExt cx="0" cy="0"/>
        </a:xfrm>
      </p:grpSpPr>
      <p:sp>
        <p:nvSpPr>
          <p:cNvPr id="2" name="Text 0"/>
          <p:cNvSpPr txBox="1"/>
          <p:nvPr/>
        </p:nvSpPr>
        <p:spPr>
          <a:xfrm>
            <a:off x="548640" y="502920"/>
            <a:ext cx="11094415" cy="320040"/>
          </a:xfrm>
          <a:prstGeom prst="rect">
            <a:avLst/>
          </a:prstGeom>
          <a:noFill/>
          <a:ln/>
        </p:spPr>
        <p:txBody>
          <a:bodyPr wrap="square" lIns="0" tIns="0" rIns="0" bIns="0" rtlCol="0" anchor="ctr"/>
          <a:lstStyle/>
          <a:p>
            <a:pPr indent="0" marL="0">
              <a:buNone/>
            </a:pPr>
            <a:r>
              <a:rPr lang="en-US" sz="1300" b="1" spc="200" kern="0" dirty="0">
                <a:solidFill>
                  <a:srgbClr val="A87C45"/>
                </a:solidFill>
                <a:latin typeface="DM Sans" pitchFamily="34" charset="0"/>
                <a:ea typeface="DM Sans" pitchFamily="34" charset="-122"/>
                <a:cs typeface="DM Sans" pitchFamily="34" charset="-120"/>
              </a:rPr>
              <a:t>RESULTADOS · ENCUESTA PRIMARIA 1/4</a:t>
            </a:r>
            <a:endParaRPr lang="en-US" sz="1300" dirty="0"/>
          </a:p>
        </p:txBody>
      </p:sp>
      <p:sp>
        <p:nvSpPr>
          <p:cNvPr id="3" name="Text 1"/>
          <p:cNvSpPr txBox="1"/>
          <p:nvPr/>
        </p:nvSpPr>
        <p:spPr>
          <a:xfrm>
            <a:off x="548640" y="822960"/>
            <a:ext cx="11094415" cy="822960"/>
          </a:xfrm>
          <a:prstGeom prst="rect">
            <a:avLst/>
          </a:prstGeom>
          <a:noFill/>
          <a:ln/>
        </p:spPr>
        <p:txBody>
          <a:bodyPr wrap="square" lIns="0" tIns="0" rIns="0" bIns="0" rtlCol="0" anchor="ctr"/>
          <a:lstStyle/>
          <a:p>
            <a:pPr algn="l" indent="0" marL="0">
              <a:buNone/>
            </a:pPr>
            <a:r>
              <a:rPr lang="en-US" sz="3000" b="1" dirty="0">
                <a:solidFill>
                  <a:srgbClr val="241F1D"/>
                </a:solidFill>
                <a:latin typeface="Cormorant Garamond" pitchFamily="34" charset="0"/>
                <a:ea typeface="Cormorant Garamond" pitchFamily="34" charset="-122"/>
                <a:cs typeface="Cormorant Garamond" pitchFamily="34" charset="-120"/>
              </a:rPr>
              <a:t>El hábito de uso existe; el de limpieza, no</a:t>
            </a:r>
            <a:endParaRPr lang="en-US" sz="3000" dirty="0"/>
          </a:p>
        </p:txBody>
      </p:sp>
      <p:sp>
        <p:nvSpPr>
          <p:cNvPr id="4" name="Shape 2"/>
          <p:cNvSpPr/>
          <p:nvPr/>
        </p:nvSpPr>
        <p:spPr>
          <a:xfrm>
            <a:off x="548640" y="1783080"/>
            <a:ext cx="3383280" cy="1325880"/>
          </a:xfrm>
          <a:prstGeom prst="roundRect">
            <a:avLst>
              <a:gd name="adj" fmla="val 8276"/>
            </a:avLst>
          </a:prstGeom>
          <a:solidFill>
            <a:srgbClr val="FFFFFF"/>
          </a:solidFill>
          <a:ln w="12700">
            <a:solidFill>
              <a:srgbClr val="EDE1D9"/>
            </a:solidFill>
            <a:prstDash val="solid"/>
          </a:ln>
        </p:spPr>
      </p:sp>
      <p:sp>
        <p:nvSpPr>
          <p:cNvPr id="5" name="Text 3"/>
          <p:cNvSpPr txBox="1"/>
          <p:nvPr/>
        </p:nvSpPr>
        <p:spPr>
          <a:xfrm>
            <a:off x="548640" y="1874520"/>
            <a:ext cx="3383280" cy="685800"/>
          </a:xfrm>
          <a:prstGeom prst="rect">
            <a:avLst/>
          </a:prstGeom>
          <a:noFill/>
          <a:ln/>
        </p:spPr>
        <p:txBody>
          <a:bodyPr wrap="square" lIns="0" tIns="0" rIns="0" bIns="0" rtlCol="0" anchor="ctr"/>
          <a:lstStyle/>
          <a:p>
            <a:pPr algn="ctr" indent="0" marL="0">
              <a:buNone/>
            </a:pPr>
            <a:r>
              <a:rPr lang="en-US" sz="4000" b="1" dirty="0">
                <a:solidFill>
                  <a:srgbClr val="6B4A43"/>
                </a:solidFill>
                <a:latin typeface="Cormorant Garamond" pitchFamily="34" charset="0"/>
                <a:ea typeface="Cormorant Garamond" pitchFamily="34" charset="-122"/>
                <a:cs typeface="Cormorant Garamond" pitchFamily="34" charset="-120"/>
              </a:rPr>
              <a:t>60,5 %</a:t>
            </a:r>
            <a:endParaRPr lang="en-US" sz="4000" dirty="0"/>
          </a:p>
        </p:txBody>
      </p:sp>
      <p:sp>
        <p:nvSpPr>
          <p:cNvPr id="6" name="Text 4"/>
          <p:cNvSpPr txBox="1"/>
          <p:nvPr/>
        </p:nvSpPr>
        <p:spPr>
          <a:xfrm>
            <a:off x="685800" y="2532888"/>
            <a:ext cx="3108960" cy="548640"/>
          </a:xfrm>
          <a:prstGeom prst="rect">
            <a:avLst/>
          </a:prstGeom>
          <a:noFill/>
          <a:ln/>
        </p:spPr>
        <p:txBody>
          <a:bodyPr wrap="square" lIns="0" tIns="0" rIns="0" bIns="0" rtlCol="0" anchor="ctr"/>
          <a:lstStyle/>
          <a:p>
            <a:pPr algn="ctr" indent="0" marL="0">
              <a:buNone/>
            </a:pPr>
            <a:r>
              <a:rPr lang="en-US" sz="1150" dirty="0">
                <a:solidFill>
                  <a:srgbClr val="5B5250"/>
                </a:solidFill>
                <a:latin typeface="DM Sans" pitchFamily="34" charset="0"/>
                <a:ea typeface="DM Sans" pitchFamily="34" charset="-122"/>
                <a:cs typeface="DM Sans" pitchFamily="34" charset="-120"/>
              </a:rPr>
              <a:t>usa la esponja todos los días o 1-2 veces por semana (P1)</a:t>
            </a:r>
            <a:endParaRPr lang="en-US" sz="1150" dirty="0"/>
          </a:p>
        </p:txBody>
      </p:sp>
      <p:sp>
        <p:nvSpPr>
          <p:cNvPr id="7" name="Shape 5"/>
          <p:cNvSpPr/>
          <p:nvPr/>
        </p:nvSpPr>
        <p:spPr>
          <a:xfrm>
            <a:off x="548640" y="3246120"/>
            <a:ext cx="3383280" cy="1325880"/>
          </a:xfrm>
          <a:prstGeom prst="roundRect">
            <a:avLst>
              <a:gd name="adj" fmla="val 8276"/>
            </a:avLst>
          </a:prstGeom>
          <a:solidFill>
            <a:srgbClr val="FFFFFF"/>
          </a:solidFill>
          <a:ln w="12700">
            <a:solidFill>
              <a:srgbClr val="EDE1D9"/>
            </a:solidFill>
            <a:prstDash val="solid"/>
          </a:ln>
        </p:spPr>
      </p:sp>
      <p:sp>
        <p:nvSpPr>
          <p:cNvPr id="8" name="Text 6"/>
          <p:cNvSpPr txBox="1"/>
          <p:nvPr/>
        </p:nvSpPr>
        <p:spPr>
          <a:xfrm>
            <a:off x="548640" y="3337560"/>
            <a:ext cx="3383280" cy="685800"/>
          </a:xfrm>
          <a:prstGeom prst="rect">
            <a:avLst/>
          </a:prstGeom>
          <a:noFill/>
          <a:ln/>
        </p:spPr>
        <p:txBody>
          <a:bodyPr wrap="square" lIns="0" tIns="0" rIns="0" bIns="0" rtlCol="0" anchor="ctr"/>
          <a:lstStyle/>
          <a:p>
            <a:pPr algn="ctr" indent="0" marL="0">
              <a:buNone/>
            </a:pPr>
            <a:r>
              <a:rPr lang="en-US" sz="4000" b="1" dirty="0">
                <a:solidFill>
                  <a:srgbClr val="6B4A43"/>
                </a:solidFill>
                <a:latin typeface="Cormorant Garamond" pitchFamily="34" charset="0"/>
                <a:ea typeface="Cormorant Garamond" pitchFamily="34" charset="-122"/>
                <a:cs typeface="Cormorant Garamond" pitchFamily="34" charset="-120"/>
              </a:rPr>
              <a:t>6,1 %</a:t>
            </a:r>
            <a:endParaRPr lang="en-US" sz="4000" dirty="0"/>
          </a:p>
        </p:txBody>
      </p:sp>
      <p:sp>
        <p:nvSpPr>
          <p:cNvPr id="9" name="Text 7"/>
          <p:cNvSpPr txBox="1"/>
          <p:nvPr/>
        </p:nvSpPr>
        <p:spPr>
          <a:xfrm>
            <a:off x="685800" y="3995928"/>
            <a:ext cx="3108960" cy="548640"/>
          </a:xfrm>
          <a:prstGeom prst="rect">
            <a:avLst/>
          </a:prstGeom>
          <a:noFill/>
          <a:ln/>
        </p:spPr>
        <p:txBody>
          <a:bodyPr wrap="square" lIns="0" tIns="0" rIns="0" bIns="0" rtlCol="0" anchor="ctr"/>
          <a:lstStyle/>
          <a:p>
            <a:pPr algn="ctr" indent="0" marL="0">
              <a:buNone/>
            </a:pPr>
            <a:r>
              <a:rPr lang="en-US" sz="1150" dirty="0">
                <a:solidFill>
                  <a:srgbClr val="5B5250"/>
                </a:solidFill>
                <a:latin typeface="DM Sans" pitchFamily="34" charset="0"/>
                <a:ea typeface="DM Sans" pitchFamily="34" charset="-122"/>
                <a:cs typeface="DM Sans" pitchFamily="34" charset="-120"/>
              </a:rPr>
              <a:t>limpia la esponja después de cada uso (est.) (P2)</a:t>
            </a:r>
            <a:endParaRPr lang="en-US" sz="1150" dirty="0"/>
          </a:p>
        </p:txBody>
      </p:sp>
      <p:sp>
        <p:nvSpPr>
          <p:cNvPr id="10" name="Shape 8"/>
          <p:cNvSpPr/>
          <p:nvPr/>
        </p:nvSpPr>
        <p:spPr>
          <a:xfrm>
            <a:off x="548640" y="4709160"/>
            <a:ext cx="3383280" cy="1325880"/>
          </a:xfrm>
          <a:prstGeom prst="roundRect">
            <a:avLst>
              <a:gd name="adj" fmla="val 8276"/>
            </a:avLst>
          </a:prstGeom>
          <a:solidFill>
            <a:srgbClr val="241F1D"/>
          </a:solidFill>
          <a:ln/>
        </p:spPr>
      </p:sp>
      <p:sp>
        <p:nvSpPr>
          <p:cNvPr id="11" name="Text 9"/>
          <p:cNvSpPr txBox="1"/>
          <p:nvPr/>
        </p:nvSpPr>
        <p:spPr>
          <a:xfrm>
            <a:off x="548640" y="4800600"/>
            <a:ext cx="3383280" cy="685800"/>
          </a:xfrm>
          <a:prstGeom prst="rect">
            <a:avLst/>
          </a:prstGeom>
          <a:noFill/>
          <a:ln/>
        </p:spPr>
        <p:txBody>
          <a:bodyPr wrap="square" lIns="0" tIns="0" rIns="0" bIns="0" rtlCol="0" anchor="ctr"/>
          <a:lstStyle/>
          <a:p>
            <a:pPr algn="ctr" indent="0" marL="0">
              <a:buNone/>
            </a:pPr>
            <a:r>
              <a:rPr lang="en-US" sz="4000" b="1" dirty="0">
                <a:solidFill>
                  <a:srgbClr val="FBF5F1"/>
                </a:solidFill>
                <a:latin typeface="Cormorant Garamond" pitchFamily="34" charset="0"/>
                <a:ea typeface="Cormorant Garamond" pitchFamily="34" charset="-122"/>
                <a:cs typeface="Cormorant Garamond" pitchFamily="34" charset="-120"/>
              </a:rPr>
              <a:t>68 %</a:t>
            </a:r>
            <a:endParaRPr lang="en-US" sz="4000" dirty="0"/>
          </a:p>
        </p:txBody>
      </p:sp>
      <p:sp>
        <p:nvSpPr>
          <p:cNvPr id="12" name="Text 10"/>
          <p:cNvSpPr txBox="1"/>
          <p:nvPr/>
        </p:nvSpPr>
        <p:spPr>
          <a:xfrm>
            <a:off x="685800" y="5458968"/>
            <a:ext cx="3108960" cy="548640"/>
          </a:xfrm>
          <a:prstGeom prst="rect">
            <a:avLst/>
          </a:prstGeom>
          <a:noFill/>
          <a:ln/>
        </p:spPr>
        <p:txBody>
          <a:bodyPr wrap="square" lIns="0" tIns="0" rIns="0" bIns="0" rtlCol="0" anchor="ctr"/>
          <a:lstStyle/>
          <a:p>
            <a:pPr algn="ctr" indent="0" marL="0">
              <a:buNone/>
            </a:pPr>
            <a:r>
              <a:rPr lang="en-US" sz="1150" dirty="0">
                <a:solidFill>
                  <a:srgbClr val="C9B8B2"/>
                </a:solidFill>
                <a:latin typeface="DM Sans" pitchFamily="34" charset="0"/>
                <a:ea typeface="DM Sans" pitchFamily="34" charset="-122"/>
                <a:cs typeface="DM Sans" pitchFamily="34" charset="-120"/>
              </a:rPr>
              <a:t>la limpia una vez al mes o menos (P2)</a:t>
            </a:r>
            <a:endParaRPr lang="en-US" sz="1150" dirty="0"/>
          </a:p>
        </p:txBody>
      </p:sp>
      <p:sp>
        <p:nvSpPr>
          <p:cNvPr id="13" name="Shape 11"/>
          <p:cNvSpPr/>
          <p:nvPr/>
        </p:nvSpPr>
        <p:spPr>
          <a:xfrm>
            <a:off x="4160520" y="1783080"/>
            <a:ext cx="7479792" cy="4251960"/>
          </a:xfrm>
          <a:prstGeom prst="roundRect">
            <a:avLst>
              <a:gd name="adj" fmla="val 2581"/>
            </a:avLst>
          </a:prstGeom>
          <a:solidFill>
            <a:srgbClr val="FFFFFF"/>
          </a:solidFill>
          <a:ln w="12700">
            <a:solidFill>
              <a:srgbClr val="EDE1D9"/>
            </a:solidFill>
            <a:prstDash val="solid"/>
          </a:ln>
        </p:spPr>
      </p:sp>
      <p:sp>
        <p:nvSpPr>
          <p:cNvPr id="14" name="Text 12"/>
          <p:cNvSpPr txBox="1"/>
          <p:nvPr/>
        </p:nvSpPr>
        <p:spPr>
          <a:xfrm>
            <a:off x="4389120" y="1920240"/>
            <a:ext cx="7040880" cy="365760"/>
          </a:xfrm>
          <a:prstGeom prst="rect">
            <a:avLst/>
          </a:prstGeom>
          <a:noFill/>
          <a:ln/>
        </p:spPr>
        <p:txBody>
          <a:bodyPr wrap="square" lIns="0" tIns="0" rIns="0" bIns="0" rtlCol="0" anchor="ctr"/>
          <a:lstStyle/>
          <a:p>
            <a:pPr indent="0" marL="0">
              <a:buNone/>
            </a:pPr>
            <a:r>
              <a:rPr lang="en-US" sz="1400" b="1" dirty="0">
                <a:solidFill>
                  <a:srgbClr val="241F1D"/>
                </a:solidFill>
                <a:latin typeface="DM Sans" pitchFamily="34" charset="0"/>
                <a:ea typeface="DM Sans" pitchFamily="34" charset="-122"/>
                <a:cs typeface="DM Sans" pitchFamily="34" charset="-120"/>
              </a:rPr>
              <a:t>¿Con qué frecuencia limpias tu esponja de maquillaje? (P2)</a:t>
            </a:r>
            <a:endParaRPr lang="en-US" sz="1400" dirty="0"/>
          </a:p>
        </p:txBody>
      </p:sp>
      <p:graphicFrame>
        <p:nvGraphicFramePr>
          <p:cNvPr id="15" name="Chart 0" descr=""/>
          <p:cNvGraphicFramePr/>
          <p:nvPr/>
        </p:nvGraphicFramePr>
        <p:xfrm>
          <a:off x="4297680" y="2331720"/>
          <a:ext cx="7223760" cy="2743200"/>
        </p:xfrm>
        <a:graphic xmlns:a="http://schemas.openxmlformats.org/drawingml/2006/main">
          <a:graphicData uri="http://schemas.openxmlformats.org/drawingml/2006/chart">
            <c:chart xmlns:c="http://schemas.openxmlformats.org/drawingml/2006/chart" r:id="rId1"/>
          </a:graphicData>
        </a:graphic>
      </p:graphicFrame>
      <p:sp>
        <p:nvSpPr>
          <p:cNvPr id="16" name="Text 13"/>
          <p:cNvSpPr txBox="1"/>
          <p:nvPr/>
        </p:nvSpPr>
        <p:spPr>
          <a:xfrm>
            <a:off x="4389120" y="5120640"/>
            <a:ext cx="7040880" cy="822960"/>
          </a:xfrm>
          <a:prstGeom prst="rect">
            <a:avLst/>
          </a:prstGeom>
          <a:noFill/>
          <a:ln/>
        </p:spPr>
        <p:txBody>
          <a:bodyPr wrap="square" lIns="0" tIns="0" rIns="0" bIns="0" rtlCol="0" anchor="ctr"/>
          <a:lstStyle/>
          <a:p>
            <a:pPr indent="0" marL="0">
              <a:buNone/>
            </a:pPr>
            <a:r>
              <a:rPr lang="en-US" sz="1250" i="1" dirty="0">
                <a:solidFill>
                  <a:srgbClr val="5B5250"/>
                </a:solidFill>
                <a:latin typeface="DM Sans" pitchFamily="34" charset="0"/>
                <a:ea typeface="DM Sans" pitchFamily="34" charset="-122"/>
                <a:cs typeface="DM Sans" pitchFamily="34" charset="-120"/>
              </a:rPr>
              <a:t>Esta submuestra confirma, y acentúa, la brecha uso-limpieza de las fuentes secundarias (39 %-44 %). No debe generalizarse a todo el segmento objetivo.</a:t>
            </a:r>
            <a:endParaRPr lang="en-US" sz="1250" dirty="0"/>
          </a:p>
        </p:txBody>
      </p:sp>
      <p:sp>
        <p:nvSpPr>
          <p:cNvPr id="17" name="Text 14"/>
          <p:cNvSpPr txBox="1"/>
          <p:nvPr/>
        </p:nvSpPr>
        <p:spPr>
          <a:xfrm>
            <a:off x="548640" y="6355080"/>
            <a:ext cx="11094415" cy="365760"/>
          </a:xfrm>
          <a:prstGeom prst="rect">
            <a:avLst/>
          </a:prstGeom>
          <a:noFill/>
          <a:ln/>
        </p:spPr>
        <p:txBody>
          <a:bodyPr wrap="square" lIns="0" tIns="0" rIns="0" bIns="0" rtlCol="0" anchor="ctr"/>
          <a:lstStyle/>
          <a:p>
            <a:pPr indent="0" marL="0">
              <a:buNone/>
            </a:pPr>
            <a:r>
              <a:rPr lang="en-US" sz="1100" dirty="0">
                <a:solidFill>
                  <a:srgbClr val="8A7A73"/>
                </a:solidFill>
                <a:latin typeface="DM Sans" pitchFamily="34" charset="0"/>
                <a:ea typeface="DM Sans" pitchFamily="34" charset="-122"/>
                <a:cs typeface="DM Sans" pitchFamily="34" charset="-120"/>
              </a:rPr>
              <a:t>Fuente: elaboración propia (Grupo BlendPure, 2026). Encuesta exploratoria vía Google Forms, n = 147 mujeres universitarias PUJ. Muestra por conveniencia, no representativa. (est.) = calculado por diferencia a 100 %.</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BF5F1"/>
        </a:solidFill>
      </p:bgPr>
    </p:bg>
    <p:spTree>
      <p:nvGrpSpPr>
        <p:cNvPr id="1" name=""/>
        <p:cNvGrpSpPr/>
        <p:nvPr/>
      </p:nvGrpSpPr>
      <p:grpSpPr>
        <a:xfrm>
          <a:off x="0" y="0"/>
          <a:ext cx="0" cy="0"/>
          <a:chOff x="0" y="0"/>
          <a:chExt cx="0" cy="0"/>
        </a:xfrm>
      </p:grpSpPr>
      <p:sp>
        <p:nvSpPr>
          <p:cNvPr id="2" name="Text 0"/>
          <p:cNvSpPr txBox="1"/>
          <p:nvPr/>
        </p:nvSpPr>
        <p:spPr>
          <a:xfrm>
            <a:off x="548640" y="502920"/>
            <a:ext cx="11094415" cy="320040"/>
          </a:xfrm>
          <a:prstGeom prst="rect">
            <a:avLst/>
          </a:prstGeom>
          <a:noFill/>
          <a:ln/>
        </p:spPr>
        <p:txBody>
          <a:bodyPr wrap="square" lIns="0" tIns="0" rIns="0" bIns="0" rtlCol="0" anchor="ctr"/>
          <a:lstStyle/>
          <a:p>
            <a:pPr indent="0" marL="0">
              <a:buNone/>
            </a:pPr>
            <a:r>
              <a:rPr lang="en-US" sz="1300" b="1" spc="200" kern="0" dirty="0">
                <a:solidFill>
                  <a:srgbClr val="A87C45"/>
                </a:solidFill>
                <a:latin typeface="DM Sans" pitchFamily="34" charset="0"/>
                <a:ea typeface="DM Sans" pitchFamily="34" charset="-122"/>
                <a:cs typeface="DM Sans" pitchFamily="34" charset="-120"/>
              </a:rPr>
              <a:t>RESULTADOS · ENCUESTA PRIMARIA 2/4</a:t>
            </a:r>
            <a:endParaRPr lang="en-US" sz="1300" dirty="0"/>
          </a:p>
        </p:txBody>
      </p:sp>
      <p:sp>
        <p:nvSpPr>
          <p:cNvPr id="3" name="Text 1"/>
          <p:cNvSpPr txBox="1"/>
          <p:nvPr/>
        </p:nvSpPr>
        <p:spPr>
          <a:xfrm>
            <a:off x="548640" y="822960"/>
            <a:ext cx="11094415" cy="822960"/>
          </a:xfrm>
          <a:prstGeom prst="rect">
            <a:avLst/>
          </a:prstGeom>
          <a:noFill/>
          <a:ln/>
        </p:spPr>
        <p:txBody>
          <a:bodyPr wrap="square" lIns="0" tIns="0" rIns="0" bIns="0" rtlCol="0" anchor="ctr"/>
          <a:lstStyle/>
          <a:p>
            <a:pPr algn="l" indent="0" marL="0">
              <a:buNone/>
            </a:pPr>
            <a:r>
              <a:rPr lang="en-US" sz="3000" b="1" dirty="0">
                <a:solidFill>
                  <a:srgbClr val="241F1D"/>
                </a:solidFill>
                <a:latin typeface="Cormorant Garamond" pitchFamily="34" charset="0"/>
                <a:ea typeface="Cormorant Garamond" pitchFamily="34" charset="-122"/>
                <a:cs typeface="Cormorant Garamond" pitchFamily="34" charset="-120"/>
              </a:rPr>
              <a:t>El problema es fricción, no falta de convicción</a:t>
            </a:r>
            <a:endParaRPr lang="en-US" sz="3000" dirty="0"/>
          </a:p>
        </p:txBody>
      </p:sp>
      <p:sp>
        <p:nvSpPr>
          <p:cNvPr id="4" name="Shape 2"/>
          <p:cNvSpPr/>
          <p:nvPr/>
        </p:nvSpPr>
        <p:spPr>
          <a:xfrm>
            <a:off x="548640" y="1783080"/>
            <a:ext cx="5486400" cy="3337560"/>
          </a:xfrm>
          <a:prstGeom prst="roundRect">
            <a:avLst>
              <a:gd name="adj" fmla="val 3288"/>
            </a:avLst>
          </a:prstGeom>
          <a:solidFill>
            <a:srgbClr val="FFFFFF"/>
          </a:solidFill>
          <a:ln w="12700">
            <a:solidFill>
              <a:srgbClr val="EDE1D9"/>
            </a:solidFill>
            <a:prstDash val="solid"/>
          </a:ln>
        </p:spPr>
      </p:sp>
      <p:sp>
        <p:nvSpPr>
          <p:cNvPr id="5" name="Text 3"/>
          <p:cNvSpPr txBox="1"/>
          <p:nvPr/>
        </p:nvSpPr>
        <p:spPr>
          <a:xfrm>
            <a:off x="777240" y="1920240"/>
            <a:ext cx="5029200" cy="365760"/>
          </a:xfrm>
          <a:prstGeom prst="rect">
            <a:avLst/>
          </a:prstGeom>
          <a:noFill/>
          <a:ln/>
        </p:spPr>
        <p:txBody>
          <a:bodyPr wrap="square" lIns="0" tIns="0" rIns="0" bIns="0" rtlCol="0" anchor="ctr"/>
          <a:lstStyle/>
          <a:p>
            <a:pPr indent="0" marL="0">
              <a:buNone/>
            </a:pPr>
            <a:r>
              <a:rPr lang="en-US" sz="1350" b="1" dirty="0">
                <a:solidFill>
                  <a:srgbClr val="241F1D"/>
                </a:solidFill>
                <a:latin typeface="DM Sans" pitchFamily="34" charset="0"/>
                <a:ea typeface="DM Sans" pitchFamily="34" charset="-122"/>
                <a:cs typeface="DM Sans" pitchFamily="34" charset="-120"/>
              </a:rPr>
              <a:t>¿Qué influye en que no la laves más seguido? (P3)</a:t>
            </a:r>
            <a:endParaRPr lang="en-US" sz="1350" dirty="0"/>
          </a:p>
        </p:txBody>
      </p:sp>
      <p:graphicFrame>
        <p:nvGraphicFramePr>
          <p:cNvPr id="6" name="Chart 0" descr=""/>
          <p:cNvGraphicFramePr/>
          <p:nvPr/>
        </p:nvGraphicFramePr>
        <p:xfrm>
          <a:off x="640080" y="2286000"/>
          <a:ext cx="5303520" cy="274320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6153912" y="1783080"/>
            <a:ext cx="5486400" cy="3337560"/>
          </a:xfrm>
          <a:prstGeom prst="roundRect">
            <a:avLst>
              <a:gd name="adj" fmla="val 3288"/>
            </a:avLst>
          </a:prstGeom>
          <a:solidFill>
            <a:srgbClr val="FFFFFF"/>
          </a:solidFill>
          <a:ln w="12700">
            <a:solidFill>
              <a:srgbClr val="EDE1D9"/>
            </a:solidFill>
            <a:prstDash val="solid"/>
          </a:ln>
        </p:spPr>
      </p:sp>
      <p:sp>
        <p:nvSpPr>
          <p:cNvPr id="8" name="Text 5"/>
          <p:cNvSpPr txBox="1"/>
          <p:nvPr/>
        </p:nvSpPr>
        <p:spPr>
          <a:xfrm>
            <a:off x="6382512" y="1920240"/>
            <a:ext cx="5029200" cy="365760"/>
          </a:xfrm>
          <a:prstGeom prst="rect">
            <a:avLst/>
          </a:prstGeom>
          <a:noFill/>
          <a:ln/>
        </p:spPr>
        <p:txBody>
          <a:bodyPr wrap="square" lIns="0" tIns="0" rIns="0" bIns="0" rtlCol="0" anchor="ctr"/>
          <a:lstStyle/>
          <a:p>
            <a:pPr indent="0" marL="0">
              <a:buNone/>
            </a:pPr>
            <a:r>
              <a:rPr lang="en-US" sz="1350" b="1" dirty="0">
                <a:solidFill>
                  <a:srgbClr val="241F1D"/>
                </a:solidFill>
                <a:latin typeface="DM Sans" pitchFamily="34" charset="0"/>
                <a:ea typeface="DM Sans" pitchFamily="34" charset="-122"/>
                <a:cs typeface="DM Sans" pitchFamily="34" charset="-120"/>
              </a:rPr>
              <a:t>¿Qué método usas hoy para limpiarla? (P4)</a:t>
            </a:r>
            <a:endParaRPr lang="en-US" sz="1350" dirty="0"/>
          </a:p>
        </p:txBody>
      </p:sp>
      <p:graphicFrame>
        <p:nvGraphicFramePr>
          <p:cNvPr id="9" name="Chart 1" descr=""/>
          <p:cNvGraphicFramePr/>
          <p:nvPr/>
        </p:nvGraphicFramePr>
        <p:xfrm>
          <a:off x="6245352" y="2286000"/>
          <a:ext cx="5303520" cy="2743200"/>
        </p:xfrm>
        <a:graphic xmlns:a="http://schemas.openxmlformats.org/drawingml/2006/main">
          <a:graphicData uri="http://schemas.openxmlformats.org/drawingml/2006/chart">
            <c:chart xmlns:c="http://schemas.openxmlformats.org/drawingml/2006/chart" r:id="rId2"/>
          </a:graphicData>
        </a:graphic>
      </p:graphicFrame>
      <p:sp>
        <p:nvSpPr>
          <p:cNvPr id="10" name="Shape 6"/>
          <p:cNvSpPr/>
          <p:nvPr/>
        </p:nvSpPr>
        <p:spPr>
          <a:xfrm>
            <a:off x="548640" y="5257800"/>
            <a:ext cx="11094415" cy="868680"/>
          </a:xfrm>
          <a:prstGeom prst="roundRect">
            <a:avLst>
              <a:gd name="adj" fmla="val 12632"/>
            </a:avLst>
          </a:prstGeom>
          <a:solidFill>
            <a:srgbClr val="241F1D"/>
          </a:solidFill>
          <a:ln/>
        </p:spPr>
      </p:sp>
      <p:sp>
        <p:nvSpPr>
          <p:cNvPr id="11" name="Text 7"/>
          <p:cNvSpPr txBox="1"/>
          <p:nvPr/>
        </p:nvSpPr>
        <p:spPr>
          <a:xfrm>
            <a:off x="822960" y="5257800"/>
            <a:ext cx="10545775" cy="868680"/>
          </a:xfrm>
          <a:prstGeom prst="rect">
            <a:avLst/>
          </a:prstGeom>
          <a:noFill/>
          <a:ln/>
        </p:spPr>
        <p:txBody>
          <a:bodyPr wrap="square" lIns="0" tIns="0" rIns="0" bIns="0" rtlCol="0" anchor="ctr"/>
          <a:lstStyle/>
          <a:p>
            <a:pPr indent="0" marL="0">
              <a:buNone/>
            </a:pPr>
            <a:r>
              <a:rPr lang="en-US" sz="2400" b="1" dirty="0">
                <a:solidFill>
                  <a:srgbClr val="D98C86"/>
                </a:solidFill>
                <a:latin typeface="Cormorant Garamond" pitchFamily="34" charset="0"/>
                <a:ea typeface="Cormorant Garamond" pitchFamily="34" charset="-122"/>
                <a:cs typeface="Cormorant Garamond" pitchFamily="34" charset="-120"/>
              </a:rPr>
              <a:t>87,7 %</a:t>
            </a:r>
            <a:pPr indent="0" marL="0">
              <a:buNone/>
            </a:pPr>
            <a:r>
              <a:rPr lang="en-US" sz="1300" dirty="0">
                <a:solidFill>
                  <a:srgbClr val="F5E9E2"/>
                </a:solidFill>
                <a:latin typeface="DM Sans" pitchFamily="34" charset="0"/>
                <a:ea typeface="DM Sans" pitchFamily="34" charset="-122"/>
                <a:cs typeface="DM Sans" pitchFamily="34" charset="-120"/>
              </a:rPr>
              <a:t>  señala olvido, pereza o tiempo del proceso. BlendPure no compite con un rival instalado (solo 6,2 % usa un dispositivo): compite contra el hábito del jabón y el agua.</a:t>
            </a:r>
            <a:endParaRPr lang="en-US" sz="2400" dirty="0"/>
          </a:p>
        </p:txBody>
      </p:sp>
      <p:sp>
        <p:nvSpPr>
          <p:cNvPr id="12" name="Text 8"/>
          <p:cNvSpPr txBox="1"/>
          <p:nvPr/>
        </p:nvSpPr>
        <p:spPr>
          <a:xfrm>
            <a:off x="548640" y="6355080"/>
            <a:ext cx="11094415" cy="365760"/>
          </a:xfrm>
          <a:prstGeom prst="rect">
            <a:avLst/>
          </a:prstGeom>
          <a:noFill/>
          <a:ln/>
        </p:spPr>
        <p:txBody>
          <a:bodyPr wrap="square" lIns="0" tIns="0" rIns="0" bIns="0" rtlCol="0" anchor="ctr"/>
          <a:lstStyle/>
          <a:p>
            <a:pPr indent="0" marL="0">
              <a:buNone/>
            </a:pPr>
            <a:r>
              <a:rPr lang="en-US" sz="1100" dirty="0">
                <a:solidFill>
                  <a:srgbClr val="8A7A73"/>
                </a:solidFill>
                <a:latin typeface="DM Sans" pitchFamily="34" charset="0"/>
                <a:ea typeface="DM Sans" pitchFamily="34" charset="-122"/>
                <a:cs typeface="DM Sans" pitchFamily="34" charset="-120"/>
              </a:rPr>
              <a:t>Fuente: elaboración propia (Grupo BlendPure, 2026). Encuesta exploratoria vía Google Forms, n = 147 mujeres universitarias PUJ. Muestra por conveniencia, no representativa. (est.) = calculado por diferencia a 100 %.</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241F1D"/>
        </a:solidFill>
      </p:bgPr>
    </p:bg>
    <p:spTree>
      <p:nvGrpSpPr>
        <p:cNvPr id="1" name=""/>
        <p:cNvGrpSpPr/>
        <p:nvPr/>
      </p:nvGrpSpPr>
      <p:grpSpPr>
        <a:xfrm>
          <a:off x="0" y="0"/>
          <a:ext cx="0" cy="0"/>
          <a:chOff x="0" y="0"/>
          <a:chExt cx="0" cy="0"/>
        </a:xfrm>
      </p:grpSpPr>
      <p:sp>
        <p:nvSpPr>
          <p:cNvPr id="2" name="Text 0"/>
          <p:cNvSpPr txBox="1"/>
          <p:nvPr/>
        </p:nvSpPr>
        <p:spPr>
          <a:xfrm>
            <a:off x="548640" y="502920"/>
            <a:ext cx="11094415" cy="320040"/>
          </a:xfrm>
          <a:prstGeom prst="rect">
            <a:avLst/>
          </a:prstGeom>
          <a:noFill/>
          <a:ln/>
        </p:spPr>
        <p:txBody>
          <a:bodyPr wrap="square" lIns="0" tIns="0" rIns="0" bIns="0" rtlCol="0" anchor="ctr"/>
          <a:lstStyle/>
          <a:p>
            <a:pPr indent="0" marL="0">
              <a:buNone/>
            </a:pPr>
            <a:r>
              <a:rPr lang="en-US" sz="1300" b="1" spc="200" kern="0" dirty="0">
                <a:solidFill>
                  <a:srgbClr val="D98C86"/>
                </a:solidFill>
                <a:latin typeface="DM Sans" pitchFamily="34" charset="0"/>
                <a:ea typeface="DM Sans" pitchFamily="34" charset="-122"/>
                <a:cs typeface="DM Sans" pitchFamily="34" charset="-120"/>
              </a:rPr>
              <a:t>RESULTADOS · ENCUESTA PRIMARIA 3/4</a:t>
            </a:r>
            <a:endParaRPr lang="en-US" sz="1300" dirty="0"/>
          </a:p>
        </p:txBody>
      </p:sp>
      <p:sp>
        <p:nvSpPr>
          <p:cNvPr id="3" name="Text 1"/>
          <p:cNvSpPr txBox="1"/>
          <p:nvPr/>
        </p:nvSpPr>
        <p:spPr>
          <a:xfrm>
            <a:off x="548640" y="822960"/>
            <a:ext cx="11094415" cy="822960"/>
          </a:xfrm>
          <a:prstGeom prst="rect">
            <a:avLst/>
          </a:prstGeom>
          <a:noFill/>
          <a:ln/>
        </p:spPr>
        <p:txBody>
          <a:bodyPr wrap="square" lIns="0" tIns="0" rIns="0" bIns="0" rtlCol="0" anchor="ctr"/>
          <a:lstStyle/>
          <a:p>
            <a:pPr algn="l" indent="0" marL="0">
              <a:buNone/>
            </a:pPr>
            <a:r>
              <a:rPr lang="en-US" sz="3000" b="1" dirty="0">
                <a:solidFill>
                  <a:srgbClr val="FBF5F1"/>
                </a:solidFill>
                <a:latin typeface="Cormorant Garamond" pitchFamily="34" charset="0"/>
                <a:ea typeface="Cormorant Garamond" pitchFamily="34" charset="-122"/>
                <a:cs typeface="Cormorant Garamond" pitchFamily="34" charset="-120"/>
              </a:rPr>
              <a:t>Mucha utilidad percibida, poca disposición a pagar</a:t>
            </a:r>
            <a:endParaRPr lang="en-US" sz="3000" dirty="0"/>
          </a:p>
        </p:txBody>
      </p:sp>
      <p:sp>
        <p:nvSpPr>
          <p:cNvPr id="4" name="Shape 2"/>
          <p:cNvSpPr/>
          <p:nvPr/>
        </p:nvSpPr>
        <p:spPr>
          <a:xfrm>
            <a:off x="548640" y="1783080"/>
            <a:ext cx="3566160" cy="1828800"/>
          </a:xfrm>
          <a:prstGeom prst="roundRect">
            <a:avLst>
              <a:gd name="adj" fmla="val 6000"/>
            </a:avLst>
          </a:prstGeom>
          <a:solidFill>
            <a:srgbClr val="2E2825"/>
          </a:solidFill>
          <a:ln/>
        </p:spPr>
      </p:sp>
      <p:sp>
        <p:nvSpPr>
          <p:cNvPr id="5" name="Text 3"/>
          <p:cNvSpPr txBox="1"/>
          <p:nvPr/>
        </p:nvSpPr>
        <p:spPr>
          <a:xfrm>
            <a:off x="548640" y="1874520"/>
            <a:ext cx="3566160" cy="822960"/>
          </a:xfrm>
          <a:prstGeom prst="rect">
            <a:avLst/>
          </a:prstGeom>
          <a:noFill/>
          <a:ln/>
        </p:spPr>
        <p:txBody>
          <a:bodyPr wrap="square" lIns="0" tIns="0" rIns="0" bIns="0" rtlCol="0" anchor="ctr"/>
          <a:lstStyle/>
          <a:p>
            <a:pPr algn="ctr" indent="0" marL="0">
              <a:buNone/>
            </a:pPr>
            <a:r>
              <a:rPr lang="en-US" sz="5200" b="1" dirty="0">
                <a:solidFill>
                  <a:srgbClr val="FBF5F1"/>
                </a:solidFill>
                <a:latin typeface="Cormorant Garamond" pitchFamily="34" charset="0"/>
                <a:ea typeface="Cormorant Garamond" pitchFamily="34" charset="-122"/>
                <a:cs typeface="Cormorant Garamond" pitchFamily="34" charset="-120"/>
              </a:rPr>
              <a:t>95,2 %</a:t>
            </a:r>
            <a:endParaRPr lang="en-US" sz="5200" dirty="0"/>
          </a:p>
        </p:txBody>
      </p:sp>
      <p:sp>
        <p:nvSpPr>
          <p:cNvPr id="6" name="Text 4"/>
          <p:cNvSpPr txBox="1"/>
          <p:nvPr/>
        </p:nvSpPr>
        <p:spPr>
          <a:xfrm>
            <a:off x="731520" y="2697480"/>
            <a:ext cx="3200400" cy="822960"/>
          </a:xfrm>
          <a:prstGeom prst="rect">
            <a:avLst/>
          </a:prstGeom>
          <a:noFill/>
          <a:ln/>
        </p:spPr>
        <p:txBody>
          <a:bodyPr wrap="square" lIns="0" tIns="0" rIns="0" bIns="0" rtlCol="0" anchor="ctr"/>
          <a:lstStyle/>
          <a:p>
            <a:pPr algn="ctr" indent="0" marL="0">
              <a:buNone/>
            </a:pPr>
            <a:r>
              <a:rPr lang="en-US" sz="1250" dirty="0">
                <a:solidFill>
                  <a:srgbClr val="C9B8B2"/>
                </a:solidFill>
                <a:latin typeface="DM Sans" pitchFamily="34" charset="0"/>
                <a:ea typeface="DM Sans" pitchFamily="34" charset="-122"/>
                <a:cs typeface="DM Sans" pitchFamily="34" charset="-120"/>
              </a:rPr>
              <a:t>le ve algún grado de utilidad al dispositivo (4-5: 51 %; 3: 44,2 %) (P5)</a:t>
            </a:r>
            <a:endParaRPr lang="en-US" sz="1250" dirty="0"/>
          </a:p>
        </p:txBody>
      </p:sp>
      <p:sp>
        <p:nvSpPr>
          <p:cNvPr id="7" name="Shape 5"/>
          <p:cNvSpPr/>
          <p:nvPr/>
        </p:nvSpPr>
        <p:spPr>
          <a:xfrm>
            <a:off x="548640" y="3749040"/>
            <a:ext cx="3566160" cy="1828800"/>
          </a:xfrm>
          <a:prstGeom prst="roundRect">
            <a:avLst>
              <a:gd name="adj" fmla="val 6000"/>
            </a:avLst>
          </a:prstGeom>
          <a:solidFill>
            <a:srgbClr val="D98C86"/>
          </a:solidFill>
          <a:ln/>
        </p:spPr>
      </p:sp>
      <p:sp>
        <p:nvSpPr>
          <p:cNvPr id="8" name="Text 6"/>
          <p:cNvSpPr txBox="1"/>
          <p:nvPr/>
        </p:nvSpPr>
        <p:spPr>
          <a:xfrm>
            <a:off x="548640" y="3840480"/>
            <a:ext cx="3566160" cy="822960"/>
          </a:xfrm>
          <a:prstGeom prst="rect">
            <a:avLst/>
          </a:prstGeom>
          <a:noFill/>
          <a:ln/>
        </p:spPr>
        <p:txBody>
          <a:bodyPr wrap="square" lIns="0" tIns="0" rIns="0" bIns="0" rtlCol="0" anchor="ctr"/>
          <a:lstStyle/>
          <a:p>
            <a:pPr algn="ctr" indent="0" marL="0">
              <a:buNone/>
            </a:pPr>
            <a:r>
              <a:rPr lang="en-US" sz="5200" b="1" dirty="0">
                <a:solidFill>
                  <a:srgbClr val="241F1D"/>
                </a:solidFill>
                <a:latin typeface="Cormorant Garamond" pitchFamily="34" charset="0"/>
                <a:ea typeface="Cormorant Garamond" pitchFamily="34" charset="-122"/>
                <a:cs typeface="Cormorant Garamond" pitchFamily="34" charset="-120"/>
              </a:rPr>
              <a:t>25,2 %</a:t>
            </a:r>
            <a:endParaRPr lang="en-US" sz="5200" dirty="0"/>
          </a:p>
        </p:txBody>
      </p:sp>
      <p:sp>
        <p:nvSpPr>
          <p:cNvPr id="9" name="Text 7"/>
          <p:cNvSpPr txBox="1"/>
          <p:nvPr/>
        </p:nvSpPr>
        <p:spPr>
          <a:xfrm>
            <a:off x="731520" y="4663440"/>
            <a:ext cx="3200400" cy="822960"/>
          </a:xfrm>
          <a:prstGeom prst="rect">
            <a:avLst/>
          </a:prstGeom>
          <a:noFill/>
          <a:ln/>
        </p:spPr>
        <p:txBody>
          <a:bodyPr wrap="square" lIns="0" tIns="0" rIns="0" bIns="0" rtlCol="0" anchor="ctr"/>
          <a:lstStyle/>
          <a:p>
            <a:pPr algn="ctr" indent="0" marL="0">
              <a:buNone/>
            </a:pPr>
            <a:r>
              <a:rPr lang="en-US" sz="1250" dirty="0">
                <a:solidFill>
                  <a:srgbClr val="241F1D"/>
                </a:solidFill>
                <a:latin typeface="DM Sans" pitchFamily="34" charset="0"/>
                <a:ea typeface="DM Sans" pitchFamily="34" charset="-122"/>
                <a:cs typeface="DM Sans" pitchFamily="34" charset="-120"/>
              </a:rPr>
              <a:t>pagaría COP 250.000-450.000, el rango de trabajo. Meta del proyecto: ≥ 50 % (P6)</a:t>
            </a:r>
            <a:endParaRPr lang="en-US" sz="1250" dirty="0"/>
          </a:p>
        </p:txBody>
      </p:sp>
      <p:sp>
        <p:nvSpPr>
          <p:cNvPr id="10" name="Shape 8"/>
          <p:cNvSpPr/>
          <p:nvPr/>
        </p:nvSpPr>
        <p:spPr>
          <a:xfrm>
            <a:off x="4297680" y="1783080"/>
            <a:ext cx="7342632" cy="3794760"/>
          </a:xfrm>
          <a:prstGeom prst="roundRect">
            <a:avLst>
              <a:gd name="adj" fmla="val 2892"/>
            </a:avLst>
          </a:prstGeom>
          <a:solidFill>
            <a:srgbClr val="FBF5F1"/>
          </a:solidFill>
          <a:ln/>
        </p:spPr>
      </p:sp>
      <p:sp>
        <p:nvSpPr>
          <p:cNvPr id="11" name="Text 9"/>
          <p:cNvSpPr txBox="1"/>
          <p:nvPr/>
        </p:nvSpPr>
        <p:spPr>
          <a:xfrm>
            <a:off x="4526280" y="1920240"/>
            <a:ext cx="6903720" cy="502920"/>
          </a:xfrm>
          <a:prstGeom prst="rect">
            <a:avLst/>
          </a:prstGeom>
          <a:noFill/>
          <a:ln/>
        </p:spPr>
        <p:txBody>
          <a:bodyPr wrap="square" lIns="0" tIns="0" rIns="0" bIns="0" rtlCol="0" anchor="ctr"/>
          <a:lstStyle/>
          <a:p>
            <a:pPr indent="0" marL="0">
              <a:buNone/>
            </a:pPr>
            <a:r>
              <a:rPr lang="en-US" sz="1350" b="1" dirty="0">
                <a:solidFill>
                  <a:srgbClr val="241F1D"/>
                </a:solidFill>
                <a:latin typeface="DM Sans" pitchFamily="34" charset="0"/>
                <a:ea typeface="DM Sans" pitchFamily="34" charset="-122"/>
                <a:cs typeface="DM Sans" pitchFamily="34" charset="-120"/>
              </a:rPr>
              <a:t>Si un dispositivo beauty tech resolviera el lavado y secado, ¿cuánto pagarías? (P6)</a:t>
            </a:r>
            <a:endParaRPr lang="en-US" sz="1350" dirty="0"/>
          </a:p>
        </p:txBody>
      </p:sp>
      <p:graphicFrame>
        <p:nvGraphicFramePr>
          <p:cNvPr id="12" name="Chart 0" descr=""/>
          <p:cNvGraphicFramePr/>
          <p:nvPr/>
        </p:nvGraphicFramePr>
        <p:xfrm>
          <a:off x="4434840" y="2423160"/>
          <a:ext cx="7040880" cy="3063240"/>
        </p:xfrm>
        <a:graphic xmlns:a="http://schemas.openxmlformats.org/drawingml/2006/main">
          <a:graphicData uri="http://schemas.openxmlformats.org/drawingml/2006/chart">
            <c:chart xmlns:c="http://schemas.openxmlformats.org/drawingml/2006/chart" r:id="rId1"/>
          </a:graphicData>
        </a:graphic>
      </p:graphicFrame>
      <p:sp>
        <p:nvSpPr>
          <p:cNvPr id="13" name="Text 10"/>
          <p:cNvSpPr txBox="1"/>
          <p:nvPr/>
        </p:nvSpPr>
        <p:spPr>
          <a:xfrm>
            <a:off x="548640" y="5669280"/>
            <a:ext cx="11094415" cy="640080"/>
          </a:xfrm>
          <a:prstGeom prst="rect">
            <a:avLst/>
          </a:prstGeom>
          <a:noFill/>
          <a:ln/>
        </p:spPr>
        <p:txBody>
          <a:bodyPr wrap="square" lIns="0" tIns="0" rIns="0" bIns="0" rtlCol="0" anchor="ctr"/>
          <a:lstStyle/>
          <a:p>
            <a:pPr indent="0" marL="0">
              <a:buNone/>
            </a:pPr>
            <a:r>
              <a:rPr lang="en-US" sz="1250" i="1" dirty="0">
                <a:solidFill>
                  <a:srgbClr val="F5E9E2"/>
                </a:solidFill>
                <a:latin typeface="DM Sans" pitchFamily="34" charset="0"/>
                <a:ea typeface="DM Sans" pitchFamily="34" charset="-122"/>
                <a:cs typeface="DM Sans" pitchFamily="34" charset="-120"/>
              </a:rPr>
              <a:t>Lectura: el concepto interesa, pero el precio de trabajo no está validado. Hay que replicar con el segmento objetivo (profesionales con ingreso propio) o revisar precio y propuesta de valor.</a:t>
            </a:r>
            <a:endParaRPr lang="en-US" sz="1250" dirty="0"/>
          </a:p>
        </p:txBody>
      </p:sp>
      <p:sp>
        <p:nvSpPr>
          <p:cNvPr id="14" name="Text 11"/>
          <p:cNvSpPr txBox="1"/>
          <p:nvPr/>
        </p:nvSpPr>
        <p:spPr>
          <a:xfrm>
            <a:off x="548640" y="6400800"/>
            <a:ext cx="11094415" cy="365760"/>
          </a:xfrm>
          <a:prstGeom prst="rect">
            <a:avLst/>
          </a:prstGeom>
          <a:noFill/>
          <a:ln/>
        </p:spPr>
        <p:txBody>
          <a:bodyPr wrap="square" lIns="0" tIns="0" rIns="0" bIns="0" rtlCol="0" anchor="ctr"/>
          <a:lstStyle/>
          <a:p>
            <a:pPr indent="0" marL="0">
              <a:buNone/>
            </a:pPr>
            <a:r>
              <a:rPr lang="en-US" sz="1000" dirty="0">
                <a:solidFill>
                  <a:srgbClr val="C9B8B2"/>
                </a:solidFill>
                <a:latin typeface="DM Sans" pitchFamily="34" charset="0"/>
                <a:ea typeface="DM Sans" pitchFamily="34" charset="-122"/>
                <a:cs typeface="DM Sans" pitchFamily="34" charset="-120"/>
              </a:rPr>
              <a:t>Fuente: elaboración propia (Grupo BlendPure, 2026). Encuesta exploratoria vía Google Forms, n = 147 mujeres universitarias PUJ. Muestra por conveniencia, no representativa. (est.) = calculado por diferencia a 100 %.</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BF5F1"/>
        </a:solidFill>
      </p:bgPr>
    </p:bg>
    <p:spTree>
      <p:nvGrpSpPr>
        <p:cNvPr id="1" name=""/>
        <p:cNvGrpSpPr/>
        <p:nvPr/>
      </p:nvGrpSpPr>
      <p:grpSpPr>
        <a:xfrm>
          <a:off x="0" y="0"/>
          <a:ext cx="0" cy="0"/>
          <a:chOff x="0" y="0"/>
          <a:chExt cx="0" cy="0"/>
        </a:xfrm>
      </p:grpSpPr>
      <p:sp>
        <p:nvSpPr>
          <p:cNvPr id="2" name="Text 0"/>
          <p:cNvSpPr txBox="1"/>
          <p:nvPr/>
        </p:nvSpPr>
        <p:spPr>
          <a:xfrm>
            <a:off x="548640" y="502920"/>
            <a:ext cx="11094415" cy="320040"/>
          </a:xfrm>
          <a:prstGeom prst="rect">
            <a:avLst/>
          </a:prstGeom>
          <a:noFill/>
          <a:ln/>
        </p:spPr>
        <p:txBody>
          <a:bodyPr wrap="square" lIns="0" tIns="0" rIns="0" bIns="0" rtlCol="0" anchor="ctr"/>
          <a:lstStyle/>
          <a:p>
            <a:pPr indent="0" marL="0">
              <a:buNone/>
            </a:pPr>
            <a:r>
              <a:rPr lang="en-US" sz="1300" b="1" spc="200" kern="0" dirty="0">
                <a:solidFill>
                  <a:srgbClr val="A87C45"/>
                </a:solidFill>
                <a:latin typeface="DM Sans" pitchFamily="34" charset="0"/>
                <a:ea typeface="DM Sans" pitchFamily="34" charset="-122"/>
                <a:cs typeface="DM Sans" pitchFamily="34" charset="-120"/>
              </a:rPr>
              <a:t>RESULTADOS · ENCUESTA PRIMARIA 4/4</a:t>
            </a:r>
            <a:endParaRPr lang="en-US" sz="1300" dirty="0"/>
          </a:p>
        </p:txBody>
      </p:sp>
      <p:sp>
        <p:nvSpPr>
          <p:cNvPr id="3" name="Text 1"/>
          <p:cNvSpPr txBox="1"/>
          <p:nvPr/>
        </p:nvSpPr>
        <p:spPr>
          <a:xfrm>
            <a:off x="548640" y="822960"/>
            <a:ext cx="11094415" cy="822960"/>
          </a:xfrm>
          <a:prstGeom prst="rect">
            <a:avLst/>
          </a:prstGeom>
          <a:noFill/>
          <a:ln/>
        </p:spPr>
        <p:txBody>
          <a:bodyPr wrap="square" lIns="0" tIns="0" rIns="0" bIns="0" rtlCol="0" anchor="ctr"/>
          <a:lstStyle/>
          <a:p>
            <a:pPr algn="l" indent="0" marL="0">
              <a:buNone/>
            </a:pPr>
            <a:r>
              <a:rPr lang="en-US" sz="3000" b="1" dirty="0">
                <a:solidFill>
                  <a:srgbClr val="241F1D"/>
                </a:solidFill>
                <a:latin typeface="Cormorant Garamond" pitchFamily="34" charset="0"/>
                <a:ea typeface="Cormorant Garamond" pitchFamily="34" charset="-122"/>
                <a:cs typeface="Cormorant Garamond" pitchFamily="34" charset="-120"/>
              </a:rPr>
              <a:t>Qué confirma la encuesta y qué falta validar</a:t>
            </a:r>
            <a:endParaRPr lang="en-US" sz="3000" dirty="0"/>
          </a:p>
        </p:txBody>
      </p:sp>
      <p:sp>
        <p:nvSpPr>
          <p:cNvPr id="4" name="Shape 2"/>
          <p:cNvSpPr/>
          <p:nvPr/>
        </p:nvSpPr>
        <p:spPr>
          <a:xfrm>
            <a:off x="548640" y="1783080"/>
            <a:ext cx="4754880" cy="2834640"/>
          </a:xfrm>
          <a:prstGeom prst="roundRect">
            <a:avLst>
              <a:gd name="adj" fmla="val 3871"/>
            </a:avLst>
          </a:prstGeom>
          <a:solidFill>
            <a:srgbClr val="FFFFFF"/>
          </a:solidFill>
          <a:ln w="12700">
            <a:solidFill>
              <a:srgbClr val="EDE1D9"/>
            </a:solidFill>
            <a:prstDash val="solid"/>
          </a:ln>
        </p:spPr>
      </p:sp>
      <p:sp>
        <p:nvSpPr>
          <p:cNvPr id="5" name="Text 3"/>
          <p:cNvSpPr txBox="1"/>
          <p:nvPr/>
        </p:nvSpPr>
        <p:spPr>
          <a:xfrm>
            <a:off x="731520" y="1920240"/>
            <a:ext cx="4389120" cy="365760"/>
          </a:xfrm>
          <a:prstGeom prst="rect">
            <a:avLst/>
          </a:prstGeom>
          <a:noFill/>
          <a:ln/>
        </p:spPr>
        <p:txBody>
          <a:bodyPr wrap="square" lIns="0" tIns="0" rIns="0" bIns="0" rtlCol="0" anchor="ctr"/>
          <a:lstStyle/>
          <a:p>
            <a:pPr indent="0" marL="0">
              <a:buNone/>
            </a:pPr>
            <a:r>
              <a:rPr lang="en-US" sz="1350" b="1" dirty="0">
                <a:solidFill>
                  <a:srgbClr val="241F1D"/>
                </a:solidFill>
                <a:latin typeface="DM Sans" pitchFamily="34" charset="0"/>
                <a:ea typeface="DM Sans" pitchFamily="34" charset="-122"/>
                <a:cs typeface="DM Sans" pitchFamily="34" charset="-120"/>
              </a:rPr>
              <a:t>Factor que más influye en comprar (P7)</a:t>
            </a:r>
            <a:endParaRPr lang="en-US" sz="1350" dirty="0"/>
          </a:p>
        </p:txBody>
      </p:sp>
      <p:graphicFrame>
        <p:nvGraphicFramePr>
          <p:cNvPr id="6" name="Chart 0" descr=""/>
          <p:cNvGraphicFramePr/>
          <p:nvPr/>
        </p:nvGraphicFramePr>
        <p:xfrm>
          <a:off x="640080" y="2286000"/>
          <a:ext cx="4572000" cy="2240280"/>
        </p:xfrm>
        <a:graphic xmlns:a="http://schemas.openxmlformats.org/drawingml/2006/main">
          <a:graphicData uri="http://schemas.openxmlformats.org/drawingml/2006/chart">
            <c:chart xmlns:c="http://schemas.openxmlformats.org/drawingml/2006/chart" r:id="rId1"/>
          </a:graphicData>
        </a:graphic>
      </p:graphicFrame>
      <p:sp>
        <p:nvSpPr>
          <p:cNvPr id="7" name="Text 4"/>
          <p:cNvSpPr txBox="1"/>
          <p:nvPr/>
        </p:nvSpPr>
        <p:spPr>
          <a:xfrm>
            <a:off x="548640" y="4709160"/>
            <a:ext cx="4754880" cy="822960"/>
          </a:xfrm>
          <a:prstGeom prst="rect">
            <a:avLst/>
          </a:prstGeom>
          <a:noFill/>
          <a:ln/>
        </p:spPr>
        <p:txBody>
          <a:bodyPr wrap="square" lIns="0" tIns="0" rIns="0" bIns="0" rtlCol="0" anchor="ctr"/>
          <a:lstStyle/>
          <a:p>
            <a:pPr indent="0" marL="0">
              <a:buNone/>
            </a:pPr>
            <a:r>
              <a:rPr lang="en-US" sz="1250" i="1" dirty="0">
                <a:solidFill>
                  <a:srgbClr val="5B5250"/>
                </a:solidFill>
                <a:latin typeface="DM Sans" pitchFamily="34" charset="0"/>
                <a:ea typeface="DM Sans" pitchFamily="34" charset="-122"/>
                <a:cs typeface="DM Sans" pitchFamily="34" charset="-120"/>
              </a:rPr>
              <a:t>81 % se apoya en video y creadoras: respalda la estrategia de canales (microinfluencers, Instagram, TikTok).</a:t>
            </a:r>
            <a:endParaRPr lang="en-US" sz="1250" dirty="0"/>
          </a:p>
        </p:txBody>
      </p:sp>
      <p:sp>
        <p:nvSpPr>
          <p:cNvPr id="8" name="Shape 5"/>
          <p:cNvSpPr/>
          <p:nvPr/>
        </p:nvSpPr>
        <p:spPr>
          <a:xfrm>
            <a:off x="5532120" y="1783080"/>
            <a:ext cx="2999232" cy="2834640"/>
          </a:xfrm>
          <a:prstGeom prst="roundRect">
            <a:avLst>
              <a:gd name="adj" fmla="val 3871"/>
            </a:avLst>
          </a:prstGeom>
          <a:solidFill>
            <a:srgbClr val="F3DCD8"/>
          </a:solidFill>
          <a:ln/>
        </p:spPr>
      </p:sp>
      <p:sp>
        <p:nvSpPr>
          <p:cNvPr id="9" name="Text 6"/>
          <p:cNvSpPr txBox="1"/>
          <p:nvPr/>
        </p:nvSpPr>
        <p:spPr>
          <a:xfrm>
            <a:off x="5715000" y="1920240"/>
            <a:ext cx="2651760" cy="274320"/>
          </a:xfrm>
          <a:prstGeom prst="rect">
            <a:avLst/>
          </a:prstGeom>
          <a:noFill/>
          <a:ln/>
        </p:spPr>
        <p:txBody>
          <a:bodyPr wrap="square" lIns="0" tIns="0" rIns="0" bIns="0" rtlCol="0" anchor="ctr"/>
          <a:lstStyle/>
          <a:p>
            <a:pPr indent="0" marL="0">
              <a:buNone/>
            </a:pPr>
            <a:r>
              <a:rPr lang="en-US" sz="1300" b="1" spc="100" kern="0" dirty="0">
                <a:solidFill>
                  <a:srgbClr val="A87C45"/>
                </a:solidFill>
                <a:latin typeface="DM Sans" pitchFamily="34" charset="0"/>
                <a:ea typeface="DM Sans" pitchFamily="34" charset="-122"/>
                <a:cs typeface="DM Sans" pitchFamily="34" charset="-120"/>
              </a:rPr>
              <a:t>CONFIRMA</a:t>
            </a:r>
            <a:endParaRPr lang="en-US" sz="1300" dirty="0"/>
          </a:p>
        </p:txBody>
      </p:sp>
      <p:sp>
        <p:nvSpPr>
          <p:cNvPr id="10" name="Text 7"/>
          <p:cNvSpPr txBox="1"/>
          <p:nvPr/>
        </p:nvSpPr>
        <p:spPr>
          <a:xfrm>
            <a:off x="5715000" y="2286000"/>
            <a:ext cx="2651760" cy="2194560"/>
          </a:xfrm>
          <a:prstGeom prst="rect">
            <a:avLst/>
          </a:prstGeom>
          <a:noFill/>
          <a:ln/>
        </p:spPr>
        <p:txBody>
          <a:bodyPr wrap="square" lIns="0" tIns="0" rIns="0" bIns="0" rtlCol="0" anchor="ctr"/>
          <a:lstStyle/>
          <a:p>
            <a:pPr marL="342900" indent="-342900">
              <a:spcAft>
                <a:spcPts val="800"/>
              </a:spcAft>
              <a:buSzPct val="100000"/>
              <a:buChar char="•"/>
            </a:pPr>
            <a:r>
              <a:rPr lang="en-US" sz="1300" dirty="0">
                <a:solidFill>
                  <a:srgbClr val="6B4A43"/>
                </a:solidFill>
                <a:latin typeface="DM Sans" pitchFamily="34" charset="0"/>
                <a:ea typeface="DM Sans" pitchFamily="34" charset="-122"/>
                <a:cs typeface="DM Sans" pitchFamily="34" charset="-120"/>
              </a:rPr>
              <a:t>Uso frecuente, limpieza escasa</a:t>
            </a:r>
            <a:endParaRPr lang="en-US" sz="1300" dirty="0"/>
          </a:p>
          <a:p>
            <a:pPr marL="342900" indent="-342900">
              <a:spcAft>
                <a:spcPts val="800"/>
              </a:spcAft>
              <a:buSzPct val="100000"/>
              <a:buChar char="•"/>
            </a:pPr>
            <a:r>
              <a:rPr lang="en-US" sz="1300" dirty="0">
                <a:solidFill>
                  <a:srgbClr val="6B4A43"/>
                </a:solidFill>
                <a:latin typeface="DM Sans" pitchFamily="34" charset="0"/>
                <a:ea typeface="DM Sans" pitchFamily="34" charset="-122"/>
                <a:cs typeface="DM Sans" pitchFamily="34" charset="-120"/>
              </a:rPr>
              <a:t>Causa principal: fricción del proceso</a:t>
            </a:r>
            <a:endParaRPr lang="en-US" sz="1300" dirty="0"/>
          </a:p>
          <a:p>
            <a:pPr marL="342900" indent="-342900">
              <a:spcAft>
                <a:spcPts val="800"/>
              </a:spcAft>
              <a:buSzPct val="100000"/>
              <a:buChar char="•"/>
            </a:pPr>
            <a:r>
              <a:rPr lang="en-US" sz="1300" dirty="0">
                <a:solidFill>
                  <a:srgbClr val="6B4A43"/>
                </a:solidFill>
                <a:latin typeface="DM Sans" pitchFamily="34" charset="0"/>
                <a:ea typeface="DM Sans" pitchFamily="34" charset="-122"/>
                <a:cs typeface="DM Sans" pitchFamily="34" charset="-120"/>
              </a:rPr>
              <a:t>Utilidad percibida alta (95,2 %)</a:t>
            </a:r>
            <a:endParaRPr lang="en-US" sz="1300" dirty="0"/>
          </a:p>
        </p:txBody>
      </p:sp>
      <p:sp>
        <p:nvSpPr>
          <p:cNvPr id="11" name="Shape 8"/>
          <p:cNvSpPr/>
          <p:nvPr/>
        </p:nvSpPr>
        <p:spPr>
          <a:xfrm>
            <a:off x="8641080" y="1783080"/>
            <a:ext cx="2999232" cy="2834640"/>
          </a:xfrm>
          <a:prstGeom prst="roundRect">
            <a:avLst>
              <a:gd name="adj" fmla="val 3871"/>
            </a:avLst>
          </a:prstGeom>
          <a:solidFill>
            <a:srgbClr val="241F1D"/>
          </a:solidFill>
          <a:ln/>
        </p:spPr>
      </p:sp>
      <p:sp>
        <p:nvSpPr>
          <p:cNvPr id="12" name="Text 9"/>
          <p:cNvSpPr txBox="1"/>
          <p:nvPr/>
        </p:nvSpPr>
        <p:spPr>
          <a:xfrm>
            <a:off x="8823960" y="1920240"/>
            <a:ext cx="2651760" cy="274320"/>
          </a:xfrm>
          <a:prstGeom prst="rect">
            <a:avLst/>
          </a:prstGeom>
          <a:noFill/>
          <a:ln/>
        </p:spPr>
        <p:txBody>
          <a:bodyPr wrap="square" lIns="0" tIns="0" rIns="0" bIns="0" rtlCol="0" anchor="ctr"/>
          <a:lstStyle/>
          <a:p>
            <a:pPr indent="0" marL="0">
              <a:buNone/>
            </a:pPr>
            <a:r>
              <a:rPr lang="en-US" sz="1300" b="1" spc="100" kern="0" dirty="0">
                <a:solidFill>
                  <a:srgbClr val="D98C86"/>
                </a:solidFill>
                <a:latin typeface="DM Sans" pitchFamily="34" charset="0"/>
                <a:ea typeface="DM Sans" pitchFamily="34" charset="-122"/>
                <a:cs typeface="DM Sans" pitchFamily="34" charset="-120"/>
              </a:rPr>
              <a:t>ALERTA</a:t>
            </a:r>
            <a:endParaRPr lang="en-US" sz="1300" dirty="0"/>
          </a:p>
        </p:txBody>
      </p:sp>
      <p:sp>
        <p:nvSpPr>
          <p:cNvPr id="13" name="Text 10"/>
          <p:cNvSpPr txBox="1"/>
          <p:nvPr/>
        </p:nvSpPr>
        <p:spPr>
          <a:xfrm>
            <a:off x="8823960" y="2286000"/>
            <a:ext cx="2651760" cy="2194560"/>
          </a:xfrm>
          <a:prstGeom prst="rect">
            <a:avLst/>
          </a:prstGeom>
          <a:noFill/>
          <a:ln/>
        </p:spPr>
        <p:txBody>
          <a:bodyPr wrap="square" lIns="0" tIns="0" rIns="0" bIns="0" rtlCol="0" anchor="ctr"/>
          <a:lstStyle/>
          <a:p>
            <a:pPr marL="342900" indent="-342900">
              <a:spcAft>
                <a:spcPts val="800"/>
              </a:spcAft>
              <a:buSzPct val="100000"/>
              <a:buChar char="•"/>
            </a:pPr>
            <a:r>
              <a:rPr lang="en-US" sz="1300" dirty="0">
                <a:solidFill>
                  <a:srgbClr val="FBF5F1"/>
                </a:solidFill>
                <a:latin typeface="DM Sans" pitchFamily="34" charset="0"/>
                <a:ea typeface="DM Sans" pitchFamily="34" charset="-122"/>
                <a:cs typeface="DM Sans" pitchFamily="34" charset="-120"/>
              </a:rPr>
              <a:t>Solo 25,2 % paga en el rango objetivo</a:t>
            </a:r>
            <a:endParaRPr lang="en-US" sz="1300" dirty="0"/>
          </a:p>
          <a:p>
            <a:pPr marL="342900" indent="-342900">
              <a:spcAft>
                <a:spcPts val="800"/>
              </a:spcAft>
              <a:buSzPct val="100000"/>
              <a:buChar char="•"/>
            </a:pPr>
            <a:r>
              <a:rPr lang="en-US" sz="1300" dirty="0">
                <a:solidFill>
                  <a:srgbClr val="FBF5F1"/>
                </a:solidFill>
                <a:latin typeface="DM Sans" pitchFamily="34" charset="0"/>
                <a:ea typeface="DM Sans" pitchFamily="34" charset="-122"/>
                <a:cs typeface="DM Sans" pitchFamily="34" charset="-120"/>
              </a:rPr>
              <a:t>56,5 % pagaría menos de COP 150.000</a:t>
            </a:r>
            <a:endParaRPr lang="en-US" sz="1300" dirty="0"/>
          </a:p>
        </p:txBody>
      </p:sp>
      <p:sp>
        <p:nvSpPr>
          <p:cNvPr id="14" name="Shape 11"/>
          <p:cNvSpPr/>
          <p:nvPr/>
        </p:nvSpPr>
        <p:spPr>
          <a:xfrm>
            <a:off x="548640" y="5486400"/>
            <a:ext cx="11094415" cy="731520"/>
          </a:xfrm>
          <a:prstGeom prst="roundRect">
            <a:avLst>
              <a:gd name="adj" fmla="val 12500"/>
            </a:avLst>
          </a:prstGeom>
          <a:solidFill>
            <a:srgbClr val="F3DCD8"/>
          </a:solidFill>
          <a:ln/>
        </p:spPr>
      </p:sp>
      <p:sp>
        <p:nvSpPr>
          <p:cNvPr id="15" name="Text 12"/>
          <p:cNvSpPr txBox="1"/>
          <p:nvPr/>
        </p:nvSpPr>
        <p:spPr>
          <a:xfrm>
            <a:off x="777240" y="5486400"/>
            <a:ext cx="10637215" cy="731520"/>
          </a:xfrm>
          <a:prstGeom prst="rect">
            <a:avLst/>
          </a:prstGeom>
          <a:noFill/>
          <a:ln/>
        </p:spPr>
        <p:txBody>
          <a:bodyPr wrap="square" lIns="0" tIns="0" rIns="0" bIns="0" rtlCol="0" anchor="ctr"/>
          <a:lstStyle/>
          <a:p>
            <a:pPr indent="0" marL="0">
              <a:buNone/>
            </a:pPr>
            <a:r>
              <a:rPr lang="en-US" sz="1250" dirty="0">
                <a:solidFill>
                  <a:srgbClr val="6B4A43"/>
                </a:solidFill>
                <a:latin typeface="DM Sans" pitchFamily="34" charset="0"/>
                <a:ea typeface="DM Sans" pitchFamily="34" charset="-122"/>
                <a:cs typeface="DM Sans" pitchFamily="34" charset="-120"/>
              </a:rPr>
              <a:t>Limitaciones: muestra por conveniencia (solo universitarias), autoselección, preguntas cerradas, sin datos de edad ni estrato. Es evidencia exploratoria, no sustituye la encuesta ampliada (200 mujeres, 18-35).</a:t>
            </a:r>
            <a:endParaRPr lang="en-US" sz="1250" dirty="0"/>
          </a:p>
        </p:txBody>
      </p:sp>
      <p:sp>
        <p:nvSpPr>
          <p:cNvPr id="16" name="Text 13"/>
          <p:cNvSpPr txBox="1"/>
          <p:nvPr/>
        </p:nvSpPr>
        <p:spPr>
          <a:xfrm>
            <a:off x="548640" y="6355080"/>
            <a:ext cx="11094415" cy="365760"/>
          </a:xfrm>
          <a:prstGeom prst="rect">
            <a:avLst/>
          </a:prstGeom>
          <a:noFill/>
          <a:ln/>
        </p:spPr>
        <p:txBody>
          <a:bodyPr wrap="square" lIns="0" tIns="0" rIns="0" bIns="0" rtlCol="0" anchor="ctr"/>
          <a:lstStyle/>
          <a:p>
            <a:pPr indent="0" marL="0">
              <a:buNone/>
            </a:pPr>
            <a:r>
              <a:rPr lang="en-US" sz="1100" dirty="0">
                <a:solidFill>
                  <a:srgbClr val="8A7A73"/>
                </a:solidFill>
                <a:latin typeface="DM Sans" pitchFamily="34" charset="0"/>
                <a:ea typeface="DM Sans" pitchFamily="34" charset="-122"/>
                <a:cs typeface="DM Sans" pitchFamily="34" charset="-120"/>
              </a:rPr>
              <a:t>Fuente: elaboración propia (Grupo BlendPure, 2026). Encuesta exploratoria vía Google Forms, n = 147 mujeres universitarias PUJ. Muestra por conveniencia, no representativa. (est.) = calculado por diferencia a 100 %.</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BF5F1"/>
        </a:solidFill>
      </p:bgPr>
    </p:bg>
    <p:spTree>
      <p:nvGrpSpPr>
        <p:cNvPr id="1" name=""/>
        <p:cNvGrpSpPr/>
        <p:nvPr/>
      </p:nvGrpSpPr>
      <p:grpSpPr>
        <a:xfrm>
          <a:off x="0" y="0"/>
          <a:ext cx="0" cy="0"/>
          <a:chOff x="0" y="0"/>
          <a:chExt cx="0" cy="0"/>
        </a:xfrm>
      </p:grpSpPr>
      <p:sp>
        <p:nvSpPr>
          <p:cNvPr id="2" name="Text 0"/>
          <p:cNvSpPr txBox="1"/>
          <p:nvPr/>
        </p:nvSpPr>
        <p:spPr>
          <a:xfrm>
            <a:off x="548640" y="502920"/>
            <a:ext cx="11094415" cy="320040"/>
          </a:xfrm>
          <a:prstGeom prst="rect">
            <a:avLst/>
          </a:prstGeom>
          <a:noFill/>
          <a:ln/>
        </p:spPr>
        <p:txBody>
          <a:bodyPr wrap="square" lIns="0" tIns="0" rIns="0" bIns="0" rtlCol="0" anchor="ctr"/>
          <a:lstStyle/>
          <a:p>
            <a:pPr indent="0" marL="0">
              <a:buNone/>
            </a:pPr>
            <a:r>
              <a:rPr lang="en-US" sz="1300" b="1" spc="200" kern="0" dirty="0">
                <a:solidFill>
                  <a:srgbClr val="A87C45"/>
                </a:solidFill>
                <a:latin typeface="DM Sans" pitchFamily="34" charset="0"/>
                <a:ea typeface="DM Sans" pitchFamily="34" charset="-122"/>
                <a:cs typeface="DM Sans" pitchFamily="34" charset="-120"/>
              </a:rPr>
              <a:t>ENTREVISTAS A ESPECIALISTAS 1/2</a:t>
            </a:r>
            <a:endParaRPr lang="en-US" sz="1300" dirty="0"/>
          </a:p>
        </p:txBody>
      </p:sp>
      <p:sp>
        <p:nvSpPr>
          <p:cNvPr id="3" name="Text 1"/>
          <p:cNvSpPr txBox="1"/>
          <p:nvPr/>
        </p:nvSpPr>
        <p:spPr>
          <a:xfrm>
            <a:off x="548640" y="822960"/>
            <a:ext cx="11094415" cy="822960"/>
          </a:xfrm>
          <a:prstGeom prst="rect">
            <a:avLst/>
          </a:prstGeom>
          <a:noFill/>
          <a:ln/>
        </p:spPr>
        <p:txBody>
          <a:bodyPr wrap="square" lIns="0" tIns="0" rIns="0" bIns="0" rtlCol="0" anchor="ctr"/>
          <a:lstStyle/>
          <a:p>
            <a:pPr algn="l" indent="0" marL="0">
              <a:buNone/>
            </a:pPr>
            <a:r>
              <a:rPr lang="en-US" sz="3000" b="1" dirty="0">
                <a:solidFill>
                  <a:srgbClr val="241F1D"/>
                </a:solidFill>
                <a:latin typeface="Cormorant Garamond" pitchFamily="34" charset="0"/>
                <a:ea typeface="Cormorant Garamond" pitchFamily="34" charset="-122"/>
                <a:cs typeface="Cormorant Garamond" pitchFamily="34" charset="-120"/>
              </a:rPr>
              <a:t>Validan el problema, pero exigen pruebas</a:t>
            </a:r>
            <a:endParaRPr lang="en-US" sz="3000" dirty="0"/>
          </a:p>
        </p:txBody>
      </p:sp>
      <p:sp>
        <p:nvSpPr>
          <p:cNvPr id="4" name="Text 2"/>
          <p:cNvSpPr txBox="1"/>
          <p:nvPr/>
        </p:nvSpPr>
        <p:spPr>
          <a:xfrm>
            <a:off x="548640" y="1417320"/>
            <a:ext cx="11094415" cy="320040"/>
          </a:xfrm>
          <a:prstGeom prst="rect">
            <a:avLst/>
          </a:prstGeom>
          <a:noFill/>
          <a:ln/>
        </p:spPr>
        <p:txBody>
          <a:bodyPr wrap="square" lIns="0" tIns="0" rIns="0" bIns="0" rtlCol="0" anchor="ctr"/>
          <a:lstStyle/>
          <a:p>
            <a:pPr indent="0" marL="0">
              <a:buNone/>
            </a:pPr>
            <a:r>
              <a:rPr lang="en-US" sz="1300" dirty="0">
                <a:solidFill>
                  <a:srgbClr val="5B5250"/>
                </a:solidFill>
                <a:latin typeface="DM Sans" pitchFamily="34" charset="0"/>
                <a:ea typeface="DM Sans" pitchFamily="34" charset="-122"/>
                <a:cs typeface="DM Sans" pitchFamily="34" charset="-120"/>
              </a:rPr>
              <a:t>5 especialistas: 2 dermatólogas, 2 maquilladoras profesionales y 1 beauty creator</a:t>
            </a:r>
            <a:endParaRPr lang="en-US" sz="1300" dirty="0"/>
          </a:p>
        </p:txBody>
      </p:sp>
      <p:sp>
        <p:nvSpPr>
          <p:cNvPr id="5" name="Shape 3"/>
          <p:cNvSpPr/>
          <p:nvPr/>
        </p:nvSpPr>
        <p:spPr>
          <a:xfrm>
            <a:off x="548640" y="1874520"/>
            <a:ext cx="3611880" cy="1600200"/>
          </a:xfrm>
          <a:prstGeom prst="roundRect">
            <a:avLst>
              <a:gd name="adj" fmla="val 6857"/>
            </a:avLst>
          </a:prstGeom>
          <a:solidFill>
            <a:srgbClr val="FFFFFF"/>
          </a:solidFill>
          <a:ln w="12700">
            <a:solidFill>
              <a:srgbClr val="EDE1D9"/>
            </a:solidFill>
            <a:prstDash val="solid"/>
          </a:ln>
        </p:spPr>
      </p:sp>
      <p:sp>
        <p:nvSpPr>
          <p:cNvPr id="6" name="Text 4"/>
          <p:cNvSpPr txBox="1"/>
          <p:nvPr/>
        </p:nvSpPr>
        <p:spPr>
          <a:xfrm>
            <a:off x="731520" y="1965960"/>
            <a:ext cx="3246120" cy="1051560"/>
          </a:xfrm>
          <a:prstGeom prst="rect">
            <a:avLst/>
          </a:prstGeom>
          <a:noFill/>
          <a:ln/>
        </p:spPr>
        <p:txBody>
          <a:bodyPr wrap="square" lIns="0" tIns="0" rIns="0" bIns="0" rtlCol="0" anchor="ctr"/>
          <a:lstStyle/>
          <a:p>
            <a:pPr indent="0" marL="0">
              <a:buNone/>
            </a:pPr>
            <a:r>
              <a:rPr lang="en-US" sz="1500" b="1" i="1" dirty="0">
                <a:solidFill>
                  <a:srgbClr val="241F1D"/>
                </a:solidFill>
                <a:latin typeface="Cormorant Garamond" pitchFamily="34" charset="0"/>
                <a:ea typeface="Cormorant Garamond" pitchFamily="34" charset="-122"/>
                <a:cs typeface="Cormorant Garamond" pitchFamily="34" charset="-120"/>
              </a:rPr>
              <a:t>“No me sirve de mucho lavarla si después tengo que esperar horas a que se seque.”</a:t>
            </a:r>
            <a:endParaRPr lang="en-US" sz="1500" dirty="0"/>
          </a:p>
        </p:txBody>
      </p:sp>
      <p:sp>
        <p:nvSpPr>
          <p:cNvPr id="7" name="Text 5"/>
          <p:cNvSpPr txBox="1"/>
          <p:nvPr/>
        </p:nvSpPr>
        <p:spPr>
          <a:xfrm>
            <a:off x="731520" y="3017520"/>
            <a:ext cx="3246120" cy="365760"/>
          </a:xfrm>
          <a:prstGeom prst="rect">
            <a:avLst/>
          </a:prstGeom>
          <a:noFill/>
          <a:ln/>
        </p:spPr>
        <p:txBody>
          <a:bodyPr wrap="square" lIns="0" tIns="0" rIns="0" bIns="0" rtlCol="0" anchor="ctr"/>
          <a:lstStyle/>
          <a:p>
            <a:pPr indent="0" marL="0">
              <a:buNone/>
            </a:pPr>
            <a:r>
              <a:rPr lang="en-US" sz="1050" b="1" dirty="0">
                <a:solidFill>
                  <a:srgbClr val="A87C45"/>
                </a:solidFill>
                <a:latin typeface="DM Sans" pitchFamily="34" charset="0"/>
                <a:ea typeface="DM Sans" pitchFamily="34" charset="-122"/>
                <a:cs typeface="DM Sans" pitchFamily="34" charset="-120"/>
              </a:rPr>
              <a:t>Laura Quiñonez · maquilladora social y de eventos</a:t>
            </a:r>
            <a:endParaRPr lang="en-US" sz="1050" dirty="0"/>
          </a:p>
        </p:txBody>
      </p:sp>
      <p:sp>
        <p:nvSpPr>
          <p:cNvPr id="8" name="Shape 6"/>
          <p:cNvSpPr/>
          <p:nvPr/>
        </p:nvSpPr>
        <p:spPr>
          <a:xfrm>
            <a:off x="4334256" y="1874520"/>
            <a:ext cx="3611880" cy="1600200"/>
          </a:xfrm>
          <a:prstGeom prst="roundRect">
            <a:avLst>
              <a:gd name="adj" fmla="val 6857"/>
            </a:avLst>
          </a:prstGeom>
          <a:solidFill>
            <a:srgbClr val="FFFFFF"/>
          </a:solidFill>
          <a:ln w="12700">
            <a:solidFill>
              <a:srgbClr val="EDE1D9"/>
            </a:solidFill>
            <a:prstDash val="solid"/>
          </a:ln>
        </p:spPr>
      </p:sp>
      <p:sp>
        <p:nvSpPr>
          <p:cNvPr id="9" name="Text 7"/>
          <p:cNvSpPr txBox="1"/>
          <p:nvPr/>
        </p:nvSpPr>
        <p:spPr>
          <a:xfrm>
            <a:off x="4517136" y="1965960"/>
            <a:ext cx="3246120" cy="1051560"/>
          </a:xfrm>
          <a:prstGeom prst="rect">
            <a:avLst/>
          </a:prstGeom>
          <a:noFill/>
          <a:ln/>
        </p:spPr>
        <p:txBody>
          <a:bodyPr wrap="square" lIns="0" tIns="0" rIns="0" bIns="0" rtlCol="0" anchor="ctr"/>
          <a:lstStyle/>
          <a:p>
            <a:pPr indent="0" marL="0">
              <a:buNone/>
            </a:pPr>
            <a:r>
              <a:rPr lang="en-US" sz="1500" b="1" i="1" dirty="0">
                <a:solidFill>
                  <a:srgbClr val="241F1D"/>
                </a:solidFill>
                <a:latin typeface="Cormorant Garamond" pitchFamily="34" charset="0"/>
                <a:ea typeface="Cormorant Garamond" pitchFamily="34" charset="-122"/>
                <a:cs typeface="Cormorant Garamond" pitchFamily="34" charset="-120"/>
              </a:rPr>
              <a:t>“La principal barrera es la conveniencia: que sea fácil, rápido.”</a:t>
            </a:r>
            <a:endParaRPr lang="en-US" sz="1500" dirty="0"/>
          </a:p>
        </p:txBody>
      </p:sp>
      <p:sp>
        <p:nvSpPr>
          <p:cNvPr id="10" name="Text 8"/>
          <p:cNvSpPr txBox="1"/>
          <p:nvPr/>
        </p:nvSpPr>
        <p:spPr>
          <a:xfrm>
            <a:off x="4517136" y="3017520"/>
            <a:ext cx="3246120" cy="365760"/>
          </a:xfrm>
          <a:prstGeom prst="rect">
            <a:avLst/>
          </a:prstGeom>
          <a:noFill/>
          <a:ln/>
        </p:spPr>
        <p:txBody>
          <a:bodyPr wrap="square" lIns="0" tIns="0" rIns="0" bIns="0" rtlCol="0" anchor="ctr"/>
          <a:lstStyle/>
          <a:p>
            <a:pPr indent="0" marL="0">
              <a:buNone/>
            </a:pPr>
            <a:r>
              <a:rPr lang="en-US" sz="1050" b="1" dirty="0">
                <a:solidFill>
                  <a:srgbClr val="A87C45"/>
                </a:solidFill>
                <a:latin typeface="DM Sans" pitchFamily="34" charset="0"/>
                <a:ea typeface="DM Sans" pitchFamily="34" charset="-122"/>
                <a:cs typeface="DM Sans" pitchFamily="34" charset="-120"/>
              </a:rPr>
              <a:t>Camila Hoyos · beauty creator</a:t>
            </a:r>
            <a:endParaRPr lang="en-US" sz="1050" dirty="0"/>
          </a:p>
        </p:txBody>
      </p:sp>
      <p:sp>
        <p:nvSpPr>
          <p:cNvPr id="11" name="Shape 9"/>
          <p:cNvSpPr/>
          <p:nvPr/>
        </p:nvSpPr>
        <p:spPr>
          <a:xfrm>
            <a:off x="8119872" y="1874520"/>
            <a:ext cx="3611880" cy="1600200"/>
          </a:xfrm>
          <a:prstGeom prst="roundRect">
            <a:avLst>
              <a:gd name="adj" fmla="val 6857"/>
            </a:avLst>
          </a:prstGeom>
          <a:solidFill>
            <a:srgbClr val="241F1D"/>
          </a:solidFill>
          <a:ln/>
        </p:spPr>
      </p:sp>
      <p:sp>
        <p:nvSpPr>
          <p:cNvPr id="12" name="Text 10"/>
          <p:cNvSpPr txBox="1"/>
          <p:nvPr/>
        </p:nvSpPr>
        <p:spPr>
          <a:xfrm>
            <a:off x="8302752" y="1965960"/>
            <a:ext cx="3246120" cy="1051560"/>
          </a:xfrm>
          <a:prstGeom prst="rect">
            <a:avLst/>
          </a:prstGeom>
          <a:noFill/>
          <a:ln/>
        </p:spPr>
        <p:txBody>
          <a:bodyPr wrap="square" lIns="0" tIns="0" rIns="0" bIns="0" rtlCol="0" anchor="ctr"/>
          <a:lstStyle/>
          <a:p>
            <a:pPr indent="0" marL="0">
              <a:buNone/>
            </a:pPr>
            <a:r>
              <a:rPr lang="en-US" sz="1500" b="1" i="1" dirty="0">
                <a:solidFill>
                  <a:srgbClr val="F5E9E2"/>
                </a:solidFill>
                <a:latin typeface="Cormorant Garamond" pitchFamily="34" charset="0"/>
                <a:ea typeface="Cormorant Garamond" pitchFamily="34" charset="-122"/>
                <a:cs typeface="Cormorant Garamond" pitchFamily="34" charset="-120"/>
              </a:rPr>
              <a:t>“No diría que el valor es prevenir enfermedades: sería una promesa demasiado grande.”</a:t>
            </a:r>
            <a:endParaRPr lang="en-US" sz="1500" dirty="0"/>
          </a:p>
        </p:txBody>
      </p:sp>
      <p:sp>
        <p:nvSpPr>
          <p:cNvPr id="13" name="Text 11"/>
          <p:cNvSpPr txBox="1"/>
          <p:nvPr/>
        </p:nvSpPr>
        <p:spPr>
          <a:xfrm>
            <a:off x="8302752" y="3017520"/>
            <a:ext cx="3246120" cy="365760"/>
          </a:xfrm>
          <a:prstGeom prst="rect">
            <a:avLst/>
          </a:prstGeom>
          <a:noFill/>
          <a:ln/>
        </p:spPr>
        <p:txBody>
          <a:bodyPr wrap="square" lIns="0" tIns="0" rIns="0" bIns="0" rtlCol="0" anchor="ctr"/>
          <a:lstStyle/>
          <a:p>
            <a:pPr indent="0" marL="0">
              <a:buNone/>
            </a:pPr>
            <a:r>
              <a:rPr lang="en-US" sz="1050" b="1" dirty="0">
                <a:solidFill>
                  <a:srgbClr val="D98C86"/>
                </a:solidFill>
                <a:latin typeface="DM Sans" pitchFamily="34" charset="0"/>
                <a:ea typeface="DM Sans" pitchFamily="34" charset="-122"/>
                <a:cs typeface="DM Sans" pitchFamily="34" charset="-120"/>
              </a:rPr>
              <a:t>Dra. Andrea · dermatóloga, Sanitas</a:t>
            </a:r>
            <a:endParaRPr lang="en-US" sz="1050" dirty="0"/>
          </a:p>
        </p:txBody>
      </p:sp>
      <p:sp>
        <p:nvSpPr>
          <p:cNvPr id="14" name="Shape 12"/>
          <p:cNvSpPr/>
          <p:nvPr/>
        </p:nvSpPr>
        <p:spPr>
          <a:xfrm>
            <a:off x="548640" y="3639312"/>
            <a:ext cx="3611880" cy="2468880"/>
          </a:xfrm>
          <a:prstGeom prst="roundRect">
            <a:avLst>
              <a:gd name="adj" fmla="val 4444"/>
            </a:avLst>
          </a:prstGeom>
          <a:solidFill>
            <a:srgbClr val="FFFFFF"/>
          </a:solidFill>
          <a:ln w="12700">
            <a:solidFill>
              <a:srgbClr val="EDE1D9"/>
            </a:solidFill>
            <a:prstDash val="solid"/>
          </a:ln>
        </p:spPr>
      </p:sp>
      <p:sp>
        <p:nvSpPr>
          <p:cNvPr id="15" name="Text 13"/>
          <p:cNvSpPr txBox="1"/>
          <p:nvPr/>
        </p:nvSpPr>
        <p:spPr>
          <a:xfrm>
            <a:off x="731520" y="3749040"/>
            <a:ext cx="3246120" cy="274320"/>
          </a:xfrm>
          <a:prstGeom prst="rect">
            <a:avLst/>
          </a:prstGeom>
          <a:noFill/>
          <a:ln/>
        </p:spPr>
        <p:txBody>
          <a:bodyPr wrap="square" lIns="0" tIns="0" rIns="0" bIns="0" rtlCol="0" anchor="ctr"/>
          <a:lstStyle/>
          <a:p>
            <a:pPr indent="0" marL="0">
              <a:buNone/>
            </a:pPr>
            <a:r>
              <a:rPr lang="en-US" sz="1250" b="1" spc="100" kern="0" dirty="0">
                <a:solidFill>
                  <a:srgbClr val="A87C45"/>
                </a:solidFill>
                <a:latin typeface="DM Sans" pitchFamily="34" charset="0"/>
                <a:ea typeface="DM Sans" pitchFamily="34" charset="-122"/>
                <a:cs typeface="DM Sans" pitchFamily="34" charset="-120"/>
              </a:rPr>
              <a:t>COINCIDEN EN</a:t>
            </a:r>
            <a:endParaRPr lang="en-US" sz="1250" dirty="0"/>
          </a:p>
        </p:txBody>
      </p:sp>
      <p:sp>
        <p:nvSpPr>
          <p:cNvPr id="16" name="Text 14"/>
          <p:cNvSpPr txBox="1"/>
          <p:nvPr/>
        </p:nvSpPr>
        <p:spPr>
          <a:xfrm>
            <a:off x="731520" y="4069080"/>
            <a:ext cx="3246120" cy="196596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4A4039"/>
                </a:solidFill>
                <a:latin typeface="DM Sans" pitchFamily="34" charset="0"/>
                <a:ea typeface="DM Sans" pitchFamily="34" charset="-122"/>
                <a:cs typeface="DM Sans" pitchFamily="34" charset="-120"/>
              </a:rPr>
              <a:t>La causa es fricción: pereza, tiempo y secado, no falta de conocimiento</a:t>
            </a:r>
            <a:endParaRPr lang="en-US" sz="1250" dirty="0"/>
          </a:p>
          <a:p>
            <a:pPr marL="342900" indent="-342900">
              <a:spcAft>
                <a:spcPts val="600"/>
              </a:spcAft>
              <a:buSzPct val="100000"/>
              <a:buChar char="•"/>
            </a:pPr>
            <a:r>
              <a:rPr lang="en-US" sz="1250" dirty="0">
                <a:solidFill>
                  <a:srgbClr val="4A4039"/>
                </a:solidFill>
                <a:latin typeface="DM Sans" pitchFamily="34" charset="0"/>
                <a:ea typeface="DM Sans" pitchFamily="34" charset="-122"/>
                <a:cs typeface="DM Sans" pitchFamily="34" charset="-120"/>
              </a:rPr>
              <a:t>El valor a comunicar es ahorro de tiempo y comodidad</a:t>
            </a:r>
            <a:endParaRPr lang="en-US" sz="1250" dirty="0"/>
          </a:p>
        </p:txBody>
      </p:sp>
      <p:sp>
        <p:nvSpPr>
          <p:cNvPr id="17" name="Shape 15"/>
          <p:cNvSpPr/>
          <p:nvPr/>
        </p:nvSpPr>
        <p:spPr>
          <a:xfrm>
            <a:off x="4334256" y="3639312"/>
            <a:ext cx="3611880" cy="2468880"/>
          </a:xfrm>
          <a:prstGeom prst="roundRect">
            <a:avLst>
              <a:gd name="adj" fmla="val 4444"/>
            </a:avLst>
          </a:prstGeom>
          <a:solidFill>
            <a:srgbClr val="FFFFFF"/>
          </a:solidFill>
          <a:ln w="12700">
            <a:solidFill>
              <a:srgbClr val="EDE1D9"/>
            </a:solidFill>
            <a:prstDash val="solid"/>
          </a:ln>
        </p:spPr>
      </p:sp>
      <p:sp>
        <p:nvSpPr>
          <p:cNvPr id="18" name="Text 16"/>
          <p:cNvSpPr txBox="1"/>
          <p:nvPr/>
        </p:nvSpPr>
        <p:spPr>
          <a:xfrm>
            <a:off x="4517136" y="3749040"/>
            <a:ext cx="3246120" cy="274320"/>
          </a:xfrm>
          <a:prstGeom prst="rect">
            <a:avLst/>
          </a:prstGeom>
          <a:noFill/>
          <a:ln/>
        </p:spPr>
        <p:txBody>
          <a:bodyPr wrap="square" lIns="0" tIns="0" rIns="0" bIns="0" rtlCol="0" anchor="ctr"/>
          <a:lstStyle/>
          <a:p>
            <a:pPr indent="0" marL="0">
              <a:buNone/>
            </a:pPr>
            <a:r>
              <a:rPr lang="en-US" sz="1250" b="1" spc="100" kern="0" dirty="0">
                <a:solidFill>
                  <a:srgbClr val="A87C45"/>
                </a:solidFill>
                <a:latin typeface="DM Sans" pitchFamily="34" charset="0"/>
                <a:ea typeface="DM Sans" pitchFamily="34" charset="-122"/>
                <a:cs typeface="DM Sans" pitchFamily="34" charset="-120"/>
              </a:rPr>
              <a:t>PIDEN VALIDAR</a:t>
            </a:r>
            <a:endParaRPr lang="en-US" sz="1250" dirty="0"/>
          </a:p>
        </p:txBody>
      </p:sp>
      <p:sp>
        <p:nvSpPr>
          <p:cNvPr id="19" name="Text 17"/>
          <p:cNvSpPr txBox="1"/>
          <p:nvPr/>
        </p:nvSpPr>
        <p:spPr>
          <a:xfrm>
            <a:off x="4517136" y="4069080"/>
            <a:ext cx="3246120" cy="196596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4A4039"/>
                </a:solidFill>
                <a:latin typeface="DM Sans" pitchFamily="34" charset="0"/>
                <a:ea typeface="DM Sans" pitchFamily="34" charset="-122"/>
                <a:cs typeface="DM Sans" pitchFamily="34" charset="-120"/>
              </a:rPr>
              <a:t>Tiempo real del ciclo completo y que no deteriore la esponja</a:t>
            </a:r>
            <a:endParaRPr lang="en-US" sz="1250" dirty="0"/>
          </a:p>
          <a:p>
            <a:pPr marL="342900" indent="-342900">
              <a:spcAft>
                <a:spcPts val="600"/>
              </a:spcAft>
              <a:buSzPct val="100000"/>
              <a:buChar char="•"/>
            </a:pPr>
            <a:r>
              <a:rPr lang="en-US" sz="1250" dirty="0">
                <a:solidFill>
                  <a:srgbClr val="4A4039"/>
                </a:solidFill>
                <a:latin typeface="DM Sans" pitchFamily="34" charset="0"/>
                <a:ea typeface="DM Sans" pitchFamily="34" charset="-122"/>
                <a:cs typeface="DM Sans" pitchFamily="34" charset="-120"/>
              </a:rPr>
              <a:t>Evidencia independiente de UV-C; no prometer “elimina el 100 %” (Dras. Andrea y Ciraldo)</a:t>
            </a:r>
            <a:endParaRPr lang="en-US" sz="1250" dirty="0"/>
          </a:p>
        </p:txBody>
      </p:sp>
      <p:sp>
        <p:nvSpPr>
          <p:cNvPr id="20" name="Shape 18"/>
          <p:cNvSpPr/>
          <p:nvPr/>
        </p:nvSpPr>
        <p:spPr>
          <a:xfrm>
            <a:off x="8119872" y="3639312"/>
            <a:ext cx="3611880" cy="2468880"/>
          </a:xfrm>
          <a:prstGeom prst="roundRect">
            <a:avLst>
              <a:gd name="adj" fmla="val 4444"/>
            </a:avLst>
          </a:prstGeom>
          <a:solidFill>
            <a:srgbClr val="F3DCD8"/>
          </a:solidFill>
          <a:ln/>
        </p:spPr>
      </p:sp>
      <p:sp>
        <p:nvSpPr>
          <p:cNvPr id="21" name="Text 19"/>
          <p:cNvSpPr txBox="1"/>
          <p:nvPr/>
        </p:nvSpPr>
        <p:spPr>
          <a:xfrm>
            <a:off x="8302752" y="3749040"/>
            <a:ext cx="3246120" cy="274320"/>
          </a:xfrm>
          <a:prstGeom prst="rect">
            <a:avLst/>
          </a:prstGeom>
          <a:noFill/>
          <a:ln/>
        </p:spPr>
        <p:txBody>
          <a:bodyPr wrap="square" lIns="0" tIns="0" rIns="0" bIns="0" rtlCol="0" anchor="ctr"/>
          <a:lstStyle/>
          <a:p>
            <a:pPr indent="0" marL="0">
              <a:buNone/>
            </a:pPr>
            <a:r>
              <a:rPr lang="en-US" sz="1250" b="1" spc="100" kern="0" dirty="0">
                <a:solidFill>
                  <a:srgbClr val="6B4A43"/>
                </a:solidFill>
                <a:latin typeface="DM Sans" pitchFamily="34" charset="0"/>
                <a:ea typeface="DM Sans" pitchFamily="34" charset="-122"/>
                <a:cs typeface="DM Sans" pitchFamily="34" charset="-120"/>
              </a:rPr>
              <a:t>MATIZ CLAVE</a:t>
            </a:r>
            <a:endParaRPr lang="en-US" sz="1250" dirty="0"/>
          </a:p>
        </p:txBody>
      </p:sp>
      <p:sp>
        <p:nvSpPr>
          <p:cNvPr id="22" name="Text 20"/>
          <p:cNvSpPr txBox="1"/>
          <p:nvPr/>
        </p:nvSpPr>
        <p:spPr>
          <a:xfrm>
            <a:off x="8302752" y="4069080"/>
            <a:ext cx="3246120" cy="196596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4A4039"/>
                </a:solidFill>
                <a:latin typeface="DM Sans" pitchFamily="34" charset="0"/>
                <a:ea typeface="DM Sans" pitchFamily="34" charset="-122"/>
                <a:cs typeface="DM Sans" pitchFamily="34" charset="-120"/>
              </a:rPr>
              <a:t>Paola Puentes (maquilladora) no usa esponjas por bioseguridad: usa borlas desechables y brochas</a:t>
            </a:r>
            <a:endParaRPr lang="en-US" sz="1250" dirty="0"/>
          </a:p>
          <a:p>
            <a:pPr marL="342900" indent="-342900">
              <a:spcAft>
                <a:spcPts val="600"/>
              </a:spcAft>
              <a:buSzPct val="100000"/>
              <a:buChar char="•"/>
            </a:pPr>
            <a:r>
              <a:rPr lang="en-US" sz="1250" dirty="0">
                <a:solidFill>
                  <a:srgbClr val="4A4039"/>
                </a:solidFill>
                <a:latin typeface="DM Sans" pitchFamily="34" charset="0"/>
                <a:ea typeface="DM Sans" pitchFamily="34" charset="-122"/>
                <a:cs typeface="DM Sans" pitchFamily="34" charset="-120"/>
              </a:rPr>
              <a:t>Esperaría máx. 3 min entre clientas y lo prefiere en casa, no portátil; UV-C no justifica subir tarifas</a:t>
            </a:r>
            <a:endParaRPr lang="en-US" sz="1250" dirty="0"/>
          </a:p>
        </p:txBody>
      </p:sp>
      <p:sp>
        <p:nvSpPr>
          <p:cNvPr id="23" name="Text 21"/>
          <p:cNvSpPr txBox="1"/>
          <p:nvPr/>
        </p:nvSpPr>
        <p:spPr>
          <a:xfrm>
            <a:off x="548640" y="6355080"/>
            <a:ext cx="11094415" cy="365760"/>
          </a:xfrm>
          <a:prstGeom prst="rect">
            <a:avLst/>
          </a:prstGeom>
          <a:noFill/>
          <a:ln/>
        </p:spPr>
        <p:txBody>
          <a:bodyPr wrap="square" lIns="0" tIns="0" rIns="0" bIns="0" rtlCol="0" anchor="ctr"/>
          <a:lstStyle/>
          <a:p>
            <a:pPr indent="0" marL="0">
              <a:buNone/>
            </a:pPr>
            <a:r>
              <a:rPr lang="en-US" sz="1100" dirty="0">
                <a:solidFill>
                  <a:srgbClr val="8A7A73"/>
                </a:solidFill>
                <a:latin typeface="DM Sans" pitchFamily="34" charset="0"/>
                <a:ea typeface="DM Sans" pitchFamily="34" charset="-122"/>
                <a:cs typeface="DM Sans" pitchFamily="34" charset="-120"/>
              </a:rPr>
              <a:t>Fuente: elaboración propia (Grupo BlendPure, 2026). Entrevistas semiestructuradas a especialistas; citas textuales de las transcripciones. Evidencia cualitativa, no estadística.</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241F1D"/>
        </a:solidFill>
      </p:bgPr>
    </p:bg>
    <p:spTree>
      <p:nvGrpSpPr>
        <p:cNvPr id="1" name=""/>
        <p:cNvGrpSpPr/>
        <p:nvPr/>
      </p:nvGrpSpPr>
      <p:grpSpPr>
        <a:xfrm>
          <a:off x="0" y="0"/>
          <a:ext cx="0" cy="0"/>
          <a:chOff x="0" y="0"/>
          <a:chExt cx="0" cy="0"/>
        </a:xfrm>
      </p:grpSpPr>
      <p:sp>
        <p:nvSpPr>
          <p:cNvPr id="2" name="Text 0"/>
          <p:cNvSpPr txBox="1"/>
          <p:nvPr/>
        </p:nvSpPr>
        <p:spPr>
          <a:xfrm>
            <a:off x="548640" y="502920"/>
            <a:ext cx="11094415" cy="320040"/>
          </a:xfrm>
          <a:prstGeom prst="rect">
            <a:avLst/>
          </a:prstGeom>
          <a:noFill/>
          <a:ln/>
        </p:spPr>
        <p:txBody>
          <a:bodyPr wrap="square" lIns="0" tIns="0" rIns="0" bIns="0" rtlCol="0" anchor="ctr"/>
          <a:lstStyle/>
          <a:p>
            <a:pPr indent="0" marL="0">
              <a:buNone/>
            </a:pPr>
            <a:r>
              <a:rPr lang="en-US" sz="1300" b="1" spc="200" kern="0" dirty="0">
                <a:solidFill>
                  <a:srgbClr val="D98C86"/>
                </a:solidFill>
                <a:latin typeface="DM Sans" pitchFamily="34" charset="0"/>
                <a:ea typeface="DM Sans" pitchFamily="34" charset="-122"/>
                <a:cs typeface="DM Sans" pitchFamily="34" charset="-120"/>
              </a:rPr>
              <a:t>ENTREVISTAS A ESPECIALISTAS 2/2</a:t>
            </a:r>
            <a:endParaRPr lang="en-US" sz="1300" dirty="0"/>
          </a:p>
        </p:txBody>
      </p:sp>
      <p:sp>
        <p:nvSpPr>
          <p:cNvPr id="3" name="Text 1"/>
          <p:cNvSpPr txBox="1"/>
          <p:nvPr/>
        </p:nvSpPr>
        <p:spPr>
          <a:xfrm>
            <a:off x="548640" y="822960"/>
            <a:ext cx="11094415" cy="822960"/>
          </a:xfrm>
          <a:prstGeom prst="rect">
            <a:avLst/>
          </a:prstGeom>
          <a:noFill/>
          <a:ln/>
        </p:spPr>
        <p:txBody>
          <a:bodyPr wrap="square" lIns="0" tIns="0" rIns="0" bIns="0" rtlCol="0" anchor="ctr"/>
          <a:lstStyle/>
          <a:p>
            <a:pPr algn="l" indent="0" marL="0">
              <a:buNone/>
            </a:pPr>
            <a:r>
              <a:rPr lang="en-US" sz="3000" b="1" dirty="0">
                <a:solidFill>
                  <a:srgbClr val="FBF5F1"/>
                </a:solidFill>
                <a:latin typeface="Cormorant Garamond" pitchFamily="34" charset="0"/>
                <a:ea typeface="Cormorant Garamond" pitchFamily="34" charset="-122"/>
                <a:cs typeface="Cormorant Garamond" pitchFamily="34" charset="-120"/>
              </a:rPr>
              <a:t>En negocio: el precio y la confianza son el reto</a:t>
            </a:r>
            <a:endParaRPr lang="en-US" sz="3000" dirty="0"/>
          </a:p>
        </p:txBody>
      </p:sp>
      <p:sp>
        <p:nvSpPr>
          <p:cNvPr id="4" name="Text 2"/>
          <p:cNvSpPr txBox="1"/>
          <p:nvPr/>
        </p:nvSpPr>
        <p:spPr>
          <a:xfrm>
            <a:off x="548640" y="1417320"/>
            <a:ext cx="11094415" cy="320040"/>
          </a:xfrm>
          <a:prstGeom prst="rect">
            <a:avLst/>
          </a:prstGeom>
          <a:noFill/>
          <a:ln/>
        </p:spPr>
        <p:txBody>
          <a:bodyPr wrap="square" lIns="0" tIns="0" rIns="0" bIns="0" rtlCol="0" anchor="ctr"/>
          <a:lstStyle/>
          <a:p>
            <a:pPr indent="0" marL="0">
              <a:buNone/>
            </a:pPr>
            <a:r>
              <a:rPr lang="en-US" sz="1250" dirty="0">
                <a:solidFill>
                  <a:srgbClr val="C9B8B2"/>
                </a:solidFill>
                <a:latin typeface="DM Sans" pitchFamily="34" charset="0"/>
                <a:ea typeface="DM Sans" pitchFamily="34" charset="-122"/>
                <a:cs typeface="DM Sans" pitchFamily="34" charset="-120"/>
              </a:rPr>
              <a:t>Tatiana Gómez (marketing, Mut Studio) · Martín Saldarriaga (e-commerce, Ocuz) · Camila Hoyos y Laura Quiñonez (canales)</a:t>
            </a:r>
            <a:endParaRPr lang="en-US" sz="1250" dirty="0"/>
          </a:p>
        </p:txBody>
      </p:sp>
      <p:sp>
        <p:nvSpPr>
          <p:cNvPr id="5" name="Shape 3"/>
          <p:cNvSpPr/>
          <p:nvPr/>
        </p:nvSpPr>
        <p:spPr>
          <a:xfrm>
            <a:off x="548640" y="1874520"/>
            <a:ext cx="3611880" cy="2331720"/>
          </a:xfrm>
          <a:prstGeom prst="roundRect">
            <a:avLst>
              <a:gd name="adj" fmla="val 4706"/>
            </a:avLst>
          </a:prstGeom>
          <a:solidFill>
            <a:srgbClr val="D98C86"/>
          </a:solidFill>
          <a:ln/>
        </p:spPr>
      </p:sp>
      <p:sp>
        <p:nvSpPr>
          <p:cNvPr id="6" name="Text 4"/>
          <p:cNvSpPr txBox="1"/>
          <p:nvPr/>
        </p:nvSpPr>
        <p:spPr>
          <a:xfrm>
            <a:off x="731520" y="1984248"/>
            <a:ext cx="3246120" cy="274320"/>
          </a:xfrm>
          <a:prstGeom prst="rect">
            <a:avLst/>
          </a:prstGeom>
          <a:noFill/>
          <a:ln/>
        </p:spPr>
        <p:txBody>
          <a:bodyPr wrap="square" lIns="0" tIns="0" rIns="0" bIns="0" rtlCol="0" anchor="ctr"/>
          <a:lstStyle/>
          <a:p>
            <a:pPr indent="0" marL="0">
              <a:buNone/>
            </a:pPr>
            <a:r>
              <a:rPr lang="en-US" sz="1250" b="1" spc="100" kern="0" dirty="0">
                <a:solidFill>
                  <a:srgbClr val="241F1D"/>
                </a:solidFill>
                <a:latin typeface="DM Sans" pitchFamily="34" charset="0"/>
                <a:ea typeface="DM Sans" pitchFamily="34" charset="-122"/>
                <a:cs typeface="DM Sans" pitchFamily="34" charset="-120"/>
              </a:rPr>
              <a:t>PRECIO</a:t>
            </a:r>
            <a:endParaRPr lang="en-US" sz="1250" dirty="0"/>
          </a:p>
        </p:txBody>
      </p:sp>
      <p:sp>
        <p:nvSpPr>
          <p:cNvPr id="7" name="Text 5"/>
          <p:cNvSpPr txBox="1"/>
          <p:nvPr/>
        </p:nvSpPr>
        <p:spPr>
          <a:xfrm>
            <a:off x="731520" y="2258568"/>
            <a:ext cx="3246120" cy="685800"/>
          </a:xfrm>
          <a:prstGeom prst="rect">
            <a:avLst/>
          </a:prstGeom>
          <a:noFill/>
          <a:ln/>
        </p:spPr>
        <p:txBody>
          <a:bodyPr wrap="square" lIns="0" tIns="0" rIns="0" bIns="0" rtlCol="0" anchor="ctr"/>
          <a:lstStyle/>
          <a:p>
            <a:pPr indent="0" marL="0">
              <a:buNone/>
            </a:pPr>
            <a:r>
              <a:rPr lang="en-US" sz="3800" b="1" dirty="0">
                <a:solidFill>
                  <a:srgbClr val="241F1D"/>
                </a:solidFill>
                <a:latin typeface="Cormorant Garamond" pitchFamily="34" charset="0"/>
                <a:ea typeface="Cormorant Garamond" pitchFamily="34" charset="-122"/>
                <a:cs typeface="Cormorant Garamond" pitchFamily="34" charset="-120"/>
              </a:rPr>
              <a:t>Alto</a:t>
            </a:r>
            <a:endParaRPr lang="en-US" sz="3800" dirty="0"/>
          </a:p>
        </p:txBody>
      </p:sp>
      <p:sp>
        <p:nvSpPr>
          <p:cNvPr id="8" name="Text 6"/>
          <p:cNvSpPr txBox="1"/>
          <p:nvPr/>
        </p:nvSpPr>
        <p:spPr>
          <a:xfrm>
            <a:off x="731520" y="2971800"/>
            <a:ext cx="3246120" cy="1143000"/>
          </a:xfrm>
          <a:prstGeom prst="rect">
            <a:avLst/>
          </a:prstGeom>
          <a:noFill/>
          <a:ln/>
        </p:spPr>
        <p:txBody>
          <a:bodyPr wrap="square" lIns="0" tIns="0" rIns="0" bIns="0" rtlCol="0" anchor="t"/>
          <a:lstStyle/>
          <a:p>
            <a:pPr indent="0" marL="0">
              <a:buNone/>
            </a:pPr>
            <a:r>
              <a:rPr lang="en-US" sz="1150" dirty="0">
                <a:solidFill>
                  <a:srgbClr val="241F1D"/>
                </a:solidFill>
                <a:latin typeface="DM Sans" pitchFamily="34" charset="0"/>
                <a:ea typeface="DM Sans" pitchFamily="34" charset="-122"/>
                <a:cs typeface="DM Sans" pitchFamily="34" charset="-120"/>
              </a:rPr>
              <a:t>“Para ser un producto que únicamente limpia esponjas, la verdad sí se lo veo alto al consumidor” sobre el rango COP 250.000-450.000 (T. Gómez). Coincide con la encuesta: solo 25,2 % pagaría en ese rango.</a:t>
            </a:r>
            <a:endParaRPr lang="en-US" sz="1150" dirty="0"/>
          </a:p>
        </p:txBody>
      </p:sp>
      <p:sp>
        <p:nvSpPr>
          <p:cNvPr id="9" name="Shape 7"/>
          <p:cNvSpPr/>
          <p:nvPr/>
        </p:nvSpPr>
        <p:spPr>
          <a:xfrm>
            <a:off x="4334256" y="1874520"/>
            <a:ext cx="3611880" cy="2331720"/>
          </a:xfrm>
          <a:prstGeom prst="roundRect">
            <a:avLst>
              <a:gd name="adj" fmla="val 4706"/>
            </a:avLst>
          </a:prstGeom>
          <a:solidFill>
            <a:srgbClr val="2E2825"/>
          </a:solidFill>
          <a:ln/>
        </p:spPr>
      </p:sp>
      <p:sp>
        <p:nvSpPr>
          <p:cNvPr id="10" name="Text 8"/>
          <p:cNvSpPr txBox="1"/>
          <p:nvPr/>
        </p:nvSpPr>
        <p:spPr>
          <a:xfrm>
            <a:off x="4517136" y="1984248"/>
            <a:ext cx="3246120" cy="274320"/>
          </a:xfrm>
          <a:prstGeom prst="rect">
            <a:avLst/>
          </a:prstGeom>
          <a:noFill/>
          <a:ln/>
        </p:spPr>
        <p:txBody>
          <a:bodyPr wrap="square" lIns="0" tIns="0" rIns="0" bIns="0" rtlCol="0" anchor="ctr"/>
          <a:lstStyle/>
          <a:p>
            <a:pPr indent="0" marL="0">
              <a:buNone/>
            </a:pPr>
            <a:r>
              <a:rPr lang="en-US" sz="1250" b="1" spc="100" kern="0" dirty="0">
                <a:solidFill>
                  <a:srgbClr val="D98C86"/>
                </a:solidFill>
                <a:latin typeface="DM Sans" pitchFamily="34" charset="0"/>
                <a:ea typeface="DM Sans" pitchFamily="34" charset="-122"/>
                <a:cs typeface="DM Sans" pitchFamily="34" charset="-120"/>
              </a:rPr>
              <a:t>CONFIANZA</a:t>
            </a:r>
            <a:endParaRPr lang="en-US" sz="1250" dirty="0"/>
          </a:p>
        </p:txBody>
      </p:sp>
      <p:sp>
        <p:nvSpPr>
          <p:cNvPr id="11" name="Text 9"/>
          <p:cNvSpPr txBox="1"/>
          <p:nvPr/>
        </p:nvSpPr>
        <p:spPr>
          <a:xfrm>
            <a:off x="4517136" y="2258568"/>
            <a:ext cx="3246120" cy="685800"/>
          </a:xfrm>
          <a:prstGeom prst="rect">
            <a:avLst/>
          </a:prstGeom>
          <a:noFill/>
          <a:ln/>
        </p:spPr>
        <p:txBody>
          <a:bodyPr wrap="square" lIns="0" tIns="0" rIns="0" bIns="0" rtlCol="0" anchor="ctr"/>
          <a:lstStyle/>
          <a:p>
            <a:pPr indent="0" marL="0">
              <a:buNone/>
            </a:pPr>
            <a:r>
              <a:rPr lang="en-US" sz="3800" b="1" dirty="0">
                <a:solidFill>
                  <a:srgbClr val="FBF5F1"/>
                </a:solidFill>
                <a:latin typeface="Cormorant Garamond" pitchFamily="34" charset="0"/>
                <a:ea typeface="Cormorant Garamond" pitchFamily="34" charset="-122"/>
                <a:cs typeface="Cormorant Garamond" pitchFamily="34" charset="-120"/>
              </a:rPr>
              <a:t>6-7 %</a:t>
            </a:r>
            <a:endParaRPr lang="en-US" sz="3800" dirty="0"/>
          </a:p>
        </p:txBody>
      </p:sp>
      <p:sp>
        <p:nvSpPr>
          <p:cNvPr id="12" name="Text 10"/>
          <p:cNvSpPr txBox="1"/>
          <p:nvPr/>
        </p:nvSpPr>
        <p:spPr>
          <a:xfrm>
            <a:off x="4517136" y="2971800"/>
            <a:ext cx="3246120" cy="1143000"/>
          </a:xfrm>
          <a:prstGeom prst="rect">
            <a:avLst/>
          </a:prstGeom>
          <a:noFill/>
          <a:ln/>
        </p:spPr>
        <p:txBody>
          <a:bodyPr wrap="square" lIns="0" tIns="0" rIns="0" bIns="0" rtlCol="0" anchor="t"/>
          <a:lstStyle/>
          <a:p>
            <a:pPr indent="0" marL="0">
              <a:buNone/>
            </a:pPr>
            <a:r>
              <a:rPr lang="en-US" sz="1150" dirty="0">
                <a:solidFill>
                  <a:srgbClr val="C9B8B2"/>
                </a:solidFill>
                <a:latin typeface="DM Sans" pitchFamily="34" charset="0"/>
                <a:ea typeface="DM Sans" pitchFamily="34" charset="-122"/>
                <a:cs typeface="DM Sans" pitchFamily="34" charset="-120"/>
              </a:rPr>
              <a:t>Reto principal en e-commerce: comprarle a una marca nueva. El video demostrativo en la landing es “100 % indispensable” y permite conversiones de 6-7 % con landing optimizada (M. Saldarriaga).</a:t>
            </a:r>
            <a:endParaRPr lang="en-US" sz="1150" dirty="0"/>
          </a:p>
        </p:txBody>
      </p:sp>
      <p:sp>
        <p:nvSpPr>
          <p:cNvPr id="13" name="Shape 11"/>
          <p:cNvSpPr/>
          <p:nvPr/>
        </p:nvSpPr>
        <p:spPr>
          <a:xfrm>
            <a:off x="8119872" y="1874520"/>
            <a:ext cx="3611880" cy="2331720"/>
          </a:xfrm>
          <a:prstGeom prst="roundRect">
            <a:avLst>
              <a:gd name="adj" fmla="val 4706"/>
            </a:avLst>
          </a:prstGeom>
          <a:solidFill>
            <a:srgbClr val="2E2825"/>
          </a:solidFill>
          <a:ln/>
        </p:spPr>
      </p:sp>
      <p:sp>
        <p:nvSpPr>
          <p:cNvPr id="14" name="Text 12"/>
          <p:cNvSpPr txBox="1"/>
          <p:nvPr/>
        </p:nvSpPr>
        <p:spPr>
          <a:xfrm>
            <a:off x="8302752" y="1984248"/>
            <a:ext cx="3246120" cy="274320"/>
          </a:xfrm>
          <a:prstGeom prst="rect">
            <a:avLst/>
          </a:prstGeom>
          <a:noFill/>
          <a:ln/>
        </p:spPr>
        <p:txBody>
          <a:bodyPr wrap="square" lIns="0" tIns="0" rIns="0" bIns="0" rtlCol="0" anchor="ctr"/>
          <a:lstStyle/>
          <a:p>
            <a:pPr indent="0" marL="0">
              <a:buNone/>
            </a:pPr>
            <a:r>
              <a:rPr lang="en-US" sz="1250" b="1" spc="100" kern="0" dirty="0">
                <a:solidFill>
                  <a:srgbClr val="D98C86"/>
                </a:solidFill>
                <a:latin typeface="DM Sans" pitchFamily="34" charset="0"/>
                <a:ea typeface="DM Sans" pitchFamily="34" charset="-122"/>
                <a:cs typeface="DM Sans" pitchFamily="34" charset="-120"/>
              </a:rPr>
              <a:t>CANALES</a:t>
            </a:r>
            <a:endParaRPr lang="en-US" sz="1250" dirty="0"/>
          </a:p>
        </p:txBody>
      </p:sp>
      <p:sp>
        <p:nvSpPr>
          <p:cNvPr id="15" name="Text 13"/>
          <p:cNvSpPr txBox="1"/>
          <p:nvPr/>
        </p:nvSpPr>
        <p:spPr>
          <a:xfrm>
            <a:off x="8302752" y="2258568"/>
            <a:ext cx="3246120" cy="685800"/>
          </a:xfrm>
          <a:prstGeom prst="rect">
            <a:avLst/>
          </a:prstGeom>
          <a:noFill/>
          <a:ln/>
        </p:spPr>
        <p:txBody>
          <a:bodyPr wrap="square" lIns="0" tIns="0" rIns="0" bIns="0" rtlCol="0" anchor="ctr"/>
          <a:lstStyle/>
          <a:p>
            <a:pPr indent="0" marL="0">
              <a:buNone/>
            </a:pPr>
            <a:r>
              <a:rPr lang="en-US" sz="3800" b="1" dirty="0">
                <a:solidFill>
                  <a:srgbClr val="FBF5F1"/>
                </a:solidFill>
                <a:latin typeface="Cormorant Garamond" pitchFamily="34" charset="0"/>
                <a:ea typeface="Cormorant Garamond" pitchFamily="34" charset="-122"/>
                <a:cs typeface="Cormorant Garamond" pitchFamily="34" charset="-120"/>
              </a:rPr>
              <a:t>Video</a:t>
            </a:r>
            <a:endParaRPr lang="en-US" sz="3800" dirty="0"/>
          </a:p>
        </p:txBody>
      </p:sp>
      <p:sp>
        <p:nvSpPr>
          <p:cNvPr id="16" name="Text 14"/>
          <p:cNvSpPr txBox="1"/>
          <p:nvPr/>
        </p:nvSpPr>
        <p:spPr>
          <a:xfrm>
            <a:off x="8302752" y="2971800"/>
            <a:ext cx="3246120" cy="1143000"/>
          </a:xfrm>
          <a:prstGeom prst="rect">
            <a:avLst/>
          </a:prstGeom>
          <a:noFill/>
          <a:ln/>
        </p:spPr>
        <p:txBody>
          <a:bodyPr wrap="square" lIns="0" tIns="0" rIns="0" bIns="0" rtlCol="0" anchor="t"/>
          <a:lstStyle/>
          <a:p>
            <a:pPr indent="0" marL="0">
              <a:buNone/>
            </a:pPr>
            <a:r>
              <a:rPr lang="en-US" sz="1150" dirty="0">
                <a:solidFill>
                  <a:srgbClr val="C9B8B2"/>
                </a:solidFill>
                <a:latin typeface="DM Sans" pitchFamily="34" charset="0"/>
                <a:ea typeface="DM Sans" pitchFamily="34" charset="-122"/>
                <a:cs typeface="DM Sans" pitchFamily="34" charset="-120"/>
              </a:rPr>
              <a:t>TikTok, Reels y microcreadores; antes/después y tiempo ahorrado. TikTok Shop es objetivo para 2027 y el pago contra entrega es clave en Colombia.</a:t>
            </a:r>
            <a:endParaRPr lang="en-US" sz="1150" dirty="0"/>
          </a:p>
        </p:txBody>
      </p:sp>
      <p:sp>
        <p:nvSpPr>
          <p:cNvPr id="17" name="Shape 15"/>
          <p:cNvSpPr/>
          <p:nvPr/>
        </p:nvSpPr>
        <p:spPr>
          <a:xfrm>
            <a:off x="548640" y="4389120"/>
            <a:ext cx="11094415" cy="1737360"/>
          </a:xfrm>
          <a:prstGeom prst="roundRect">
            <a:avLst>
              <a:gd name="adj" fmla="val 6316"/>
            </a:avLst>
          </a:prstGeom>
          <a:solidFill>
            <a:srgbClr val="FBF5F1"/>
          </a:solidFill>
          <a:ln/>
        </p:spPr>
      </p:sp>
      <p:sp>
        <p:nvSpPr>
          <p:cNvPr id="18" name="Text 16"/>
          <p:cNvSpPr txBox="1"/>
          <p:nvPr/>
        </p:nvSpPr>
        <p:spPr>
          <a:xfrm>
            <a:off x="777240" y="4498848"/>
            <a:ext cx="5486400" cy="274320"/>
          </a:xfrm>
          <a:prstGeom prst="rect">
            <a:avLst/>
          </a:prstGeom>
          <a:noFill/>
          <a:ln/>
        </p:spPr>
        <p:txBody>
          <a:bodyPr wrap="square" lIns="0" tIns="0" rIns="0" bIns="0" rtlCol="0" anchor="ctr"/>
          <a:lstStyle/>
          <a:p>
            <a:pPr indent="0" marL="0">
              <a:buNone/>
            </a:pPr>
            <a:r>
              <a:rPr lang="en-US" sz="1250" b="1" spc="100" kern="0" dirty="0">
                <a:solidFill>
                  <a:srgbClr val="A87C45"/>
                </a:solidFill>
                <a:latin typeface="DM Sans" pitchFamily="34" charset="0"/>
                <a:ea typeface="DM Sans" pitchFamily="34" charset="-122"/>
                <a:cs typeface="DM Sans" pitchFamily="34" charset="-120"/>
              </a:rPr>
              <a:t>IMPLICACIONES PARA BLENDPURE</a:t>
            </a:r>
            <a:endParaRPr lang="en-US" sz="1250" dirty="0"/>
          </a:p>
        </p:txBody>
      </p:sp>
      <p:sp>
        <p:nvSpPr>
          <p:cNvPr id="19" name="Text 17"/>
          <p:cNvSpPr txBox="1"/>
          <p:nvPr/>
        </p:nvSpPr>
        <p:spPr>
          <a:xfrm>
            <a:off x="777240" y="4800600"/>
            <a:ext cx="10637215" cy="128016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rgbClr val="4A4039"/>
                </a:solidFill>
                <a:latin typeface="DM Sans" pitchFamily="34" charset="0"/>
                <a:ea typeface="DM Sans" pitchFamily="34" charset="-122"/>
                <a:cs typeface="DM Sans" pitchFamily="34" charset="-120"/>
              </a:rPr>
              <a:t>Revisar precio o ampliar la propuesta de valor: no basta con limpiar</a:t>
            </a:r>
            <a:endParaRPr lang="en-US" sz="1300" dirty="0"/>
          </a:p>
          <a:p>
            <a:pPr marL="342900" indent="-342900">
              <a:spcAft>
                <a:spcPts val="500"/>
              </a:spcAft>
              <a:buSzPct val="100000"/>
              <a:buChar char="•"/>
            </a:pPr>
            <a:r>
              <a:rPr lang="en-US" sz="1300" dirty="0">
                <a:solidFill>
                  <a:srgbClr val="4A4039"/>
                </a:solidFill>
                <a:latin typeface="DM Sans" pitchFamily="34" charset="0"/>
                <a:ea typeface="DM Sans" pitchFamily="34" charset="-122"/>
                <a:cs typeface="DM Sans" pitchFamily="34" charset="-120"/>
              </a:rPr>
              <a:t>Anticipar réplicas baratas (Temu) con marca fuerte, creadoras y colaboraciones</a:t>
            </a:r>
            <a:endParaRPr lang="en-US" sz="1300" dirty="0"/>
          </a:p>
          <a:p>
            <a:pPr marL="342900" indent="-342900">
              <a:spcAft>
                <a:spcPts val="500"/>
              </a:spcAft>
              <a:buSzPct val="100000"/>
              <a:buChar char="•"/>
            </a:pPr>
            <a:r>
              <a:rPr lang="en-US" sz="1300" dirty="0">
                <a:solidFill>
                  <a:srgbClr val="4A4039"/>
                </a:solidFill>
                <a:latin typeface="DM Sans" pitchFamily="34" charset="0"/>
                <a:ea typeface="DM Sans" pitchFamily="34" charset="-122"/>
                <a:cs typeface="DM Sans" pitchFamily="34" charset="-120"/>
              </a:rPr>
              <a:t>Lanzar con demostración real en video: tiempo del ciclo y antes/después</a:t>
            </a:r>
            <a:endParaRPr lang="en-US" sz="1300" dirty="0"/>
          </a:p>
        </p:txBody>
      </p:sp>
      <p:sp>
        <p:nvSpPr>
          <p:cNvPr id="20" name="Text 18"/>
          <p:cNvSpPr txBox="1"/>
          <p:nvPr/>
        </p:nvSpPr>
        <p:spPr>
          <a:xfrm>
            <a:off x="548640" y="6400800"/>
            <a:ext cx="11094415" cy="365760"/>
          </a:xfrm>
          <a:prstGeom prst="rect">
            <a:avLst/>
          </a:prstGeom>
          <a:noFill/>
          <a:ln/>
        </p:spPr>
        <p:txBody>
          <a:bodyPr wrap="square" lIns="0" tIns="0" rIns="0" bIns="0" rtlCol="0" anchor="ctr"/>
          <a:lstStyle/>
          <a:p>
            <a:pPr indent="0" marL="0">
              <a:buNone/>
            </a:pPr>
            <a:r>
              <a:rPr lang="en-US" sz="1000" dirty="0">
                <a:solidFill>
                  <a:srgbClr val="C9B8B2"/>
                </a:solidFill>
                <a:latin typeface="DM Sans" pitchFamily="34" charset="0"/>
                <a:ea typeface="DM Sans" pitchFamily="34" charset="-122"/>
                <a:cs typeface="DM Sans" pitchFamily="34" charset="-120"/>
              </a:rPr>
              <a:t>Fuente: elaboración propia (Grupo BlendPure, 2026). Entrevistas semiestructuradas a especialistas; citas textuales de las transcripciones. Evidencia cualitativa, no estadística.</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BF5F1"/>
        </a:solidFill>
      </p:bgPr>
    </p:bg>
    <p:spTree>
      <p:nvGrpSpPr>
        <p:cNvPr id="1" name=""/>
        <p:cNvGrpSpPr/>
        <p:nvPr/>
      </p:nvGrpSpPr>
      <p:grpSpPr>
        <a:xfrm>
          <a:off x="0" y="0"/>
          <a:ext cx="0" cy="0"/>
          <a:chOff x="0" y="0"/>
          <a:chExt cx="0" cy="0"/>
        </a:xfrm>
      </p:grpSpPr>
      <p:sp>
        <p:nvSpPr>
          <p:cNvPr id="2" name="Text 0"/>
          <p:cNvSpPr txBox="1"/>
          <p:nvPr/>
        </p:nvSpPr>
        <p:spPr>
          <a:xfrm>
            <a:off x="548640" y="502920"/>
            <a:ext cx="11094415" cy="320040"/>
          </a:xfrm>
          <a:prstGeom prst="rect">
            <a:avLst/>
          </a:prstGeom>
          <a:noFill/>
          <a:ln/>
        </p:spPr>
        <p:txBody>
          <a:bodyPr wrap="square" lIns="0" tIns="0" rIns="0" bIns="0" rtlCol="0" anchor="ctr"/>
          <a:lstStyle/>
          <a:p>
            <a:pPr indent="0" marL="0">
              <a:buNone/>
            </a:pPr>
            <a:r>
              <a:rPr lang="en-US" sz="1300" b="1" spc="200" kern="0" dirty="0">
                <a:solidFill>
                  <a:srgbClr val="A87C45"/>
                </a:solidFill>
                <a:latin typeface="DM Sans" pitchFamily="34" charset="0"/>
                <a:ea typeface="DM Sans" pitchFamily="34" charset="-122"/>
                <a:cs typeface="DM Sans" pitchFamily="34" charset="-120"/>
              </a:rPr>
              <a:t>SIGUIENTE PASO</a:t>
            </a:r>
            <a:endParaRPr lang="en-US" sz="1300" dirty="0"/>
          </a:p>
        </p:txBody>
      </p:sp>
      <p:sp>
        <p:nvSpPr>
          <p:cNvPr id="3" name="Text 1"/>
          <p:cNvSpPr txBox="1"/>
          <p:nvPr/>
        </p:nvSpPr>
        <p:spPr>
          <a:xfrm>
            <a:off x="548640" y="822960"/>
            <a:ext cx="11094415" cy="822960"/>
          </a:xfrm>
          <a:prstGeom prst="rect">
            <a:avLst/>
          </a:prstGeom>
          <a:noFill/>
          <a:ln/>
        </p:spPr>
        <p:txBody>
          <a:bodyPr wrap="square" lIns="0" tIns="0" rIns="0" bIns="0" rtlCol="0" anchor="ctr"/>
          <a:lstStyle/>
          <a:p>
            <a:pPr algn="l" indent="0" marL="0">
              <a:buNone/>
            </a:pPr>
            <a:r>
              <a:rPr lang="en-US" sz="3000" b="1" dirty="0">
                <a:solidFill>
                  <a:srgbClr val="241F1D"/>
                </a:solidFill>
                <a:latin typeface="Cormorant Garamond" pitchFamily="34" charset="0"/>
                <a:ea typeface="Cormorant Garamond" pitchFamily="34" charset="-122"/>
                <a:cs typeface="Cormorant Garamond" pitchFamily="34" charset="-120"/>
              </a:rPr>
              <a:t>Validación y siguiente paso</a:t>
            </a:r>
            <a:endParaRPr lang="en-US" sz="3000" dirty="0"/>
          </a:p>
        </p:txBody>
      </p:sp>
      <p:sp>
        <p:nvSpPr>
          <p:cNvPr id="4" name="Shape 2"/>
          <p:cNvSpPr/>
          <p:nvPr/>
        </p:nvSpPr>
        <p:spPr>
          <a:xfrm>
            <a:off x="548640" y="1691640"/>
            <a:ext cx="5577840" cy="3931920"/>
          </a:xfrm>
          <a:prstGeom prst="roundRect">
            <a:avLst>
              <a:gd name="adj" fmla="val 2791"/>
            </a:avLst>
          </a:prstGeom>
          <a:solidFill>
            <a:srgbClr val="FFFFFF"/>
          </a:solidFill>
          <a:ln w="12700">
            <a:solidFill>
              <a:srgbClr val="EDE1D9"/>
            </a:solidFill>
            <a:prstDash val="solid"/>
          </a:ln>
        </p:spPr>
      </p:sp>
      <p:sp>
        <p:nvSpPr>
          <p:cNvPr id="5" name="Text 3"/>
          <p:cNvSpPr txBox="1"/>
          <p:nvPr/>
        </p:nvSpPr>
        <p:spPr>
          <a:xfrm>
            <a:off x="822960" y="1920240"/>
            <a:ext cx="5029200" cy="274320"/>
          </a:xfrm>
          <a:prstGeom prst="rect">
            <a:avLst/>
          </a:prstGeom>
          <a:noFill/>
          <a:ln/>
        </p:spPr>
        <p:txBody>
          <a:bodyPr wrap="square" lIns="0" tIns="0" rIns="0" bIns="0" rtlCol="0" anchor="ctr"/>
          <a:lstStyle/>
          <a:p>
            <a:pPr indent="0" marL="0">
              <a:buNone/>
            </a:pPr>
            <a:r>
              <a:rPr lang="en-US" sz="1300" b="1" spc="100" kern="0" dirty="0">
                <a:solidFill>
                  <a:srgbClr val="A87C45"/>
                </a:solidFill>
                <a:latin typeface="DM Sans" pitchFamily="34" charset="0"/>
                <a:ea typeface="DM Sans" pitchFamily="34" charset="-122"/>
                <a:cs typeface="DM Sans" pitchFamily="34" charset="-120"/>
              </a:rPr>
              <a:t>OBJETIVO</a:t>
            </a:r>
            <a:endParaRPr lang="en-US" sz="1300" dirty="0"/>
          </a:p>
        </p:txBody>
      </p:sp>
      <p:sp>
        <p:nvSpPr>
          <p:cNvPr id="6" name="Text 4"/>
          <p:cNvSpPr txBox="1"/>
          <p:nvPr/>
        </p:nvSpPr>
        <p:spPr>
          <a:xfrm>
            <a:off x="822960" y="2240280"/>
            <a:ext cx="5029200" cy="502920"/>
          </a:xfrm>
          <a:prstGeom prst="rect">
            <a:avLst/>
          </a:prstGeom>
          <a:noFill/>
          <a:ln/>
        </p:spPr>
        <p:txBody>
          <a:bodyPr wrap="square" lIns="0" tIns="0" rIns="0" bIns="0" rtlCol="0" anchor="ctr"/>
          <a:lstStyle/>
          <a:p>
            <a:pPr indent="0" marL="0">
              <a:buNone/>
            </a:pPr>
            <a:r>
              <a:rPr lang="en-US" sz="1600" dirty="0">
                <a:solidFill>
                  <a:srgbClr val="4A4039"/>
                </a:solidFill>
                <a:latin typeface="DM Sans" pitchFamily="34" charset="0"/>
                <a:ea typeface="DM Sans" pitchFamily="34" charset="-122"/>
                <a:cs typeface="DM Sans" pitchFamily="34" charset="-120"/>
              </a:rPr>
              <a:t>Encuestar a </a:t>
            </a:r>
            <a:pPr indent="0" marL="0">
              <a:buNone/>
            </a:pPr>
            <a:r>
              <a:rPr lang="en-US" sz="1600" b="1" dirty="0">
                <a:solidFill>
                  <a:srgbClr val="4A4039"/>
                </a:solidFill>
                <a:latin typeface="DM Sans" pitchFamily="34" charset="0"/>
                <a:ea typeface="DM Sans" pitchFamily="34" charset="-122"/>
                <a:cs typeface="DM Sans" pitchFamily="34" charset="-120"/>
              </a:rPr>
              <a:t>200 mujeres de 18–35 años</a:t>
            </a:r>
            <a:pPr indent="0" marL="0">
              <a:buNone/>
            </a:pPr>
            <a:r>
              <a:rPr lang="en-US" sz="1600" dirty="0">
                <a:solidFill>
                  <a:srgbClr val="4A4039"/>
                </a:solidFill>
                <a:latin typeface="DM Sans" pitchFamily="34" charset="0"/>
                <a:ea typeface="DM Sans" pitchFamily="34" charset="-122"/>
                <a:cs typeface="DM Sans" pitchFamily="34" charset="-120"/>
              </a:rPr>
              <a:t> en Bogotá.</a:t>
            </a:r>
            <a:endParaRPr lang="en-US" sz="1600" dirty="0"/>
          </a:p>
        </p:txBody>
      </p:sp>
      <p:sp>
        <p:nvSpPr>
          <p:cNvPr id="7" name="Text 5"/>
          <p:cNvSpPr txBox="1"/>
          <p:nvPr/>
        </p:nvSpPr>
        <p:spPr>
          <a:xfrm>
            <a:off x="822960" y="2880360"/>
            <a:ext cx="5029200" cy="274320"/>
          </a:xfrm>
          <a:prstGeom prst="rect">
            <a:avLst/>
          </a:prstGeom>
          <a:noFill/>
          <a:ln/>
        </p:spPr>
        <p:txBody>
          <a:bodyPr wrap="square" lIns="0" tIns="0" rIns="0" bIns="0" rtlCol="0" anchor="ctr"/>
          <a:lstStyle/>
          <a:p>
            <a:pPr indent="0" marL="0">
              <a:buNone/>
            </a:pPr>
            <a:r>
              <a:rPr lang="en-US" sz="1300" b="1" spc="100" kern="0" dirty="0">
                <a:solidFill>
                  <a:srgbClr val="A87C45"/>
                </a:solidFill>
                <a:latin typeface="DM Sans" pitchFamily="34" charset="0"/>
                <a:ea typeface="DM Sans" pitchFamily="34" charset="-122"/>
                <a:cs typeface="DM Sans" pitchFamily="34" charset="-120"/>
              </a:rPr>
              <a:t>MEDIR</a:t>
            </a:r>
            <a:endParaRPr lang="en-US" sz="1300" dirty="0"/>
          </a:p>
        </p:txBody>
      </p:sp>
      <p:sp>
        <p:nvSpPr>
          <p:cNvPr id="8" name="Text 6"/>
          <p:cNvSpPr txBox="1"/>
          <p:nvPr/>
        </p:nvSpPr>
        <p:spPr>
          <a:xfrm>
            <a:off x="822960" y="3200400"/>
            <a:ext cx="5029200" cy="2286000"/>
          </a:xfrm>
          <a:prstGeom prst="rect">
            <a:avLst/>
          </a:prstGeom>
          <a:noFill/>
          <a:ln/>
        </p:spPr>
        <p:txBody>
          <a:bodyPr wrap="square" lIns="0" tIns="0" rIns="0" bIns="0" rtlCol="0" anchor="ctr"/>
          <a:lstStyle/>
          <a:p>
            <a:pPr marL="342900" indent="-342900">
              <a:spcAft>
                <a:spcPts val="800"/>
              </a:spcAft>
              <a:buSzPct val="100000"/>
              <a:buChar char="•"/>
            </a:pPr>
            <a:r>
              <a:rPr lang="en-US" sz="1450" dirty="0">
                <a:solidFill>
                  <a:srgbClr val="4A4039"/>
                </a:solidFill>
                <a:latin typeface="DM Sans" pitchFamily="34" charset="0"/>
                <a:ea typeface="DM Sans" pitchFamily="34" charset="-122"/>
                <a:cs typeface="DM Sans" pitchFamily="34" charset="-120"/>
              </a:rPr>
              <a:t>Frecuencia real de limpieza</a:t>
            </a:r>
            <a:endParaRPr lang="en-US" sz="1450" dirty="0"/>
          </a:p>
          <a:p>
            <a:pPr marL="342900" indent="-342900">
              <a:spcAft>
                <a:spcPts val="800"/>
              </a:spcAft>
              <a:buSzPct val="100000"/>
              <a:buChar char="•"/>
            </a:pPr>
            <a:r>
              <a:rPr lang="en-US" sz="1450" dirty="0">
                <a:solidFill>
                  <a:srgbClr val="4A4039"/>
                </a:solidFill>
                <a:latin typeface="DM Sans" pitchFamily="34" charset="0"/>
                <a:ea typeface="DM Sans" pitchFamily="34" charset="-122"/>
                <a:cs typeface="DM Sans" pitchFamily="34" charset="-120"/>
              </a:rPr>
              <a:t>Tiempo dedicado al proceso</a:t>
            </a:r>
            <a:endParaRPr lang="en-US" sz="1450" dirty="0"/>
          </a:p>
          <a:p>
            <a:pPr marL="342900" indent="-342900">
              <a:spcAft>
                <a:spcPts val="800"/>
              </a:spcAft>
              <a:buSzPct val="100000"/>
              <a:buChar char="•"/>
            </a:pPr>
            <a:r>
              <a:rPr lang="en-US" sz="1450" dirty="0">
                <a:solidFill>
                  <a:srgbClr val="4A4039"/>
                </a:solidFill>
                <a:latin typeface="DM Sans" pitchFamily="34" charset="0"/>
                <a:ea typeface="DM Sans" pitchFamily="34" charset="-122"/>
                <a:cs typeface="DM Sans" pitchFamily="34" charset="-120"/>
              </a:rPr>
              <a:t>Disposición a pagar</a:t>
            </a:r>
            <a:endParaRPr lang="en-US" sz="1450" dirty="0"/>
          </a:p>
          <a:p>
            <a:pPr marL="342900" indent="-342900">
              <a:spcAft>
                <a:spcPts val="800"/>
              </a:spcAft>
              <a:buSzPct val="100000"/>
              <a:buChar char="•"/>
            </a:pPr>
            <a:r>
              <a:rPr lang="en-US" sz="1450" dirty="0">
                <a:solidFill>
                  <a:srgbClr val="4A4039"/>
                </a:solidFill>
                <a:latin typeface="DM Sans" pitchFamily="34" charset="0"/>
                <a:ea typeface="DM Sans" pitchFamily="34" charset="-122"/>
                <a:cs typeface="DM Sans" pitchFamily="34" charset="-120"/>
              </a:rPr>
              <a:t>Rango de precio aceptado e interés en el producto</a:t>
            </a:r>
            <a:endParaRPr lang="en-US" sz="1450" dirty="0"/>
          </a:p>
        </p:txBody>
      </p:sp>
      <p:sp>
        <p:nvSpPr>
          <p:cNvPr id="9" name="Shape 7"/>
          <p:cNvSpPr/>
          <p:nvPr/>
        </p:nvSpPr>
        <p:spPr>
          <a:xfrm>
            <a:off x="6355080" y="1691640"/>
            <a:ext cx="5285232" cy="3931920"/>
          </a:xfrm>
          <a:prstGeom prst="roundRect">
            <a:avLst>
              <a:gd name="adj" fmla="val 2791"/>
            </a:avLst>
          </a:prstGeom>
          <a:solidFill>
            <a:srgbClr val="241F1D"/>
          </a:solidFill>
          <a:ln/>
        </p:spPr>
      </p:sp>
      <p:sp>
        <p:nvSpPr>
          <p:cNvPr id="10" name="Text 8"/>
          <p:cNvSpPr txBox="1"/>
          <p:nvPr/>
        </p:nvSpPr>
        <p:spPr>
          <a:xfrm>
            <a:off x="6355080" y="1920240"/>
            <a:ext cx="5285232" cy="274320"/>
          </a:xfrm>
          <a:prstGeom prst="rect">
            <a:avLst/>
          </a:prstGeom>
          <a:noFill/>
          <a:ln/>
        </p:spPr>
        <p:txBody>
          <a:bodyPr wrap="square" lIns="0" tIns="0" rIns="0" bIns="0" rtlCol="0" anchor="ctr"/>
          <a:lstStyle/>
          <a:p>
            <a:pPr algn="ctr" indent="0" marL="0">
              <a:buNone/>
            </a:pPr>
            <a:r>
              <a:rPr lang="en-US" sz="1300" b="1" spc="100" kern="0" dirty="0">
                <a:solidFill>
                  <a:srgbClr val="D98C86"/>
                </a:solidFill>
                <a:latin typeface="DM Sans" pitchFamily="34" charset="0"/>
                <a:ea typeface="DM Sans" pitchFamily="34" charset="-122"/>
                <a:cs typeface="DM Sans" pitchFamily="34" charset="-120"/>
              </a:rPr>
              <a:t>META</a:t>
            </a:r>
            <a:endParaRPr lang="en-US" sz="1300" dirty="0"/>
          </a:p>
        </p:txBody>
      </p:sp>
      <p:sp>
        <p:nvSpPr>
          <p:cNvPr id="11" name="Text 9"/>
          <p:cNvSpPr txBox="1"/>
          <p:nvPr/>
        </p:nvSpPr>
        <p:spPr>
          <a:xfrm>
            <a:off x="6355080" y="2194560"/>
            <a:ext cx="5285232" cy="1005840"/>
          </a:xfrm>
          <a:prstGeom prst="rect">
            <a:avLst/>
          </a:prstGeom>
          <a:noFill/>
          <a:ln/>
        </p:spPr>
        <p:txBody>
          <a:bodyPr wrap="square" lIns="0" tIns="0" rIns="0" bIns="0" rtlCol="0" anchor="ctr"/>
          <a:lstStyle/>
          <a:p>
            <a:pPr algn="ctr" indent="0" marL="0">
              <a:buNone/>
            </a:pPr>
            <a:r>
              <a:rPr lang="en-US" sz="6000" b="1" dirty="0">
                <a:solidFill>
                  <a:srgbClr val="FBF5F1"/>
                </a:solidFill>
                <a:latin typeface="Cormorant Garamond" pitchFamily="34" charset="0"/>
                <a:ea typeface="Cormorant Garamond" pitchFamily="34" charset="-122"/>
                <a:cs typeface="Cormorant Garamond" pitchFamily="34" charset="-120"/>
              </a:rPr>
              <a:t>≥50%</a:t>
            </a:r>
            <a:endParaRPr lang="en-US" sz="6000" dirty="0"/>
          </a:p>
        </p:txBody>
      </p:sp>
      <p:sp>
        <p:nvSpPr>
          <p:cNvPr id="12" name="Text 10"/>
          <p:cNvSpPr txBox="1"/>
          <p:nvPr/>
        </p:nvSpPr>
        <p:spPr>
          <a:xfrm>
            <a:off x="6675120" y="3246120"/>
            <a:ext cx="4663440" cy="777240"/>
          </a:xfrm>
          <a:prstGeom prst="rect">
            <a:avLst/>
          </a:prstGeom>
          <a:noFill/>
          <a:ln/>
        </p:spPr>
        <p:txBody>
          <a:bodyPr wrap="square" lIns="0" tIns="0" rIns="0" bIns="0" rtlCol="0" anchor="ctr"/>
          <a:lstStyle/>
          <a:p>
            <a:pPr algn="ctr" indent="0" marL="0">
              <a:buNone/>
            </a:pPr>
            <a:r>
              <a:rPr lang="en-US" sz="1400" dirty="0">
                <a:solidFill>
                  <a:srgbClr val="C9B8B2"/>
                </a:solidFill>
                <a:latin typeface="DM Sans" pitchFamily="34" charset="0"/>
                <a:ea typeface="DM Sans" pitchFamily="34" charset="-122"/>
                <a:cs typeface="DM Sans" pitchFamily="34" charset="-120"/>
              </a:rPr>
              <a:t>de la muestra dispuesta a pagar dentro del rango preliminar de </a:t>
            </a:r>
            <a:pPr algn="ctr" indent="0" marL="0">
              <a:buNone/>
            </a:pPr>
            <a:r>
              <a:rPr lang="en-US" sz="1400" b="1" dirty="0">
                <a:solidFill>
                  <a:srgbClr val="F5E9E2"/>
                </a:solidFill>
                <a:latin typeface="DM Sans" pitchFamily="34" charset="0"/>
                <a:ea typeface="DM Sans" pitchFamily="34" charset="-122"/>
                <a:cs typeface="DM Sans" pitchFamily="34" charset="-120"/>
              </a:rPr>
              <a:t>COP 250.000–450.000</a:t>
            </a:r>
            <a:endParaRPr lang="en-US" sz="1400" dirty="0"/>
          </a:p>
        </p:txBody>
      </p:sp>
      <p:sp>
        <p:nvSpPr>
          <p:cNvPr id="13" name="Shape 11"/>
          <p:cNvSpPr/>
          <p:nvPr/>
        </p:nvSpPr>
        <p:spPr>
          <a:xfrm>
            <a:off x="6675120" y="4160520"/>
            <a:ext cx="4663440" cy="0"/>
          </a:xfrm>
          <a:prstGeom prst="line">
            <a:avLst/>
          </a:prstGeom>
          <a:noFill/>
          <a:ln w="12700">
            <a:solidFill>
              <a:srgbClr val="4A433F"/>
            </a:solidFill>
            <a:prstDash val="solid"/>
          </a:ln>
        </p:spPr>
      </p:sp>
      <p:sp>
        <p:nvSpPr>
          <p:cNvPr id="14" name="Text 12"/>
          <p:cNvSpPr txBox="1"/>
          <p:nvPr/>
        </p:nvSpPr>
        <p:spPr>
          <a:xfrm>
            <a:off x="6675120" y="4297680"/>
            <a:ext cx="4663440" cy="731520"/>
          </a:xfrm>
          <a:prstGeom prst="rect">
            <a:avLst/>
          </a:prstGeom>
          <a:noFill/>
          <a:ln/>
        </p:spPr>
        <p:txBody>
          <a:bodyPr wrap="square" lIns="0" tIns="0" rIns="0" bIns="0" rtlCol="0" anchor="ctr"/>
          <a:lstStyle/>
          <a:p>
            <a:pPr algn="ctr" indent="0" marL="0">
              <a:buNone/>
            </a:pPr>
            <a:r>
              <a:rPr lang="en-US" sz="1400" dirty="0">
                <a:solidFill>
                  <a:srgbClr val="E6D4CC"/>
                </a:solidFill>
                <a:latin typeface="DM Sans" pitchFamily="34" charset="0"/>
                <a:ea typeface="DM Sans" pitchFamily="34" charset="-122"/>
                <a:cs typeface="DM Sans" pitchFamily="34" charset="-120"/>
              </a:rPr>
              <a:t>Validar el mockup con mínimo </a:t>
            </a:r>
            <a:pPr algn="ctr" indent="0" marL="0">
              <a:buNone/>
            </a:pPr>
            <a:r>
              <a:rPr lang="en-US" sz="1400" b="1" dirty="0">
                <a:solidFill>
                  <a:srgbClr val="E6D4CC"/>
                </a:solidFill>
                <a:latin typeface="DM Sans" pitchFamily="34" charset="0"/>
                <a:ea typeface="DM Sans" pitchFamily="34" charset="-122"/>
                <a:cs typeface="DM Sans" pitchFamily="34" charset="-120"/>
              </a:rPr>
              <a:t>15 potenciales usuarias</a:t>
            </a:r>
            <a:endParaRPr lang="en-US" sz="1400" dirty="0"/>
          </a:p>
        </p:txBody>
      </p:sp>
      <p:sp>
        <p:nvSpPr>
          <p:cNvPr id="15" name="Shape 13"/>
          <p:cNvSpPr/>
          <p:nvPr/>
        </p:nvSpPr>
        <p:spPr>
          <a:xfrm>
            <a:off x="548640" y="5806440"/>
            <a:ext cx="11094415" cy="685800"/>
          </a:xfrm>
          <a:prstGeom prst="roundRect">
            <a:avLst>
              <a:gd name="adj" fmla="val 13333"/>
            </a:avLst>
          </a:prstGeom>
          <a:solidFill>
            <a:srgbClr val="F3DCD8"/>
          </a:solidFill>
          <a:ln/>
        </p:spPr>
      </p:sp>
      <p:sp>
        <p:nvSpPr>
          <p:cNvPr id="16" name="Text 14"/>
          <p:cNvSpPr txBox="1"/>
          <p:nvPr/>
        </p:nvSpPr>
        <p:spPr>
          <a:xfrm>
            <a:off x="548640" y="5806440"/>
            <a:ext cx="11094415" cy="685800"/>
          </a:xfrm>
          <a:prstGeom prst="rect">
            <a:avLst/>
          </a:prstGeom>
          <a:noFill/>
          <a:ln/>
        </p:spPr>
        <p:txBody>
          <a:bodyPr wrap="square" lIns="0" tIns="0" rIns="0" bIns="0" rtlCol="0" anchor="ctr"/>
          <a:lstStyle/>
          <a:p>
            <a:pPr algn="ctr" indent="0" marL="0">
              <a:buNone/>
            </a:pPr>
            <a:r>
              <a:rPr lang="en-US" sz="2200" b="1" dirty="0">
                <a:solidFill>
                  <a:srgbClr val="6B4A43"/>
                </a:solidFill>
                <a:latin typeface="Cormorant Garamond" pitchFamily="34" charset="0"/>
                <a:ea typeface="Cormorant Garamond" pitchFamily="34" charset="-122"/>
                <a:cs typeface="Cormorant Garamond" pitchFamily="34" charset="-120"/>
              </a:rPr>
              <a:t>"Antes de fabricar, VALIDAR."</a:t>
            </a:r>
            <a:endParaRPr lang="en-US" sz="2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241F1D"/>
        </a:solidFill>
      </p:bgPr>
    </p:bg>
    <p:spTree>
      <p:nvGrpSpPr>
        <p:cNvPr id="1" name=""/>
        <p:cNvGrpSpPr/>
        <p:nvPr/>
      </p:nvGrpSpPr>
      <p:grpSpPr>
        <a:xfrm>
          <a:off x="0" y="0"/>
          <a:ext cx="0" cy="0"/>
          <a:chOff x="0" y="0"/>
          <a:chExt cx="0" cy="0"/>
        </a:xfrm>
      </p:grpSpPr>
      <p:sp>
        <p:nvSpPr>
          <p:cNvPr id="2" name="Shape 0"/>
          <p:cNvSpPr/>
          <p:nvPr/>
        </p:nvSpPr>
        <p:spPr>
          <a:xfrm>
            <a:off x="-2286000" y="3200400"/>
            <a:ext cx="5486400" cy="5486400"/>
          </a:xfrm>
          <a:prstGeom prst="ellipse">
            <a:avLst/>
          </a:prstGeom>
          <a:solidFill>
            <a:srgbClr val="A87C45">
              <a:alpha val="28000"/>
            </a:srgbClr>
          </a:solidFill>
          <a:ln/>
        </p:spPr>
      </p:sp>
      <p:sp>
        <p:nvSpPr>
          <p:cNvPr id="3" name="Shape 1"/>
          <p:cNvSpPr/>
          <p:nvPr/>
        </p:nvSpPr>
        <p:spPr>
          <a:xfrm>
            <a:off x="8961120" y="-2286000"/>
            <a:ext cx="5669280" cy="5669280"/>
          </a:xfrm>
          <a:prstGeom prst="ellipse">
            <a:avLst/>
          </a:prstGeom>
          <a:solidFill>
            <a:srgbClr val="D98C86">
              <a:alpha val="30000"/>
            </a:srgbClr>
          </a:solidFill>
          <a:ln/>
        </p:spPr>
      </p:sp>
      <p:sp>
        <p:nvSpPr>
          <p:cNvPr id="4" name="Text 2"/>
          <p:cNvSpPr txBox="1"/>
          <p:nvPr/>
        </p:nvSpPr>
        <p:spPr>
          <a:xfrm>
            <a:off x="548640" y="1463040"/>
            <a:ext cx="11094415" cy="731520"/>
          </a:xfrm>
          <a:prstGeom prst="rect">
            <a:avLst/>
          </a:prstGeom>
          <a:noFill/>
          <a:ln/>
        </p:spPr>
        <p:txBody>
          <a:bodyPr wrap="square" lIns="0" tIns="0" rIns="0" bIns="0" rtlCol="0" anchor="ctr"/>
          <a:lstStyle/>
          <a:p>
            <a:pPr algn="ctr" indent="0" marL="0">
              <a:buNone/>
            </a:pPr>
            <a:r>
              <a:rPr lang="en-US" sz="1800" b="1" dirty="0">
                <a:solidFill>
                  <a:srgbClr val="E6D4CC"/>
                </a:solidFill>
                <a:latin typeface="DM Sans" pitchFamily="34" charset="0"/>
                <a:ea typeface="DM Sans" pitchFamily="34" charset="-122"/>
                <a:cs typeface="DM Sans" pitchFamily="34" charset="-120"/>
              </a:rPr>
              <a:t>PROBLEMA REAL   +   FRICCIÓN DE TIEMPO   +   OPORTUNIDAD BEAUTY-TECH   =   </a:t>
            </a:r>
            <a:pPr algn="ctr" indent="0" marL="0">
              <a:buNone/>
            </a:pPr>
            <a:r>
              <a:rPr lang="en-US" sz="2400" b="1" dirty="0">
                <a:solidFill>
                  <a:srgbClr val="FBF5F1"/>
                </a:solidFill>
                <a:latin typeface="Cormorant Garamond" pitchFamily="34" charset="0"/>
                <a:ea typeface="Cormorant Garamond" pitchFamily="34" charset="-122"/>
                <a:cs typeface="Cormorant Garamond" pitchFamily="34" charset="-120"/>
              </a:rPr>
              <a:t>BLENDPURE</a:t>
            </a:r>
            <a:endParaRPr lang="en-US" sz="1800" dirty="0"/>
          </a:p>
        </p:txBody>
      </p:sp>
      <p:sp>
        <p:nvSpPr>
          <p:cNvPr id="5" name="Text 3"/>
          <p:cNvSpPr txBox="1"/>
          <p:nvPr/>
        </p:nvSpPr>
        <p:spPr>
          <a:xfrm>
            <a:off x="1371600" y="2560320"/>
            <a:ext cx="9418320" cy="1645920"/>
          </a:xfrm>
          <a:prstGeom prst="rect">
            <a:avLst/>
          </a:prstGeom>
          <a:noFill/>
          <a:ln/>
        </p:spPr>
        <p:txBody>
          <a:bodyPr wrap="square" lIns="0" tIns="0" rIns="0" bIns="0" rtlCol="0" anchor="ctr"/>
          <a:lstStyle/>
          <a:p>
            <a:pPr algn="ctr" indent="0" marL="0">
              <a:buNone/>
            </a:pPr>
            <a:r>
              <a:rPr lang="en-US" sz="3000" i="1" dirty="0">
                <a:solidFill>
                  <a:srgbClr val="F5E9E2"/>
                </a:solidFill>
                <a:latin typeface="Cormorant Garamond" pitchFamily="34" charset="0"/>
                <a:ea typeface="Cormorant Garamond" pitchFamily="34" charset="-122"/>
                <a:cs typeface="Cormorant Garamond" pitchFamily="34" charset="-120"/>
              </a:rPr>
              <a:t>"BlendPure busca convertir una tarea que las consumidoras evitan en una rutina simple, rápida y automatizada."</a:t>
            </a:r>
            <a:endParaRPr lang="en-US" sz="3000" dirty="0"/>
          </a:p>
        </p:txBody>
      </p:sp>
      <p:sp>
        <p:nvSpPr>
          <p:cNvPr id="6" name="Text 4"/>
          <p:cNvSpPr txBox="1"/>
          <p:nvPr/>
        </p:nvSpPr>
        <p:spPr>
          <a:xfrm>
            <a:off x="548640" y="4846320"/>
            <a:ext cx="11094415" cy="320040"/>
          </a:xfrm>
          <a:prstGeom prst="rect">
            <a:avLst/>
          </a:prstGeom>
          <a:noFill/>
          <a:ln/>
        </p:spPr>
        <p:txBody>
          <a:bodyPr wrap="square" lIns="0" tIns="0" rIns="0" bIns="0" rtlCol="0" anchor="ctr"/>
          <a:lstStyle/>
          <a:p>
            <a:pPr algn="ctr" indent="0" marL="0">
              <a:buNone/>
            </a:pPr>
            <a:r>
              <a:rPr lang="en-US" sz="1300" dirty="0">
                <a:solidFill>
                  <a:srgbClr val="C9B8B2"/>
                </a:solidFill>
                <a:latin typeface="DM Sans" pitchFamily="34" charset="0"/>
                <a:ea typeface="DM Sans" pitchFamily="34" charset="-122"/>
                <a:cs typeface="DM Sans" pitchFamily="34" charset="-120"/>
              </a:rPr>
              <a:t>Manuela Granados · Danna Sáenz · Isabela Carmona · Laura Quiñones</a:t>
            </a:r>
            <a:endParaRPr lang="en-US" sz="1300" dirty="0"/>
          </a:p>
        </p:txBody>
      </p:sp>
      <p:sp>
        <p:nvSpPr>
          <p:cNvPr id="7" name="Text 5"/>
          <p:cNvSpPr txBox="1"/>
          <p:nvPr/>
        </p:nvSpPr>
        <p:spPr>
          <a:xfrm>
            <a:off x="548640" y="5166360"/>
            <a:ext cx="11094415" cy="320040"/>
          </a:xfrm>
          <a:prstGeom prst="rect">
            <a:avLst/>
          </a:prstGeom>
          <a:noFill/>
          <a:ln/>
        </p:spPr>
        <p:txBody>
          <a:bodyPr wrap="square" lIns="0" tIns="0" rIns="0" bIns="0" rtlCol="0" anchor="ctr"/>
          <a:lstStyle/>
          <a:p>
            <a:pPr algn="ctr" indent="0" marL="0">
              <a:buNone/>
            </a:pPr>
            <a:r>
              <a:rPr lang="en-US" sz="1300" dirty="0">
                <a:solidFill>
                  <a:srgbClr val="8A7A73"/>
                </a:solidFill>
                <a:latin typeface="DM Sans" pitchFamily="34" charset="0"/>
                <a:ea typeface="DM Sans" pitchFamily="34" charset="-122"/>
                <a:cs typeface="DM Sans" pitchFamily="34" charset="-120"/>
              </a:rPr>
              <a:t>Pontificia Universidad Javeriana · Mercadeo en Internet · 2026</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2026-10-12T22:45:41Z</dcterms:created>
  <dcterms:modified xsi:type="dcterms:W3CDTF">2026-10-12T22:45:41Z</dcterms:modified>
</cp:coreProperties>
</file>